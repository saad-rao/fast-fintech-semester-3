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68" r:id="rId20"/>
    <p:sldId id="276" r:id="rId21"/>
    <p:sldId id="277" r:id="rId22"/>
    <p:sldId id="279" r:id="rId23"/>
    <p:sldId id="280"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3" d="100"/>
          <a:sy n="63" d="100"/>
        </p:scale>
        <p:origin x="80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1F46A6-817A-4673-9C2C-74C7D83766D2}"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6E19B-2869-4ADE-AB6E-130E0F37DE6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747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F46A6-817A-4673-9C2C-74C7D83766D2}"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237962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1F46A6-817A-4673-9C2C-74C7D83766D2}"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6E19B-2869-4ADE-AB6E-130E0F37DE6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27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1F46A6-817A-4673-9C2C-74C7D83766D2}"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101284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1F46A6-817A-4673-9C2C-74C7D83766D2}"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305027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1F46A6-817A-4673-9C2C-74C7D83766D2}"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3994528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11F46A6-817A-4673-9C2C-74C7D83766D2}" type="datetimeFigureOut">
              <a:rPr lang="en-US" smtClean="0"/>
              <a:t>9/15/2026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1781666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11F46A6-817A-4673-9C2C-74C7D83766D2}" type="datetimeFigureOut">
              <a:rPr lang="en-US" smtClean="0"/>
              <a:t>9/15/2026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E6E19B-2869-4ADE-AB6E-130E0F37DE65}" type="slidenum">
              <a:rPr lang="en-US" smtClean="0"/>
              <a:t>‹#›</a:t>
            </a:fld>
            <a:endParaRPr lang="en-US"/>
          </a:p>
        </p:txBody>
      </p:sp>
    </p:spTree>
    <p:extLst>
      <p:ext uri="{BB962C8B-B14F-4D97-AF65-F5344CB8AC3E}">
        <p14:creationId xmlns:p14="http://schemas.microsoft.com/office/powerpoint/2010/main" val="723526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1F46A6-817A-4673-9C2C-74C7D83766D2}"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321962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F46A6-817A-4673-9C2C-74C7D83766D2}"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1925177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F46A6-817A-4673-9C2C-74C7D83766D2}"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6E19B-2869-4ADE-AB6E-130E0F37DE65}" type="slidenum">
              <a:rPr lang="en-US" smtClean="0"/>
              <a:t>‹#›</a:t>
            </a:fld>
            <a:endParaRPr lang="en-US"/>
          </a:p>
        </p:txBody>
      </p:sp>
    </p:spTree>
    <p:extLst>
      <p:ext uri="{BB962C8B-B14F-4D97-AF65-F5344CB8AC3E}">
        <p14:creationId xmlns:p14="http://schemas.microsoft.com/office/powerpoint/2010/main" val="244053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11F46A6-817A-4673-9C2C-74C7D83766D2}" type="datetimeFigureOut">
              <a:rPr lang="en-US" smtClean="0"/>
              <a:t>9/15/2026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E6E19B-2869-4ADE-AB6E-130E0F37DE6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7315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python/method-resolution-order-in-python-inheritance/" TargetMode="External"/><Relationship Id="rId2" Type="http://schemas.openxmlformats.org/officeDocument/2006/relationships/hyperlink" Target="https://www.geeksforgeeks.org/python/python-supe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web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web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6394-90EF-B77E-6251-A6C981C3E9E0}"/>
              </a:ext>
            </a:extLst>
          </p:cNvPr>
          <p:cNvSpPr>
            <a:spLocks noGrp="1"/>
          </p:cNvSpPr>
          <p:nvPr>
            <p:ph type="ctrTitle"/>
          </p:nvPr>
        </p:nvSpPr>
        <p:spPr/>
        <p:txBody>
          <a:bodyPr/>
          <a:lstStyle/>
          <a:p>
            <a:r>
              <a:rPr lang="en-US" dirty="0"/>
              <a:t>Introduction to OOP</a:t>
            </a:r>
          </a:p>
        </p:txBody>
      </p:sp>
      <p:sp>
        <p:nvSpPr>
          <p:cNvPr id="3" name="Subtitle 2">
            <a:extLst>
              <a:ext uri="{FF2B5EF4-FFF2-40B4-BE49-F238E27FC236}">
                <a16:creationId xmlns:a16="http://schemas.microsoft.com/office/drawing/2014/main" id="{AFC6254B-D705-1243-1A0B-64F463D2B319}"/>
              </a:ext>
            </a:extLst>
          </p:cNvPr>
          <p:cNvSpPr>
            <a:spLocks noGrp="1"/>
          </p:cNvSpPr>
          <p:nvPr>
            <p:ph type="subTitle" idx="1"/>
          </p:nvPr>
        </p:nvSpPr>
        <p:spPr/>
        <p:txBody>
          <a:bodyPr/>
          <a:lstStyle/>
          <a:p>
            <a:r>
              <a:rPr lang="en-US" b="1" dirty="0"/>
              <a:t>Inheritance in Python</a:t>
            </a:r>
          </a:p>
          <a:p>
            <a:endParaRPr lang="en-US" dirty="0"/>
          </a:p>
        </p:txBody>
      </p:sp>
    </p:spTree>
    <p:extLst>
      <p:ext uri="{BB962C8B-B14F-4D97-AF65-F5344CB8AC3E}">
        <p14:creationId xmlns:p14="http://schemas.microsoft.com/office/powerpoint/2010/main" val="341065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C42E6-C650-002B-CE72-2F11CD3BEEE1}"/>
              </a:ext>
            </a:extLst>
          </p:cNvPr>
          <p:cNvSpPr>
            <a:spLocks noGrp="1"/>
          </p:cNvSpPr>
          <p:nvPr>
            <p:ph type="title"/>
          </p:nvPr>
        </p:nvSpPr>
        <p:spPr/>
        <p:txBody>
          <a:bodyPr/>
          <a:lstStyle/>
          <a:p>
            <a:r>
              <a:rPr lang="en-US" b="1" dirty="0"/>
              <a:t>Inheritance in Python</a:t>
            </a:r>
            <a:endParaRPr lang="en-US" dirty="0"/>
          </a:p>
        </p:txBody>
      </p:sp>
      <p:sp>
        <p:nvSpPr>
          <p:cNvPr id="3" name="Content Placeholder 2">
            <a:extLst>
              <a:ext uri="{FF2B5EF4-FFF2-40B4-BE49-F238E27FC236}">
                <a16:creationId xmlns:a16="http://schemas.microsoft.com/office/drawing/2014/main" id="{9B38EEA7-584D-12F9-0742-6D8A0E26E33A}"/>
              </a:ext>
            </a:extLst>
          </p:cNvPr>
          <p:cNvSpPr>
            <a:spLocks noGrp="1"/>
          </p:cNvSpPr>
          <p:nvPr>
            <p:ph idx="1"/>
          </p:nvPr>
        </p:nvSpPr>
        <p:spPr/>
        <p:txBody>
          <a:bodyPr/>
          <a:lstStyle/>
          <a:p>
            <a:pPr fontAlgn="base"/>
            <a:r>
              <a:rPr lang="en-US" dirty="0"/>
              <a:t>Inheritance is a fundamental concept in object-oriented programming (OOP) that allows a class (called a child or derived class) to inherit attributes and methods from another class (called a parent or base class).</a:t>
            </a:r>
          </a:p>
          <a:p>
            <a:pPr fontAlgn="base"/>
            <a:r>
              <a:rPr lang="en-US" dirty="0"/>
              <a:t>Here, a parent class Animal is created that has a method info(). Then a child classes Dog is created that inherit from Animal and add their own behavior.</a:t>
            </a:r>
          </a:p>
          <a:p>
            <a:endParaRPr lang="en-US" dirty="0"/>
          </a:p>
        </p:txBody>
      </p:sp>
      <p:pic>
        <p:nvPicPr>
          <p:cNvPr id="6" name="Picture 5" descr="animal_class">
            <a:extLst>
              <a:ext uri="{FF2B5EF4-FFF2-40B4-BE49-F238E27FC236}">
                <a16:creationId xmlns:a16="http://schemas.microsoft.com/office/drawing/2014/main" id="{315CBAF2-A7FC-5DCA-3DBE-3956560C2C57}"/>
              </a:ext>
            </a:extLst>
          </p:cNvPr>
          <p:cNvPicPr>
            <a:picLocks noChangeAspect="1"/>
          </p:cNvPicPr>
          <p:nvPr/>
        </p:nvPicPr>
        <p:blipFill>
          <a:blip r:embed="rId2"/>
          <a:stretch>
            <a:fillRect/>
          </a:stretch>
        </p:blipFill>
        <p:spPr>
          <a:xfrm>
            <a:off x="5078730" y="3555863"/>
            <a:ext cx="4634230" cy="2421605"/>
          </a:xfrm>
          <a:prstGeom prst="rect">
            <a:avLst/>
          </a:prstGeom>
        </p:spPr>
      </p:pic>
    </p:spTree>
    <p:extLst>
      <p:ext uri="{BB962C8B-B14F-4D97-AF65-F5344CB8AC3E}">
        <p14:creationId xmlns:p14="http://schemas.microsoft.com/office/powerpoint/2010/main" val="884897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B5055-BB88-9A8A-9675-0772FAE60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6A57C-805F-C86B-5236-2260BB324339}"/>
              </a:ext>
            </a:extLst>
          </p:cNvPr>
          <p:cNvSpPr>
            <a:spLocks noGrp="1"/>
          </p:cNvSpPr>
          <p:nvPr>
            <p:ph type="title"/>
          </p:nvPr>
        </p:nvSpPr>
        <p:spPr/>
        <p:txBody>
          <a:bodyPr/>
          <a:lstStyle/>
          <a:p>
            <a:r>
              <a:rPr lang="en-US" b="1" dirty="0"/>
              <a:t>Inheritance in Python</a:t>
            </a:r>
            <a:endParaRPr lang="en-US" dirty="0"/>
          </a:p>
        </p:txBody>
      </p:sp>
      <p:sp>
        <p:nvSpPr>
          <p:cNvPr id="6" name="TextBox 5">
            <a:extLst>
              <a:ext uri="{FF2B5EF4-FFF2-40B4-BE49-F238E27FC236}">
                <a16:creationId xmlns:a16="http://schemas.microsoft.com/office/drawing/2014/main" id="{69A24894-D382-E17F-842D-59CE728DE165}"/>
              </a:ext>
            </a:extLst>
          </p:cNvPr>
          <p:cNvSpPr txBox="1"/>
          <p:nvPr/>
        </p:nvSpPr>
        <p:spPr>
          <a:xfrm>
            <a:off x="1016000" y="2006600"/>
            <a:ext cx="6096000" cy="4247317"/>
          </a:xfrm>
          <a:prstGeom prst="rect">
            <a:avLst/>
          </a:prstGeom>
          <a:noFill/>
        </p:spPr>
        <p:txBody>
          <a:bodyPr wrap="square">
            <a:spAutoFit/>
          </a:bodyPr>
          <a:lstStyle/>
          <a:p>
            <a:r>
              <a:rPr lang="en-US" dirty="0"/>
              <a:t>class Animal:</a:t>
            </a:r>
          </a:p>
          <a:p>
            <a:r>
              <a:rPr lang="en-US" dirty="0"/>
              <a:t>    def __</a:t>
            </a:r>
            <a:r>
              <a:rPr lang="en-US" dirty="0" err="1"/>
              <a:t>init</a:t>
            </a:r>
            <a:r>
              <a:rPr lang="en-US" dirty="0"/>
              <a:t>__(self, name):</a:t>
            </a:r>
          </a:p>
          <a:p>
            <a:r>
              <a:rPr lang="en-US" dirty="0"/>
              <a:t>        self.name = name</a:t>
            </a:r>
          </a:p>
          <a:p>
            <a:endParaRPr lang="en-US" dirty="0"/>
          </a:p>
          <a:p>
            <a:r>
              <a:rPr lang="en-US" dirty="0"/>
              <a:t>    def info(self):</a:t>
            </a:r>
          </a:p>
          <a:p>
            <a:r>
              <a:rPr lang="en-US" dirty="0"/>
              <a:t>        print("Animal name:", self.name)</a:t>
            </a:r>
          </a:p>
          <a:p>
            <a:endParaRPr lang="en-US" dirty="0"/>
          </a:p>
          <a:p>
            <a:r>
              <a:rPr lang="en-US" dirty="0"/>
              <a:t>class Dog(Animal):</a:t>
            </a:r>
          </a:p>
          <a:p>
            <a:r>
              <a:rPr lang="en-US" dirty="0"/>
              <a:t>    def sound(self):</a:t>
            </a:r>
          </a:p>
          <a:p>
            <a:r>
              <a:rPr lang="en-US" dirty="0"/>
              <a:t>        print(self.name, "barks")</a:t>
            </a:r>
          </a:p>
          <a:p>
            <a:endParaRPr lang="en-US" dirty="0"/>
          </a:p>
          <a:p>
            <a:r>
              <a:rPr lang="en-US" dirty="0"/>
              <a:t>d = Dog("Buddy")</a:t>
            </a:r>
          </a:p>
          <a:p>
            <a:r>
              <a:rPr lang="en-US" dirty="0"/>
              <a:t># Inherited method</a:t>
            </a:r>
          </a:p>
          <a:p>
            <a:r>
              <a:rPr lang="en-US" dirty="0"/>
              <a:t>d.info()     </a:t>
            </a:r>
          </a:p>
          <a:p>
            <a:r>
              <a:rPr lang="en-US" dirty="0" err="1"/>
              <a:t>d.sound</a:t>
            </a:r>
            <a:r>
              <a:rPr lang="en-US" dirty="0"/>
              <a:t>()</a:t>
            </a:r>
          </a:p>
        </p:txBody>
      </p:sp>
      <p:sp>
        <p:nvSpPr>
          <p:cNvPr id="8" name="TextBox 7">
            <a:extLst>
              <a:ext uri="{FF2B5EF4-FFF2-40B4-BE49-F238E27FC236}">
                <a16:creationId xmlns:a16="http://schemas.microsoft.com/office/drawing/2014/main" id="{72F02687-59B4-B42E-A5B2-6EBEAA25A229}"/>
              </a:ext>
            </a:extLst>
          </p:cNvPr>
          <p:cNvSpPr txBox="1"/>
          <p:nvPr/>
        </p:nvSpPr>
        <p:spPr>
          <a:xfrm>
            <a:off x="5527040" y="2118355"/>
            <a:ext cx="6096000" cy="3801041"/>
          </a:xfrm>
          <a:prstGeom prst="rect">
            <a:avLst/>
          </a:prstGeom>
          <a:noFill/>
        </p:spPr>
        <p:txBody>
          <a:bodyPr wrap="square">
            <a:spAutoFit/>
          </a:bodyPr>
          <a:lstStyle/>
          <a:p>
            <a:pPr algn="l">
              <a:buNone/>
            </a:pP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fontAlgn="base">
              <a:spcAft>
                <a:spcPts val="750"/>
              </a:spcAft>
              <a:buNone/>
            </a:pPr>
            <a:r>
              <a:rPr lang="en-US" sz="1600" b="0" i="0" dirty="0">
                <a:solidFill>
                  <a:srgbClr val="273239"/>
                </a:solidFill>
                <a:effectLst/>
                <a:latin typeface="Consolas" panose="020B0609020204030204" pitchFamily="49" charset="0"/>
              </a:rPr>
              <a:t>Animal name: Buddy</a:t>
            </a:r>
          </a:p>
          <a:p>
            <a:pPr algn="l" fontAlgn="base">
              <a:spcAft>
                <a:spcPts val="750"/>
              </a:spcAft>
              <a:buNone/>
            </a:pPr>
            <a:r>
              <a:rPr lang="en-US" sz="1600" b="0" i="0" dirty="0">
                <a:solidFill>
                  <a:srgbClr val="273239"/>
                </a:solidFill>
                <a:effectLst/>
                <a:latin typeface="Consolas" panose="020B0609020204030204" pitchFamily="49" charset="0"/>
              </a:rPr>
              <a:t>Buddy barks</a:t>
            </a:r>
          </a:p>
          <a:p>
            <a:pPr algn="l" rtl="0" fontAlgn="base">
              <a:spcAft>
                <a:spcPts val="750"/>
              </a:spcAft>
              <a:buNone/>
            </a:pPr>
            <a:r>
              <a:rPr lang="en-US" b="1" i="0" dirty="0">
                <a:solidFill>
                  <a:srgbClr val="273239"/>
                </a:solidFill>
                <a:effectLst/>
                <a:latin typeface="Nunito" pitchFamily="2" charset="0"/>
              </a:rPr>
              <a:t>Explanation:</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class Animal defines the parent class.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info() prints the name of the animal.</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class Dog(Animal) defines Dog as a child of Animal class.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d.info() calls parent method info() and </a:t>
            </a:r>
            <a:r>
              <a:rPr lang="en-US" b="0" i="0" dirty="0" err="1">
                <a:solidFill>
                  <a:srgbClr val="273239"/>
                </a:solidFill>
                <a:effectLst/>
                <a:latin typeface="Nunito" pitchFamily="2" charset="0"/>
              </a:rPr>
              <a:t>d.sound</a:t>
            </a:r>
            <a:r>
              <a:rPr lang="en-US" b="0" i="0" dirty="0">
                <a:solidFill>
                  <a:srgbClr val="273239"/>
                </a:solidFill>
                <a:effectLst/>
                <a:latin typeface="Nunito" pitchFamily="2" charset="0"/>
              </a:rPr>
              <a:t>() calls child method.</a:t>
            </a:r>
          </a:p>
        </p:txBody>
      </p:sp>
    </p:spTree>
    <p:extLst>
      <p:ext uri="{BB962C8B-B14F-4D97-AF65-F5344CB8AC3E}">
        <p14:creationId xmlns:p14="http://schemas.microsoft.com/office/powerpoint/2010/main" val="4088935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A2EF-7FBE-3157-EC74-6DC11FD45273}"/>
              </a:ext>
            </a:extLst>
          </p:cNvPr>
          <p:cNvSpPr>
            <a:spLocks noGrp="1"/>
          </p:cNvSpPr>
          <p:nvPr>
            <p:ph type="title"/>
          </p:nvPr>
        </p:nvSpPr>
        <p:spPr/>
        <p:txBody>
          <a:bodyPr/>
          <a:lstStyle/>
          <a:p>
            <a:r>
              <a:rPr lang="en-US" b="1" dirty="0"/>
              <a:t>Why do we need Inheritance</a:t>
            </a:r>
            <a:endParaRPr lang="en-US" dirty="0"/>
          </a:p>
        </p:txBody>
      </p:sp>
      <p:sp>
        <p:nvSpPr>
          <p:cNvPr id="3" name="Content Placeholder 2">
            <a:extLst>
              <a:ext uri="{FF2B5EF4-FFF2-40B4-BE49-F238E27FC236}">
                <a16:creationId xmlns:a16="http://schemas.microsoft.com/office/drawing/2014/main" id="{613481B7-5643-3AD3-86E1-C4F52DCC3356}"/>
              </a:ext>
            </a:extLst>
          </p:cNvPr>
          <p:cNvSpPr>
            <a:spLocks noGrp="1"/>
          </p:cNvSpPr>
          <p:nvPr>
            <p:ph idx="1"/>
          </p:nvPr>
        </p:nvSpPr>
        <p:spPr/>
        <p:txBody>
          <a:bodyPr>
            <a:normAutofit/>
          </a:bodyPr>
          <a:lstStyle/>
          <a:p>
            <a:pPr lvl="1" fontAlgn="base"/>
            <a:r>
              <a:rPr lang="en-US" sz="2800" dirty="0"/>
              <a:t>Promotes code reusability by sharing attributes and methods across classes.</a:t>
            </a:r>
          </a:p>
          <a:p>
            <a:pPr lvl="1" fontAlgn="base"/>
            <a:r>
              <a:rPr lang="en-US" sz="2800" dirty="0"/>
              <a:t>Models real-world hierarchies like Animal -&gt; Dog or Person -&gt; Employee.</a:t>
            </a:r>
          </a:p>
          <a:p>
            <a:pPr lvl="1" fontAlgn="base"/>
            <a:r>
              <a:rPr lang="en-US" sz="2800" dirty="0"/>
              <a:t>Simplifies maintenance through centralized updates in parent classes.</a:t>
            </a:r>
          </a:p>
          <a:p>
            <a:pPr lvl="1" fontAlgn="base"/>
            <a:r>
              <a:rPr lang="en-US" sz="2800" dirty="0"/>
              <a:t>Enables method overriding for customized subclass behavior.</a:t>
            </a:r>
          </a:p>
          <a:p>
            <a:pPr lvl="1" fontAlgn="base"/>
            <a:r>
              <a:rPr lang="en-US" sz="2800" dirty="0"/>
              <a:t>Supports scalable, extensible design using polymorphism.</a:t>
            </a:r>
          </a:p>
          <a:p>
            <a:endParaRPr lang="en-US" dirty="0"/>
          </a:p>
        </p:txBody>
      </p:sp>
    </p:spTree>
    <p:extLst>
      <p:ext uri="{BB962C8B-B14F-4D97-AF65-F5344CB8AC3E}">
        <p14:creationId xmlns:p14="http://schemas.microsoft.com/office/powerpoint/2010/main" val="4228912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CAB79-19E3-C895-FA86-D67F40BBF0A0}"/>
              </a:ext>
            </a:extLst>
          </p:cNvPr>
          <p:cNvSpPr>
            <a:spLocks noGrp="1"/>
          </p:cNvSpPr>
          <p:nvPr>
            <p:ph type="title"/>
          </p:nvPr>
        </p:nvSpPr>
        <p:spPr/>
        <p:txBody>
          <a:bodyPr/>
          <a:lstStyle/>
          <a:p>
            <a:r>
              <a:rPr lang="en-US" b="1" dirty="0"/>
              <a:t>super() Function</a:t>
            </a:r>
          </a:p>
        </p:txBody>
      </p:sp>
      <p:sp>
        <p:nvSpPr>
          <p:cNvPr id="3" name="Content Placeholder 2">
            <a:extLst>
              <a:ext uri="{FF2B5EF4-FFF2-40B4-BE49-F238E27FC236}">
                <a16:creationId xmlns:a16="http://schemas.microsoft.com/office/drawing/2014/main" id="{9063EB45-9C49-6FA5-D66C-065E1E41D48E}"/>
              </a:ext>
            </a:extLst>
          </p:cNvPr>
          <p:cNvSpPr>
            <a:spLocks noGrp="1"/>
          </p:cNvSpPr>
          <p:nvPr>
            <p:ph idx="1"/>
          </p:nvPr>
        </p:nvSpPr>
        <p:spPr/>
        <p:txBody>
          <a:bodyPr/>
          <a:lstStyle/>
          <a:p>
            <a:pPr fontAlgn="base"/>
            <a:r>
              <a:rPr lang="en-US" u="sng" dirty="0">
                <a:hlinkClick r:id="rId2"/>
              </a:rPr>
              <a:t>super() function</a:t>
            </a:r>
            <a:r>
              <a:rPr lang="en-US" dirty="0"/>
              <a:t> is used to call methods from a superclass following Python’s </a:t>
            </a:r>
            <a:r>
              <a:rPr lang="en-US" u="sng" dirty="0">
                <a:hlinkClick r:id="rId3"/>
              </a:rPr>
              <a:t>Method Resolution Order (MRO)</a:t>
            </a:r>
            <a:r>
              <a:rPr lang="en-US" dirty="0"/>
              <a:t>. In particular, it is commonly used in the child class's __</a:t>
            </a:r>
            <a:r>
              <a:rPr lang="en-US" dirty="0" err="1"/>
              <a:t>init</a:t>
            </a:r>
            <a:r>
              <a:rPr lang="en-US" dirty="0"/>
              <a:t>__() method to initialize inherited attributes. This way, the child class can leverage the functionality of the parent class.</a:t>
            </a:r>
          </a:p>
          <a:p>
            <a:pPr fontAlgn="base"/>
            <a:r>
              <a:rPr lang="en-US" b="1" dirty="0"/>
              <a:t>Example: </a:t>
            </a:r>
            <a:r>
              <a:rPr lang="en-US" dirty="0"/>
              <a:t>Here, Dog uses super() to call Animal's constructor</a:t>
            </a:r>
          </a:p>
          <a:p>
            <a:endParaRPr lang="en-US" dirty="0"/>
          </a:p>
        </p:txBody>
      </p:sp>
    </p:spTree>
    <p:extLst>
      <p:ext uri="{BB962C8B-B14F-4D97-AF65-F5344CB8AC3E}">
        <p14:creationId xmlns:p14="http://schemas.microsoft.com/office/powerpoint/2010/main" val="1598300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29D5B-30A2-093F-7AA9-CA33F3800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7EFFE-D477-EC83-1599-00648DE20E2F}"/>
              </a:ext>
            </a:extLst>
          </p:cNvPr>
          <p:cNvSpPr>
            <a:spLocks noGrp="1"/>
          </p:cNvSpPr>
          <p:nvPr>
            <p:ph type="title"/>
          </p:nvPr>
        </p:nvSpPr>
        <p:spPr/>
        <p:txBody>
          <a:bodyPr/>
          <a:lstStyle/>
          <a:p>
            <a:r>
              <a:rPr lang="en-US" b="1" dirty="0"/>
              <a:t>super() Function</a:t>
            </a:r>
          </a:p>
        </p:txBody>
      </p:sp>
      <p:sp>
        <p:nvSpPr>
          <p:cNvPr id="9" name="TextBox 8">
            <a:extLst>
              <a:ext uri="{FF2B5EF4-FFF2-40B4-BE49-F238E27FC236}">
                <a16:creationId xmlns:a16="http://schemas.microsoft.com/office/drawing/2014/main" id="{48327DFE-F798-F2E2-5417-D12E49DAC708}"/>
              </a:ext>
            </a:extLst>
          </p:cNvPr>
          <p:cNvSpPr txBox="1"/>
          <p:nvPr/>
        </p:nvSpPr>
        <p:spPr>
          <a:xfrm>
            <a:off x="955040" y="1737360"/>
            <a:ext cx="6563360" cy="4801314"/>
          </a:xfrm>
          <a:prstGeom prst="rect">
            <a:avLst/>
          </a:prstGeom>
          <a:noFill/>
        </p:spPr>
        <p:txBody>
          <a:bodyPr wrap="square">
            <a:spAutoFit/>
          </a:bodyPr>
          <a:lstStyle/>
          <a:p>
            <a:r>
              <a:rPr lang="en-US" dirty="0"/>
              <a:t># Parent Class: Animal</a:t>
            </a:r>
          </a:p>
          <a:p>
            <a:r>
              <a:rPr lang="en-US" dirty="0"/>
              <a:t>class Animal:</a:t>
            </a:r>
          </a:p>
          <a:p>
            <a:r>
              <a:rPr lang="en-US" dirty="0"/>
              <a:t>    def __</a:t>
            </a:r>
            <a:r>
              <a:rPr lang="en-US" dirty="0" err="1"/>
              <a:t>init</a:t>
            </a:r>
            <a:r>
              <a:rPr lang="en-US" dirty="0"/>
              <a:t>__(self, name):</a:t>
            </a:r>
          </a:p>
          <a:p>
            <a:r>
              <a:rPr lang="en-US" dirty="0"/>
              <a:t>        self.name = name</a:t>
            </a:r>
          </a:p>
          <a:p>
            <a:r>
              <a:rPr lang="en-US" dirty="0"/>
              <a:t>    def info(self):</a:t>
            </a:r>
          </a:p>
          <a:p>
            <a:r>
              <a:rPr lang="en-US" dirty="0"/>
              <a:t>        print("Animal name:", self.name)</a:t>
            </a:r>
          </a:p>
          <a:p>
            <a:r>
              <a:rPr lang="en-US" dirty="0"/>
              <a:t># Child Class: Dog</a:t>
            </a:r>
          </a:p>
          <a:p>
            <a:r>
              <a:rPr lang="en-US" dirty="0"/>
              <a:t>class Dog(Animal):</a:t>
            </a:r>
          </a:p>
          <a:p>
            <a:r>
              <a:rPr lang="en-US" dirty="0"/>
              <a:t>    def __</a:t>
            </a:r>
            <a:r>
              <a:rPr lang="en-US" dirty="0" err="1"/>
              <a:t>init</a:t>
            </a:r>
            <a:r>
              <a:rPr lang="en-US" dirty="0"/>
              <a:t>__(self, name, breed):</a:t>
            </a:r>
          </a:p>
          <a:p>
            <a:r>
              <a:rPr lang="en-US" dirty="0"/>
              <a:t>        # Calls constructor based on MRO</a:t>
            </a:r>
          </a:p>
          <a:p>
            <a:r>
              <a:rPr lang="en-US" dirty="0"/>
              <a:t>        super().__</a:t>
            </a:r>
            <a:r>
              <a:rPr lang="en-US" dirty="0" err="1"/>
              <a:t>init</a:t>
            </a:r>
            <a:r>
              <a:rPr lang="en-US" dirty="0"/>
              <a:t>__(name)  </a:t>
            </a:r>
          </a:p>
          <a:p>
            <a:r>
              <a:rPr lang="en-US" dirty="0"/>
              <a:t>        </a:t>
            </a:r>
            <a:r>
              <a:rPr lang="en-US" dirty="0" err="1"/>
              <a:t>self.breed</a:t>
            </a:r>
            <a:r>
              <a:rPr lang="en-US" dirty="0"/>
              <a:t> = breed</a:t>
            </a:r>
          </a:p>
          <a:p>
            <a:r>
              <a:rPr lang="en-US" dirty="0"/>
              <a:t>    def details(self):</a:t>
            </a:r>
          </a:p>
          <a:p>
            <a:r>
              <a:rPr lang="en-US" dirty="0"/>
              <a:t>        print(self.name, "is a", </a:t>
            </a:r>
            <a:r>
              <a:rPr lang="en-US" dirty="0" err="1"/>
              <a:t>self.breed</a:t>
            </a:r>
            <a:r>
              <a:rPr lang="en-US" dirty="0"/>
              <a:t>)</a:t>
            </a:r>
          </a:p>
          <a:p>
            <a:r>
              <a:rPr lang="en-US" dirty="0"/>
              <a:t>d = Dog("Buddy", "Golden Retriever")</a:t>
            </a:r>
          </a:p>
          <a:p>
            <a:r>
              <a:rPr lang="en-US" dirty="0"/>
              <a:t>d.info()      # Parent method</a:t>
            </a:r>
          </a:p>
          <a:p>
            <a:r>
              <a:rPr lang="en-US" dirty="0" err="1"/>
              <a:t>d.details</a:t>
            </a:r>
            <a:r>
              <a:rPr lang="en-US" dirty="0"/>
              <a:t>()   # Child method</a:t>
            </a:r>
          </a:p>
        </p:txBody>
      </p:sp>
      <p:sp>
        <p:nvSpPr>
          <p:cNvPr id="11" name="TextBox 10">
            <a:extLst>
              <a:ext uri="{FF2B5EF4-FFF2-40B4-BE49-F238E27FC236}">
                <a16:creationId xmlns:a16="http://schemas.microsoft.com/office/drawing/2014/main" id="{20AC28AA-49BE-5E1F-861A-8AD81075102C}"/>
              </a:ext>
            </a:extLst>
          </p:cNvPr>
          <p:cNvSpPr txBox="1"/>
          <p:nvPr/>
        </p:nvSpPr>
        <p:spPr>
          <a:xfrm>
            <a:off x="5648960" y="1904376"/>
            <a:ext cx="6096000" cy="3339376"/>
          </a:xfrm>
          <a:prstGeom prst="rect">
            <a:avLst/>
          </a:prstGeom>
          <a:noFill/>
        </p:spPr>
        <p:txBody>
          <a:bodyPr wrap="square">
            <a:spAutoFit/>
          </a:bodyPr>
          <a:lstStyle/>
          <a:p>
            <a:pPr algn="l">
              <a:buNone/>
            </a:pPr>
            <a:br>
              <a:rPr lang="en-US" b="0" i="0" dirty="0">
                <a:solidFill>
                  <a:srgbClr val="273239"/>
                </a:solidFill>
                <a:effectLst/>
                <a:latin typeface="Nunito" pitchFamily="2" charset="0"/>
              </a:rPr>
            </a:b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fontAlgn="base">
              <a:spcAft>
                <a:spcPts val="750"/>
              </a:spcAft>
              <a:buNone/>
            </a:pPr>
            <a:r>
              <a:rPr lang="en-US" sz="1600" b="0" i="0" dirty="0">
                <a:effectLst/>
                <a:latin typeface="Consolas" panose="020B0609020204030204" pitchFamily="49" charset="0"/>
              </a:rPr>
              <a:t>Animal name: Buddy</a:t>
            </a:r>
          </a:p>
          <a:p>
            <a:pPr algn="l" fontAlgn="base">
              <a:spcAft>
                <a:spcPts val="750"/>
              </a:spcAft>
              <a:buNone/>
            </a:pPr>
            <a:r>
              <a:rPr lang="en-US" sz="1600" b="0" i="0" dirty="0">
                <a:effectLst/>
                <a:latin typeface="Consolas" panose="020B0609020204030204" pitchFamily="49" charset="0"/>
              </a:rPr>
              <a:t>Buddy is a Golden Retriever</a:t>
            </a:r>
          </a:p>
          <a:p>
            <a:pPr algn="l" rtl="0" fontAlgn="base">
              <a:spcAft>
                <a:spcPts val="750"/>
              </a:spcAft>
              <a:buNone/>
            </a:pPr>
            <a:r>
              <a:rPr lang="en-US" b="1" i="0" dirty="0">
                <a:solidFill>
                  <a:srgbClr val="273239"/>
                </a:solidFill>
                <a:effectLst/>
                <a:latin typeface="Nunito" pitchFamily="2" charset="0"/>
              </a:rPr>
              <a:t>Explanation:</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super() function is used inside __</a:t>
            </a:r>
            <a:r>
              <a:rPr lang="en-US" b="0" i="0" dirty="0" err="1">
                <a:solidFill>
                  <a:srgbClr val="273239"/>
                </a:solidFill>
                <a:effectLst/>
                <a:latin typeface="Nunito" pitchFamily="2" charset="0"/>
              </a:rPr>
              <a:t>init</a:t>
            </a:r>
            <a:r>
              <a:rPr lang="en-US" b="0" i="0" dirty="0">
                <a:solidFill>
                  <a:srgbClr val="273239"/>
                </a:solidFill>
                <a:effectLst/>
                <a:latin typeface="Nunito" pitchFamily="2" charset="0"/>
              </a:rPr>
              <a:t>__() method of Dog to call the constructor of Animal and initialize inherited attribute (name).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This ensures that parent class functionality is reused without needing to rewrite the code in the child class.</a:t>
            </a:r>
          </a:p>
        </p:txBody>
      </p:sp>
    </p:spTree>
    <p:extLst>
      <p:ext uri="{BB962C8B-B14F-4D97-AF65-F5344CB8AC3E}">
        <p14:creationId xmlns:p14="http://schemas.microsoft.com/office/powerpoint/2010/main" val="126661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AFB73-F9D6-AFBC-21C4-BE777F6526C9}"/>
              </a:ext>
            </a:extLst>
          </p:cNvPr>
          <p:cNvSpPr>
            <a:spLocks noGrp="1"/>
          </p:cNvSpPr>
          <p:nvPr>
            <p:ph type="title"/>
          </p:nvPr>
        </p:nvSpPr>
        <p:spPr/>
        <p:txBody>
          <a:bodyPr/>
          <a:lstStyle/>
          <a:p>
            <a:r>
              <a:rPr lang="en-US" b="1" dirty="0"/>
              <a:t>Types of Inheritance in Python</a:t>
            </a:r>
            <a:endParaRPr lang="en-US" dirty="0"/>
          </a:p>
        </p:txBody>
      </p:sp>
      <p:sp>
        <p:nvSpPr>
          <p:cNvPr id="3" name="Content Placeholder 2">
            <a:extLst>
              <a:ext uri="{FF2B5EF4-FFF2-40B4-BE49-F238E27FC236}">
                <a16:creationId xmlns:a16="http://schemas.microsoft.com/office/drawing/2014/main" id="{80741732-80D0-BAA3-50C3-980A4706F120}"/>
              </a:ext>
            </a:extLst>
          </p:cNvPr>
          <p:cNvSpPr>
            <a:spLocks noGrp="1"/>
          </p:cNvSpPr>
          <p:nvPr>
            <p:ph idx="1"/>
          </p:nvPr>
        </p:nvSpPr>
        <p:spPr/>
        <p:txBody>
          <a:bodyPr/>
          <a:lstStyle/>
          <a:p>
            <a:r>
              <a:rPr lang="en-US" dirty="0"/>
              <a:t>Inheritance is a key concept in object-oriented programming that allows one class (child/derived) to inherit the properties and methods of another class (parent/base). This promotes code reusability and improves maintainability. Here we a going to see the types of</a:t>
            </a:r>
            <a:r>
              <a:rPr lang="en-US" b="1" dirty="0"/>
              <a:t> </a:t>
            </a:r>
            <a:r>
              <a:rPr lang="en-US" b="1" u="sng" dirty="0"/>
              <a:t>inheritance in Python.</a:t>
            </a:r>
          </a:p>
          <a:p>
            <a:endParaRPr lang="en-US" b="1" u="sng" dirty="0"/>
          </a:p>
          <a:p>
            <a:endParaRPr lang="en-US" dirty="0"/>
          </a:p>
        </p:txBody>
      </p:sp>
      <p:pic>
        <p:nvPicPr>
          <p:cNvPr id="4" name="Picture 3" descr="Types of inheritance Python">
            <a:extLst>
              <a:ext uri="{FF2B5EF4-FFF2-40B4-BE49-F238E27FC236}">
                <a16:creationId xmlns:a16="http://schemas.microsoft.com/office/drawing/2014/main" id="{98BE8D5D-2DB0-2696-3441-BC8B0808BF08}"/>
              </a:ext>
            </a:extLst>
          </p:cNvPr>
          <p:cNvPicPr>
            <a:picLocks noChangeAspect="1"/>
          </p:cNvPicPr>
          <p:nvPr/>
        </p:nvPicPr>
        <p:blipFill>
          <a:blip r:embed="rId2"/>
          <a:stretch>
            <a:fillRect/>
          </a:stretch>
        </p:blipFill>
        <p:spPr>
          <a:xfrm>
            <a:off x="3342640" y="3129279"/>
            <a:ext cx="6410960" cy="3013253"/>
          </a:xfrm>
          <a:prstGeom prst="rect">
            <a:avLst/>
          </a:prstGeom>
        </p:spPr>
      </p:pic>
    </p:spTree>
    <p:extLst>
      <p:ext uri="{BB962C8B-B14F-4D97-AF65-F5344CB8AC3E}">
        <p14:creationId xmlns:p14="http://schemas.microsoft.com/office/powerpoint/2010/main" val="868354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21D67-7116-BE68-F934-197A134ED6DE}"/>
              </a:ext>
            </a:extLst>
          </p:cNvPr>
          <p:cNvSpPr>
            <a:spLocks noGrp="1"/>
          </p:cNvSpPr>
          <p:nvPr>
            <p:ph type="title"/>
          </p:nvPr>
        </p:nvSpPr>
        <p:spPr/>
        <p:txBody>
          <a:bodyPr/>
          <a:lstStyle/>
          <a:p>
            <a:pPr fontAlgn="base"/>
            <a:r>
              <a:rPr lang="en-US" b="1" dirty="0"/>
              <a:t>Single Inheritance</a:t>
            </a:r>
          </a:p>
        </p:txBody>
      </p:sp>
      <p:sp>
        <p:nvSpPr>
          <p:cNvPr id="3" name="Content Placeholder 2">
            <a:extLst>
              <a:ext uri="{FF2B5EF4-FFF2-40B4-BE49-F238E27FC236}">
                <a16:creationId xmlns:a16="http://schemas.microsoft.com/office/drawing/2014/main" id="{8025A17A-9208-F53F-3180-DF0BB04F259E}"/>
              </a:ext>
            </a:extLst>
          </p:cNvPr>
          <p:cNvSpPr>
            <a:spLocks noGrp="1"/>
          </p:cNvSpPr>
          <p:nvPr>
            <p:ph idx="1"/>
          </p:nvPr>
        </p:nvSpPr>
        <p:spPr/>
        <p:txBody>
          <a:bodyPr/>
          <a:lstStyle/>
          <a:p>
            <a:pPr fontAlgn="base"/>
            <a:r>
              <a:rPr lang="en-US" dirty="0"/>
              <a:t>Single inheritance enables a derived class to inherit properties from a single parent class, thus enabling code reusability and the addition of new features to existing code.</a:t>
            </a:r>
          </a:p>
          <a:p>
            <a:br>
              <a:rPr lang="en-US" dirty="0"/>
            </a:br>
            <a:endParaRPr lang="en-US" dirty="0"/>
          </a:p>
        </p:txBody>
      </p:sp>
      <p:pic>
        <p:nvPicPr>
          <p:cNvPr id="4" name="Picture 3" descr="SingleInheritance">
            <a:extLst>
              <a:ext uri="{FF2B5EF4-FFF2-40B4-BE49-F238E27FC236}">
                <a16:creationId xmlns:a16="http://schemas.microsoft.com/office/drawing/2014/main" id="{F35C0C9C-6FA3-9D86-4C45-CF391B1E8366}"/>
              </a:ext>
            </a:extLst>
          </p:cNvPr>
          <p:cNvPicPr>
            <a:picLocks noChangeAspect="1"/>
          </p:cNvPicPr>
          <p:nvPr/>
        </p:nvPicPr>
        <p:blipFill>
          <a:blip r:embed="rId2"/>
          <a:stretch>
            <a:fillRect/>
          </a:stretch>
        </p:blipFill>
        <p:spPr>
          <a:xfrm>
            <a:off x="4747260" y="2884170"/>
            <a:ext cx="2342211" cy="3181350"/>
          </a:xfrm>
          <a:prstGeom prst="rect">
            <a:avLst/>
          </a:prstGeom>
        </p:spPr>
      </p:pic>
    </p:spTree>
    <p:extLst>
      <p:ext uri="{BB962C8B-B14F-4D97-AF65-F5344CB8AC3E}">
        <p14:creationId xmlns:p14="http://schemas.microsoft.com/office/powerpoint/2010/main" val="2348194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08F39-87C4-1EE2-AD83-026618EC2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8F121-1202-59ED-2ECA-8656C3CBEE00}"/>
              </a:ext>
            </a:extLst>
          </p:cNvPr>
          <p:cNvSpPr>
            <a:spLocks noGrp="1"/>
          </p:cNvSpPr>
          <p:nvPr>
            <p:ph type="title"/>
          </p:nvPr>
        </p:nvSpPr>
        <p:spPr/>
        <p:txBody>
          <a:bodyPr/>
          <a:lstStyle/>
          <a:p>
            <a:pPr fontAlgn="base"/>
            <a:r>
              <a:rPr lang="en-US" b="1" dirty="0"/>
              <a:t>Single Inheritance</a:t>
            </a:r>
          </a:p>
        </p:txBody>
      </p:sp>
      <p:sp>
        <p:nvSpPr>
          <p:cNvPr id="8" name="TextBox 7">
            <a:extLst>
              <a:ext uri="{FF2B5EF4-FFF2-40B4-BE49-F238E27FC236}">
                <a16:creationId xmlns:a16="http://schemas.microsoft.com/office/drawing/2014/main" id="{F15AB291-4CAD-32B7-4C88-60569660A331}"/>
              </a:ext>
            </a:extLst>
          </p:cNvPr>
          <p:cNvSpPr txBox="1"/>
          <p:nvPr/>
        </p:nvSpPr>
        <p:spPr>
          <a:xfrm>
            <a:off x="1229360" y="2053441"/>
            <a:ext cx="6096000" cy="3970318"/>
          </a:xfrm>
          <a:prstGeom prst="rect">
            <a:avLst/>
          </a:prstGeom>
          <a:noFill/>
        </p:spPr>
        <p:txBody>
          <a:bodyPr wrap="square">
            <a:spAutoFit/>
          </a:bodyPr>
          <a:lstStyle/>
          <a:p>
            <a:r>
              <a:rPr lang="en-US" dirty="0"/>
              <a:t># Base class</a:t>
            </a:r>
          </a:p>
          <a:p>
            <a:r>
              <a:rPr lang="en-US" dirty="0"/>
              <a:t>class Parent:</a:t>
            </a:r>
          </a:p>
          <a:p>
            <a:r>
              <a:rPr lang="en-US" dirty="0"/>
              <a:t>    def func1(self):</a:t>
            </a:r>
          </a:p>
          <a:p>
            <a:r>
              <a:rPr lang="en-US" dirty="0"/>
              <a:t>        print("This function is in parent class.")</a:t>
            </a:r>
          </a:p>
          <a:p>
            <a:endParaRPr lang="en-US" dirty="0"/>
          </a:p>
          <a:p>
            <a:r>
              <a:rPr lang="en-US" dirty="0"/>
              <a:t># Derived class</a:t>
            </a:r>
          </a:p>
          <a:p>
            <a:r>
              <a:rPr lang="en-US" dirty="0"/>
              <a:t>class Child(Parent):</a:t>
            </a:r>
          </a:p>
          <a:p>
            <a:r>
              <a:rPr lang="en-US" dirty="0"/>
              <a:t>    def func2(self):</a:t>
            </a:r>
          </a:p>
          <a:p>
            <a:r>
              <a:rPr lang="en-US" dirty="0"/>
              <a:t>        print("This function is in child class.")</a:t>
            </a:r>
          </a:p>
          <a:p>
            <a:endParaRPr lang="en-US" dirty="0"/>
          </a:p>
          <a:p>
            <a:r>
              <a:rPr lang="en-US" dirty="0"/>
              <a:t># Driver code</a:t>
            </a:r>
          </a:p>
          <a:p>
            <a:r>
              <a:rPr lang="en-US" dirty="0"/>
              <a:t>obj = Child()</a:t>
            </a:r>
          </a:p>
          <a:p>
            <a:r>
              <a:rPr lang="en-US" dirty="0"/>
              <a:t>obj.func1()</a:t>
            </a:r>
          </a:p>
          <a:p>
            <a:r>
              <a:rPr lang="en-US" dirty="0"/>
              <a:t>obj.func2()</a:t>
            </a:r>
          </a:p>
        </p:txBody>
      </p:sp>
      <p:sp>
        <p:nvSpPr>
          <p:cNvPr id="10" name="TextBox 9">
            <a:extLst>
              <a:ext uri="{FF2B5EF4-FFF2-40B4-BE49-F238E27FC236}">
                <a16:creationId xmlns:a16="http://schemas.microsoft.com/office/drawing/2014/main" id="{ECF1D04C-A3CA-1845-5D6C-26DEF870B74B}"/>
              </a:ext>
            </a:extLst>
          </p:cNvPr>
          <p:cNvSpPr txBox="1"/>
          <p:nvPr/>
        </p:nvSpPr>
        <p:spPr>
          <a:xfrm>
            <a:off x="6126480" y="2227541"/>
            <a:ext cx="6096000" cy="3016210"/>
          </a:xfrm>
          <a:prstGeom prst="rect">
            <a:avLst/>
          </a:prstGeom>
          <a:noFill/>
        </p:spPr>
        <p:txBody>
          <a:bodyPr wrap="square">
            <a:spAutoFit/>
          </a:bodyPr>
          <a:lstStyle/>
          <a:p>
            <a:pPr algn="l">
              <a:buNone/>
            </a:pP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fontAlgn="base">
              <a:spcAft>
                <a:spcPts val="750"/>
              </a:spcAft>
              <a:buNone/>
            </a:pPr>
            <a:r>
              <a:rPr lang="en-US" sz="1600" b="0" i="0" dirty="0">
                <a:solidFill>
                  <a:srgbClr val="273239"/>
                </a:solidFill>
                <a:effectLst/>
                <a:latin typeface="Consolas" panose="020B0609020204030204" pitchFamily="49" charset="0"/>
              </a:rPr>
              <a:t>This function is in parent class.</a:t>
            </a:r>
          </a:p>
          <a:p>
            <a:pPr algn="l" fontAlgn="base">
              <a:spcAft>
                <a:spcPts val="750"/>
              </a:spcAft>
              <a:buNone/>
            </a:pPr>
            <a:r>
              <a:rPr lang="en-US" sz="1600" b="0" i="0" dirty="0">
                <a:solidFill>
                  <a:srgbClr val="273239"/>
                </a:solidFill>
                <a:effectLst/>
                <a:latin typeface="Consolas" panose="020B0609020204030204" pitchFamily="49" charset="0"/>
              </a:rPr>
              <a:t>This function is in child class.</a:t>
            </a:r>
          </a:p>
          <a:p>
            <a:pPr algn="l" rtl="0" fontAlgn="base">
              <a:spcAft>
                <a:spcPts val="750"/>
              </a:spcAft>
              <a:buNone/>
            </a:pPr>
            <a:r>
              <a:rPr lang="en-US" b="1" i="0" dirty="0">
                <a:solidFill>
                  <a:srgbClr val="273239"/>
                </a:solidFill>
                <a:effectLst/>
                <a:latin typeface="Nunito" pitchFamily="2" charset="0"/>
              </a:rPr>
              <a:t>Explanation:</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Child class inherits the method func1() from Parent.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also has its own method func2().</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This shows how one class can extend another using single inheritance.</a:t>
            </a:r>
          </a:p>
        </p:txBody>
      </p:sp>
    </p:spTree>
    <p:extLst>
      <p:ext uri="{BB962C8B-B14F-4D97-AF65-F5344CB8AC3E}">
        <p14:creationId xmlns:p14="http://schemas.microsoft.com/office/powerpoint/2010/main" val="807128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1B993-66C0-8AF8-45C5-B68D3DF7B6F8}"/>
              </a:ext>
            </a:extLst>
          </p:cNvPr>
          <p:cNvSpPr>
            <a:spLocks noGrp="1"/>
          </p:cNvSpPr>
          <p:nvPr>
            <p:ph type="title"/>
          </p:nvPr>
        </p:nvSpPr>
        <p:spPr/>
        <p:txBody>
          <a:bodyPr/>
          <a:lstStyle/>
          <a:p>
            <a:r>
              <a:rPr lang="en-US" b="1" dirty="0"/>
              <a:t>Multiple Inheritance</a:t>
            </a:r>
            <a:endParaRPr lang="en-US" dirty="0"/>
          </a:p>
        </p:txBody>
      </p:sp>
      <p:sp>
        <p:nvSpPr>
          <p:cNvPr id="3" name="Content Placeholder 2">
            <a:extLst>
              <a:ext uri="{FF2B5EF4-FFF2-40B4-BE49-F238E27FC236}">
                <a16:creationId xmlns:a16="http://schemas.microsoft.com/office/drawing/2014/main" id="{D1EE1118-9763-C60F-B8FA-AAE48B79AD86}"/>
              </a:ext>
            </a:extLst>
          </p:cNvPr>
          <p:cNvSpPr>
            <a:spLocks noGrp="1"/>
          </p:cNvSpPr>
          <p:nvPr>
            <p:ph idx="1"/>
          </p:nvPr>
        </p:nvSpPr>
        <p:spPr/>
        <p:txBody>
          <a:bodyPr/>
          <a:lstStyle/>
          <a:p>
            <a:r>
              <a:rPr lang="en-US" dirty="0"/>
              <a:t>When a class can be derived from more than one base class this type of inheritance is called multiple inheritances. In multiple inheritances, all the features of the base classes are inherited into the derived class. </a:t>
            </a:r>
          </a:p>
        </p:txBody>
      </p:sp>
      <p:pic>
        <p:nvPicPr>
          <p:cNvPr id="4" name="Picture 3" descr="MultipleInheritance">
            <a:extLst>
              <a:ext uri="{FF2B5EF4-FFF2-40B4-BE49-F238E27FC236}">
                <a16:creationId xmlns:a16="http://schemas.microsoft.com/office/drawing/2014/main" id="{BB76BF0F-7BE9-52A3-F96F-2FE895ED64C8}"/>
              </a:ext>
            </a:extLst>
          </p:cNvPr>
          <p:cNvPicPr>
            <a:picLocks noChangeAspect="1"/>
          </p:cNvPicPr>
          <p:nvPr/>
        </p:nvPicPr>
        <p:blipFill>
          <a:blip r:embed="rId2"/>
          <a:stretch>
            <a:fillRect/>
          </a:stretch>
        </p:blipFill>
        <p:spPr>
          <a:xfrm>
            <a:off x="4288585" y="2640330"/>
            <a:ext cx="3614829" cy="2907030"/>
          </a:xfrm>
          <a:prstGeom prst="rect">
            <a:avLst/>
          </a:prstGeom>
        </p:spPr>
      </p:pic>
    </p:spTree>
    <p:extLst>
      <p:ext uri="{BB962C8B-B14F-4D97-AF65-F5344CB8AC3E}">
        <p14:creationId xmlns:p14="http://schemas.microsoft.com/office/powerpoint/2010/main" val="2211937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A501B-0513-A16B-2093-02D4A43B2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86E19-FBA9-3F10-37BA-AF9399B3B266}"/>
              </a:ext>
            </a:extLst>
          </p:cNvPr>
          <p:cNvSpPr>
            <a:spLocks noGrp="1"/>
          </p:cNvSpPr>
          <p:nvPr>
            <p:ph type="title"/>
          </p:nvPr>
        </p:nvSpPr>
        <p:spPr/>
        <p:txBody>
          <a:bodyPr/>
          <a:lstStyle/>
          <a:p>
            <a:r>
              <a:rPr lang="en-US" b="1" dirty="0"/>
              <a:t>Multiple Inheritance</a:t>
            </a:r>
            <a:endParaRPr lang="en-US" dirty="0"/>
          </a:p>
        </p:txBody>
      </p:sp>
      <p:sp>
        <p:nvSpPr>
          <p:cNvPr id="8" name="TextBox 7">
            <a:extLst>
              <a:ext uri="{FF2B5EF4-FFF2-40B4-BE49-F238E27FC236}">
                <a16:creationId xmlns:a16="http://schemas.microsoft.com/office/drawing/2014/main" id="{E98B7E50-2E1F-2DFC-97FD-3D4208C06583}"/>
              </a:ext>
            </a:extLst>
          </p:cNvPr>
          <p:cNvSpPr txBox="1"/>
          <p:nvPr/>
        </p:nvSpPr>
        <p:spPr>
          <a:xfrm>
            <a:off x="924560" y="1982827"/>
            <a:ext cx="6096000" cy="3970318"/>
          </a:xfrm>
          <a:prstGeom prst="rect">
            <a:avLst/>
          </a:prstGeom>
          <a:noFill/>
        </p:spPr>
        <p:txBody>
          <a:bodyPr wrap="square">
            <a:spAutoFit/>
          </a:bodyPr>
          <a:lstStyle/>
          <a:p>
            <a:r>
              <a:rPr lang="en-US" dirty="0"/>
              <a:t># Base class 1</a:t>
            </a:r>
          </a:p>
          <a:p>
            <a:r>
              <a:rPr lang="en-US" dirty="0"/>
              <a:t>class Mother:</a:t>
            </a:r>
          </a:p>
          <a:p>
            <a:r>
              <a:rPr lang="en-US" dirty="0"/>
              <a:t>    </a:t>
            </a:r>
            <a:r>
              <a:rPr lang="en-US" dirty="0" err="1"/>
              <a:t>mothername</a:t>
            </a:r>
            <a:r>
              <a:rPr lang="en-US" dirty="0"/>
              <a:t> = ""</a:t>
            </a:r>
          </a:p>
          <a:p>
            <a:endParaRPr lang="en-US" dirty="0"/>
          </a:p>
          <a:p>
            <a:r>
              <a:rPr lang="en-US" dirty="0"/>
              <a:t>    def mother(self):</a:t>
            </a:r>
          </a:p>
          <a:p>
            <a:r>
              <a:rPr lang="en-US" dirty="0"/>
              <a:t>        print(</a:t>
            </a:r>
            <a:r>
              <a:rPr lang="en-US" dirty="0" err="1"/>
              <a:t>self.mothername</a:t>
            </a:r>
            <a:r>
              <a:rPr lang="en-US" dirty="0"/>
              <a:t>)</a:t>
            </a:r>
          </a:p>
          <a:p>
            <a:endParaRPr lang="en-US" dirty="0"/>
          </a:p>
          <a:p>
            <a:r>
              <a:rPr lang="en-US" dirty="0"/>
              <a:t># Base class 2</a:t>
            </a:r>
          </a:p>
          <a:p>
            <a:r>
              <a:rPr lang="en-US" dirty="0"/>
              <a:t>class Father:</a:t>
            </a:r>
          </a:p>
          <a:p>
            <a:r>
              <a:rPr lang="en-US" dirty="0"/>
              <a:t>    </a:t>
            </a:r>
            <a:r>
              <a:rPr lang="en-US" dirty="0" err="1"/>
              <a:t>fathername</a:t>
            </a:r>
            <a:r>
              <a:rPr lang="en-US" dirty="0"/>
              <a:t> = ""</a:t>
            </a:r>
          </a:p>
          <a:p>
            <a:endParaRPr lang="en-US" dirty="0"/>
          </a:p>
          <a:p>
            <a:r>
              <a:rPr lang="en-US" dirty="0"/>
              <a:t>    def father(self):</a:t>
            </a:r>
          </a:p>
          <a:p>
            <a:r>
              <a:rPr lang="en-US" dirty="0"/>
              <a:t>        print(</a:t>
            </a:r>
            <a:r>
              <a:rPr lang="en-US" dirty="0" err="1"/>
              <a:t>self.fathername</a:t>
            </a:r>
            <a:r>
              <a:rPr lang="en-US" dirty="0"/>
              <a:t>)</a:t>
            </a:r>
          </a:p>
          <a:p>
            <a:endParaRPr lang="en-US" dirty="0"/>
          </a:p>
        </p:txBody>
      </p:sp>
      <p:sp>
        <p:nvSpPr>
          <p:cNvPr id="10" name="TextBox 9">
            <a:extLst>
              <a:ext uri="{FF2B5EF4-FFF2-40B4-BE49-F238E27FC236}">
                <a16:creationId xmlns:a16="http://schemas.microsoft.com/office/drawing/2014/main" id="{676F7351-4A41-4AF9-0E1D-FD122D2E70FB}"/>
              </a:ext>
            </a:extLst>
          </p:cNvPr>
          <p:cNvSpPr txBox="1"/>
          <p:nvPr/>
        </p:nvSpPr>
        <p:spPr>
          <a:xfrm>
            <a:off x="5425440" y="1859339"/>
            <a:ext cx="6096000" cy="3139321"/>
          </a:xfrm>
          <a:prstGeom prst="rect">
            <a:avLst/>
          </a:prstGeom>
          <a:noFill/>
        </p:spPr>
        <p:txBody>
          <a:bodyPr wrap="square">
            <a:spAutoFit/>
          </a:bodyPr>
          <a:lstStyle/>
          <a:p>
            <a:r>
              <a:rPr lang="en-US" dirty="0"/>
              <a:t># Derived class</a:t>
            </a:r>
          </a:p>
          <a:p>
            <a:r>
              <a:rPr lang="en-US" dirty="0"/>
              <a:t>class Son(Mother, Father):</a:t>
            </a:r>
          </a:p>
          <a:p>
            <a:r>
              <a:rPr lang="en-US" dirty="0"/>
              <a:t>    def parents(self):</a:t>
            </a:r>
          </a:p>
          <a:p>
            <a:r>
              <a:rPr lang="en-US" dirty="0"/>
              <a:t>        print("Father :", </a:t>
            </a:r>
            <a:r>
              <a:rPr lang="en-US" dirty="0" err="1"/>
              <a:t>self.fathername</a:t>
            </a:r>
            <a:r>
              <a:rPr lang="en-US" dirty="0"/>
              <a:t>)</a:t>
            </a:r>
          </a:p>
          <a:p>
            <a:r>
              <a:rPr lang="en-US" dirty="0"/>
              <a:t>        print("Mother :", </a:t>
            </a:r>
            <a:r>
              <a:rPr lang="en-US" dirty="0" err="1"/>
              <a:t>self.mothername</a:t>
            </a:r>
            <a:r>
              <a:rPr lang="en-US" dirty="0"/>
              <a:t>)</a:t>
            </a:r>
          </a:p>
          <a:p>
            <a:endParaRPr lang="en-US" dirty="0"/>
          </a:p>
          <a:p>
            <a:r>
              <a:rPr lang="en-US" dirty="0"/>
              <a:t># Driver code</a:t>
            </a:r>
          </a:p>
          <a:p>
            <a:r>
              <a:rPr lang="en-US" dirty="0"/>
              <a:t>s1 = Son()</a:t>
            </a:r>
          </a:p>
          <a:p>
            <a:r>
              <a:rPr lang="en-US" dirty="0"/>
              <a:t>s1.fathername = “Ahmed"</a:t>
            </a:r>
          </a:p>
          <a:p>
            <a:r>
              <a:rPr lang="en-US" dirty="0"/>
              <a:t>s1.mothername = “Noreen"</a:t>
            </a:r>
          </a:p>
          <a:p>
            <a:r>
              <a:rPr lang="en-US" dirty="0"/>
              <a:t>s1.parents()</a:t>
            </a:r>
          </a:p>
        </p:txBody>
      </p:sp>
    </p:spTree>
    <p:extLst>
      <p:ext uri="{BB962C8B-B14F-4D97-AF65-F5344CB8AC3E}">
        <p14:creationId xmlns:p14="http://schemas.microsoft.com/office/powerpoint/2010/main" val="1622162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9A3D8-FB7E-4275-1708-66EFE9D8C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3E6A9-B4E7-C414-87F7-0C0542638FCB}"/>
              </a:ext>
            </a:extLst>
          </p:cNvPr>
          <p:cNvSpPr>
            <a:spLocks noGrp="1"/>
          </p:cNvSpPr>
          <p:nvPr>
            <p:ph type="title"/>
          </p:nvPr>
        </p:nvSpPr>
        <p:spPr/>
        <p:txBody>
          <a:bodyPr/>
          <a:lstStyle/>
          <a:p>
            <a:r>
              <a:rPr lang="en-US" b="1" dirty="0"/>
              <a:t>Multiple Inheritance</a:t>
            </a:r>
            <a:endParaRPr lang="en-US" dirty="0"/>
          </a:p>
        </p:txBody>
      </p:sp>
      <p:sp>
        <p:nvSpPr>
          <p:cNvPr id="6" name="TextBox 5">
            <a:extLst>
              <a:ext uri="{FF2B5EF4-FFF2-40B4-BE49-F238E27FC236}">
                <a16:creationId xmlns:a16="http://schemas.microsoft.com/office/drawing/2014/main" id="{8A23A80C-712C-61ED-E883-25098A357B33}"/>
              </a:ext>
            </a:extLst>
          </p:cNvPr>
          <p:cNvSpPr txBox="1"/>
          <p:nvPr/>
        </p:nvSpPr>
        <p:spPr>
          <a:xfrm>
            <a:off x="1026160" y="2136101"/>
            <a:ext cx="9977120" cy="2739211"/>
          </a:xfrm>
          <a:prstGeom prst="rect">
            <a:avLst/>
          </a:prstGeom>
          <a:noFill/>
        </p:spPr>
        <p:txBody>
          <a:bodyPr wrap="square">
            <a:spAutoFit/>
          </a:bodyPr>
          <a:lstStyle/>
          <a:p>
            <a:pPr algn="l">
              <a:buNone/>
            </a:pP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fontAlgn="base">
              <a:spcAft>
                <a:spcPts val="750"/>
              </a:spcAft>
              <a:buNone/>
            </a:pPr>
            <a:r>
              <a:rPr lang="en-US" sz="1600" b="0" i="0" dirty="0">
                <a:solidFill>
                  <a:srgbClr val="273239"/>
                </a:solidFill>
                <a:effectLst/>
                <a:latin typeface="Consolas" panose="020B0609020204030204" pitchFamily="49" charset="0"/>
              </a:rPr>
              <a:t>Father : </a:t>
            </a:r>
            <a:r>
              <a:rPr lang="en-US" sz="1600" dirty="0">
                <a:solidFill>
                  <a:srgbClr val="273239"/>
                </a:solidFill>
                <a:latin typeface="Consolas" panose="020B0609020204030204" pitchFamily="49" charset="0"/>
              </a:rPr>
              <a:t>Ahmed</a:t>
            </a:r>
            <a:endParaRPr lang="en-US" sz="1600" b="0" i="0" dirty="0">
              <a:solidFill>
                <a:srgbClr val="273239"/>
              </a:solidFill>
              <a:effectLst/>
              <a:latin typeface="Consolas" panose="020B0609020204030204" pitchFamily="49" charset="0"/>
            </a:endParaRPr>
          </a:p>
          <a:p>
            <a:pPr algn="l" fontAlgn="base">
              <a:spcAft>
                <a:spcPts val="750"/>
              </a:spcAft>
              <a:buNone/>
            </a:pPr>
            <a:r>
              <a:rPr lang="en-US" sz="1600" b="0" i="0" dirty="0">
                <a:solidFill>
                  <a:srgbClr val="273239"/>
                </a:solidFill>
                <a:effectLst/>
                <a:latin typeface="Consolas" panose="020B0609020204030204" pitchFamily="49" charset="0"/>
              </a:rPr>
              <a:t>Mother : </a:t>
            </a:r>
            <a:r>
              <a:rPr lang="en-US" sz="1600" dirty="0">
                <a:solidFill>
                  <a:srgbClr val="273239"/>
                </a:solidFill>
                <a:latin typeface="Consolas" panose="020B0609020204030204" pitchFamily="49" charset="0"/>
              </a:rPr>
              <a:t>Noreen</a:t>
            </a:r>
            <a:endParaRPr lang="en-US" sz="1600" b="0" i="0" dirty="0">
              <a:solidFill>
                <a:srgbClr val="273239"/>
              </a:solidFill>
              <a:effectLst/>
              <a:latin typeface="Consolas" panose="020B0609020204030204" pitchFamily="49" charset="0"/>
            </a:endParaRPr>
          </a:p>
          <a:p>
            <a:pPr algn="l" rtl="0" fontAlgn="base">
              <a:spcAft>
                <a:spcPts val="750"/>
              </a:spcAft>
              <a:buNone/>
            </a:pPr>
            <a:r>
              <a:rPr lang="en-US" b="1" i="0" dirty="0">
                <a:solidFill>
                  <a:srgbClr val="273239"/>
                </a:solidFill>
                <a:effectLst/>
                <a:latin typeface="Nunito" pitchFamily="2" charset="0"/>
              </a:rPr>
              <a:t>Explanation:</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Son inherits from both Mother and Father.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can access both </a:t>
            </a:r>
            <a:r>
              <a:rPr lang="en-US" b="0" i="0" dirty="0" err="1">
                <a:solidFill>
                  <a:srgbClr val="273239"/>
                </a:solidFill>
                <a:effectLst/>
                <a:latin typeface="Nunito" pitchFamily="2" charset="0"/>
              </a:rPr>
              <a:t>mothername</a:t>
            </a:r>
            <a:r>
              <a:rPr lang="en-US" b="0" i="0" dirty="0">
                <a:solidFill>
                  <a:srgbClr val="273239"/>
                </a:solidFill>
                <a:effectLst/>
                <a:latin typeface="Nunito" pitchFamily="2" charset="0"/>
              </a:rPr>
              <a:t> and </a:t>
            </a:r>
            <a:r>
              <a:rPr lang="en-US" b="0" i="0" dirty="0" err="1">
                <a:solidFill>
                  <a:srgbClr val="273239"/>
                </a:solidFill>
                <a:effectLst/>
                <a:latin typeface="Nunito" pitchFamily="2" charset="0"/>
              </a:rPr>
              <a:t>fathername</a:t>
            </a:r>
            <a:r>
              <a:rPr lang="en-US" b="0" i="0" dirty="0">
                <a:solidFill>
                  <a:srgbClr val="273239"/>
                </a:solidFill>
                <a:effectLst/>
                <a:latin typeface="Nunito" pitchFamily="2" charset="0"/>
              </a:rPr>
              <a: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This demonstrates how a class can combine functionalities from multiple sources.</a:t>
            </a:r>
          </a:p>
        </p:txBody>
      </p:sp>
    </p:spTree>
    <p:extLst>
      <p:ext uri="{BB962C8B-B14F-4D97-AF65-F5344CB8AC3E}">
        <p14:creationId xmlns:p14="http://schemas.microsoft.com/office/powerpoint/2010/main" val="3378584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77EDE-C3B2-73BC-0FFA-FA5E0D22E2C0}"/>
              </a:ext>
            </a:extLst>
          </p:cNvPr>
          <p:cNvSpPr>
            <a:spLocks noGrp="1"/>
          </p:cNvSpPr>
          <p:nvPr>
            <p:ph type="title"/>
          </p:nvPr>
        </p:nvSpPr>
        <p:spPr/>
        <p:txBody>
          <a:bodyPr/>
          <a:lstStyle/>
          <a:p>
            <a:r>
              <a:rPr lang="en-US" b="1" dirty="0"/>
              <a:t>Multilevel Inheritance</a:t>
            </a:r>
            <a:endParaRPr lang="en-US" dirty="0"/>
          </a:p>
        </p:txBody>
      </p:sp>
      <p:sp>
        <p:nvSpPr>
          <p:cNvPr id="3" name="Content Placeholder 2">
            <a:extLst>
              <a:ext uri="{FF2B5EF4-FFF2-40B4-BE49-F238E27FC236}">
                <a16:creationId xmlns:a16="http://schemas.microsoft.com/office/drawing/2014/main" id="{EB3A2452-B4E5-5603-D129-7A3BF7805B0F}"/>
              </a:ext>
            </a:extLst>
          </p:cNvPr>
          <p:cNvSpPr>
            <a:spLocks noGrp="1"/>
          </p:cNvSpPr>
          <p:nvPr>
            <p:ph idx="1"/>
          </p:nvPr>
        </p:nvSpPr>
        <p:spPr/>
        <p:txBody>
          <a:bodyPr/>
          <a:lstStyle/>
          <a:p>
            <a:r>
              <a:rPr lang="en-US" dirty="0"/>
              <a:t>In multilevel inheritance, features of the base class and the derived class are further inherited into the new derived class. This is similar to a relationship representing a child and a grandfather. </a:t>
            </a:r>
          </a:p>
        </p:txBody>
      </p:sp>
      <p:pic>
        <p:nvPicPr>
          <p:cNvPr id="4" name="Picture 3" descr="MultilevelInheritance">
            <a:extLst>
              <a:ext uri="{FF2B5EF4-FFF2-40B4-BE49-F238E27FC236}">
                <a16:creationId xmlns:a16="http://schemas.microsoft.com/office/drawing/2014/main" id="{FBF5ECF6-073F-E985-ABCB-3E43F89FE659}"/>
              </a:ext>
            </a:extLst>
          </p:cNvPr>
          <p:cNvPicPr>
            <a:picLocks noChangeAspect="1"/>
          </p:cNvPicPr>
          <p:nvPr/>
        </p:nvPicPr>
        <p:blipFill>
          <a:blip r:embed="rId2"/>
          <a:stretch>
            <a:fillRect/>
          </a:stretch>
        </p:blipFill>
        <p:spPr>
          <a:xfrm>
            <a:off x="4564380" y="2543624"/>
            <a:ext cx="2771140" cy="3763950"/>
          </a:xfrm>
          <a:prstGeom prst="rect">
            <a:avLst/>
          </a:prstGeom>
        </p:spPr>
      </p:pic>
    </p:spTree>
    <p:extLst>
      <p:ext uri="{BB962C8B-B14F-4D97-AF65-F5344CB8AC3E}">
        <p14:creationId xmlns:p14="http://schemas.microsoft.com/office/powerpoint/2010/main" val="1369969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D92F2-0D2B-850C-5DBE-F278FB548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5B196-AAD0-E4EF-6F9F-6651C01516E3}"/>
              </a:ext>
            </a:extLst>
          </p:cNvPr>
          <p:cNvSpPr>
            <a:spLocks noGrp="1"/>
          </p:cNvSpPr>
          <p:nvPr>
            <p:ph type="title"/>
          </p:nvPr>
        </p:nvSpPr>
        <p:spPr/>
        <p:txBody>
          <a:bodyPr/>
          <a:lstStyle/>
          <a:p>
            <a:r>
              <a:rPr lang="en-US" b="1" dirty="0"/>
              <a:t>Multilevel Inheritance</a:t>
            </a:r>
            <a:endParaRPr lang="en-US" dirty="0"/>
          </a:p>
        </p:txBody>
      </p:sp>
      <p:sp>
        <p:nvSpPr>
          <p:cNvPr id="8" name="TextBox 7">
            <a:extLst>
              <a:ext uri="{FF2B5EF4-FFF2-40B4-BE49-F238E27FC236}">
                <a16:creationId xmlns:a16="http://schemas.microsoft.com/office/drawing/2014/main" id="{62CBD2AA-ACE1-61BE-589C-6A2A67534F35}"/>
              </a:ext>
            </a:extLst>
          </p:cNvPr>
          <p:cNvSpPr txBox="1"/>
          <p:nvPr/>
        </p:nvSpPr>
        <p:spPr>
          <a:xfrm>
            <a:off x="883920" y="1859339"/>
            <a:ext cx="6096000" cy="3139321"/>
          </a:xfrm>
          <a:prstGeom prst="rect">
            <a:avLst/>
          </a:prstGeom>
          <a:noFill/>
        </p:spPr>
        <p:txBody>
          <a:bodyPr wrap="square">
            <a:spAutoFit/>
          </a:bodyPr>
          <a:lstStyle/>
          <a:p>
            <a:r>
              <a:rPr lang="en-US" dirty="0"/>
              <a:t># Base class</a:t>
            </a:r>
          </a:p>
          <a:p>
            <a:r>
              <a:rPr lang="en-US" dirty="0"/>
              <a:t>class Grandfather:</a:t>
            </a:r>
          </a:p>
          <a:p>
            <a:r>
              <a:rPr lang="en-US" dirty="0"/>
              <a:t>    def __</a:t>
            </a:r>
            <a:r>
              <a:rPr lang="en-US" dirty="0" err="1"/>
              <a:t>init</a:t>
            </a:r>
            <a:r>
              <a:rPr lang="en-US" dirty="0"/>
              <a:t>__(self, </a:t>
            </a:r>
            <a:r>
              <a:rPr lang="en-US" dirty="0" err="1"/>
              <a:t>grandfathername</a:t>
            </a:r>
            <a:r>
              <a:rPr lang="en-US" dirty="0"/>
              <a:t>):</a:t>
            </a:r>
          </a:p>
          <a:p>
            <a:r>
              <a:rPr lang="en-US" dirty="0"/>
              <a:t>        </a:t>
            </a:r>
            <a:r>
              <a:rPr lang="en-US" dirty="0" err="1"/>
              <a:t>self.grandfathername</a:t>
            </a:r>
            <a:r>
              <a:rPr lang="en-US" dirty="0"/>
              <a:t> = </a:t>
            </a:r>
            <a:r>
              <a:rPr lang="en-US" dirty="0" err="1"/>
              <a:t>grandfathername</a:t>
            </a:r>
            <a:endParaRPr lang="en-US" dirty="0"/>
          </a:p>
          <a:p>
            <a:endParaRPr lang="en-US" dirty="0"/>
          </a:p>
          <a:p>
            <a:r>
              <a:rPr lang="en-US" dirty="0"/>
              <a:t># Intermediate class</a:t>
            </a:r>
          </a:p>
          <a:p>
            <a:r>
              <a:rPr lang="en-US" dirty="0"/>
              <a:t>class Father(Grandfather):</a:t>
            </a:r>
          </a:p>
          <a:p>
            <a:r>
              <a:rPr lang="en-US" dirty="0"/>
              <a:t>    def __</a:t>
            </a:r>
            <a:r>
              <a:rPr lang="en-US" dirty="0" err="1"/>
              <a:t>init</a:t>
            </a:r>
            <a:r>
              <a:rPr lang="en-US" dirty="0"/>
              <a:t>__(self, </a:t>
            </a:r>
            <a:r>
              <a:rPr lang="en-US" dirty="0" err="1"/>
              <a:t>fathername</a:t>
            </a:r>
            <a:r>
              <a:rPr lang="en-US" dirty="0"/>
              <a:t>, </a:t>
            </a:r>
            <a:r>
              <a:rPr lang="en-US" dirty="0" err="1"/>
              <a:t>grandfathername</a:t>
            </a:r>
            <a:r>
              <a:rPr lang="en-US" dirty="0"/>
              <a:t>):</a:t>
            </a:r>
          </a:p>
          <a:p>
            <a:r>
              <a:rPr lang="en-US" dirty="0"/>
              <a:t>        </a:t>
            </a:r>
            <a:r>
              <a:rPr lang="en-US" dirty="0" err="1"/>
              <a:t>self.fathername</a:t>
            </a:r>
            <a:r>
              <a:rPr lang="en-US" dirty="0"/>
              <a:t> = </a:t>
            </a:r>
            <a:r>
              <a:rPr lang="en-US" dirty="0" err="1"/>
              <a:t>fathername</a:t>
            </a:r>
            <a:endParaRPr lang="en-US" dirty="0"/>
          </a:p>
          <a:p>
            <a:r>
              <a:rPr lang="en-US" dirty="0"/>
              <a:t>        # Call the constructor of Grandfather</a:t>
            </a:r>
          </a:p>
          <a:p>
            <a:r>
              <a:rPr lang="en-US" dirty="0"/>
              <a:t>        Grandfather.__</a:t>
            </a:r>
            <a:r>
              <a:rPr lang="en-US" dirty="0" err="1"/>
              <a:t>init</a:t>
            </a:r>
            <a:r>
              <a:rPr lang="en-US" dirty="0"/>
              <a:t>__(self, </a:t>
            </a:r>
            <a:r>
              <a:rPr lang="en-US" dirty="0" err="1"/>
              <a:t>grandfathername</a:t>
            </a:r>
            <a:r>
              <a:rPr lang="en-US" dirty="0"/>
              <a:t>)</a:t>
            </a:r>
          </a:p>
        </p:txBody>
      </p:sp>
      <p:sp>
        <p:nvSpPr>
          <p:cNvPr id="10" name="TextBox 9">
            <a:extLst>
              <a:ext uri="{FF2B5EF4-FFF2-40B4-BE49-F238E27FC236}">
                <a16:creationId xmlns:a16="http://schemas.microsoft.com/office/drawing/2014/main" id="{C25DDBB8-0146-9EBE-79A4-BE1D9B6E3EA9}"/>
              </a:ext>
            </a:extLst>
          </p:cNvPr>
          <p:cNvSpPr txBox="1"/>
          <p:nvPr/>
        </p:nvSpPr>
        <p:spPr>
          <a:xfrm>
            <a:off x="6258560" y="1737360"/>
            <a:ext cx="6096000" cy="4524315"/>
          </a:xfrm>
          <a:prstGeom prst="rect">
            <a:avLst/>
          </a:prstGeom>
          <a:noFill/>
        </p:spPr>
        <p:txBody>
          <a:bodyPr wrap="square">
            <a:spAutoFit/>
          </a:bodyPr>
          <a:lstStyle/>
          <a:p>
            <a:r>
              <a:rPr lang="en-US" dirty="0"/>
              <a:t># Derived class</a:t>
            </a:r>
          </a:p>
          <a:p>
            <a:r>
              <a:rPr lang="en-US" dirty="0"/>
              <a:t>class Son(Father):</a:t>
            </a:r>
          </a:p>
          <a:p>
            <a:r>
              <a:rPr lang="en-US" dirty="0"/>
              <a:t>    def __</a:t>
            </a:r>
            <a:r>
              <a:rPr lang="en-US" dirty="0" err="1"/>
              <a:t>init</a:t>
            </a:r>
            <a:r>
              <a:rPr lang="en-US" dirty="0"/>
              <a:t>__(self, </a:t>
            </a:r>
            <a:r>
              <a:rPr lang="en-US" dirty="0" err="1"/>
              <a:t>sonname</a:t>
            </a:r>
            <a:r>
              <a:rPr lang="en-US" dirty="0"/>
              <a:t>, </a:t>
            </a:r>
            <a:r>
              <a:rPr lang="en-US" dirty="0" err="1"/>
              <a:t>fathername</a:t>
            </a:r>
            <a:r>
              <a:rPr lang="en-US" dirty="0"/>
              <a:t>, </a:t>
            </a:r>
            <a:r>
              <a:rPr lang="en-US" dirty="0" err="1"/>
              <a:t>grandfathername</a:t>
            </a:r>
            <a:r>
              <a:rPr lang="en-US" dirty="0"/>
              <a:t>):</a:t>
            </a:r>
          </a:p>
          <a:p>
            <a:r>
              <a:rPr lang="en-US" dirty="0"/>
              <a:t>        </a:t>
            </a:r>
            <a:r>
              <a:rPr lang="en-US" dirty="0" err="1"/>
              <a:t>self.sonname</a:t>
            </a:r>
            <a:r>
              <a:rPr lang="en-US" dirty="0"/>
              <a:t> = </a:t>
            </a:r>
            <a:r>
              <a:rPr lang="en-US" dirty="0" err="1"/>
              <a:t>sonname</a:t>
            </a:r>
            <a:endParaRPr lang="en-US" dirty="0"/>
          </a:p>
          <a:p>
            <a:r>
              <a:rPr lang="en-US" dirty="0"/>
              <a:t>        # Call the constructor of Father</a:t>
            </a:r>
          </a:p>
          <a:p>
            <a:r>
              <a:rPr lang="en-US" dirty="0"/>
              <a:t>        Father.__</a:t>
            </a:r>
            <a:r>
              <a:rPr lang="en-US" dirty="0" err="1"/>
              <a:t>init</a:t>
            </a:r>
            <a:r>
              <a:rPr lang="en-US" dirty="0"/>
              <a:t>__(self, </a:t>
            </a:r>
            <a:r>
              <a:rPr lang="en-US" dirty="0" err="1"/>
              <a:t>fathername</a:t>
            </a:r>
            <a:r>
              <a:rPr lang="en-US" dirty="0"/>
              <a:t>, </a:t>
            </a:r>
            <a:r>
              <a:rPr lang="en-US" dirty="0" err="1"/>
              <a:t>grandfathername</a:t>
            </a:r>
            <a:r>
              <a:rPr lang="en-US" dirty="0"/>
              <a:t>)</a:t>
            </a:r>
          </a:p>
          <a:p>
            <a:endParaRPr lang="en-US" dirty="0"/>
          </a:p>
          <a:p>
            <a:r>
              <a:rPr lang="en-US" dirty="0"/>
              <a:t>    def </a:t>
            </a:r>
            <a:r>
              <a:rPr lang="en-US" dirty="0" err="1"/>
              <a:t>print_name</a:t>
            </a:r>
            <a:r>
              <a:rPr lang="en-US" dirty="0"/>
              <a:t>(self):</a:t>
            </a:r>
          </a:p>
          <a:p>
            <a:r>
              <a:rPr lang="en-US" dirty="0"/>
              <a:t>        print('Grandfather name :', </a:t>
            </a:r>
            <a:r>
              <a:rPr lang="en-US" dirty="0" err="1"/>
              <a:t>self.grandfathername</a:t>
            </a:r>
            <a:r>
              <a:rPr lang="en-US" dirty="0"/>
              <a:t>)</a:t>
            </a:r>
          </a:p>
          <a:p>
            <a:r>
              <a:rPr lang="en-US" dirty="0"/>
              <a:t>        print('Father name :', </a:t>
            </a:r>
            <a:r>
              <a:rPr lang="en-US" dirty="0" err="1"/>
              <a:t>self.fathername</a:t>
            </a:r>
            <a:r>
              <a:rPr lang="en-US" dirty="0"/>
              <a:t>)</a:t>
            </a:r>
          </a:p>
          <a:p>
            <a:r>
              <a:rPr lang="en-US" dirty="0"/>
              <a:t>        print('Son name :', </a:t>
            </a:r>
            <a:r>
              <a:rPr lang="en-US" dirty="0" err="1"/>
              <a:t>self.sonname</a:t>
            </a:r>
            <a:r>
              <a:rPr lang="en-US" dirty="0"/>
              <a:t>)</a:t>
            </a:r>
          </a:p>
          <a:p>
            <a:endParaRPr lang="en-US" dirty="0"/>
          </a:p>
          <a:p>
            <a:r>
              <a:rPr lang="en-US" dirty="0"/>
              <a:t># Driver code</a:t>
            </a:r>
          </a:p>
          <a:p>
            <a:r>
              <a:rPr lang="en-US" dirty="0"/>
              <a:t>s1 = Son(‘Ali', ‘Ahmed', ‘Farooq')</a:t>
            </a:r>
          </a:p>
          <a:p>
            <a:r>
              <a:rPr lang="en-US" dirty="0"/>
              <a:t>print(s1.grandfathername)</a:t>
            </a:r>
          </a:p>
          <a:p>
            <a:r>
              <a:rPr lang="en-US" dirty="0"/>
              <a:t>s1.print_name()</a:t>
            </a:r>
          </a:p>
        </p:txBody>
      </p:sp>
    </p:spTree>
    <p:extLst>
      <p:ext uri="{BB962C8B-B14F-4D97-AF65-F5344CB8AC3E}">
        <p14:creationId xmlns:p14="http://schemas.microsoft.com/office/powerpoint/2010/main" val="1469695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CB203-FF97-564A-A648-0356459D9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248E3-32B7-9C93-EFC3-73059E8A04A8}"/>
              </a:ext>
            </a:extLst>
          </p:cNvPr>
          <p:cNvSpPr>
            <a:spLocks noGrp="1"/>
          </p:cNvSpPr>
          <p:nvPr>
            <p:ph type="title"/>
          </p:nvPr>
        </p:nvSpPr>
        <p:spPr/>
        <p:txBody>
          <a:bodyPr/>
          <a:lstStyle/>
          <a:p>
            <a:r>
              <a:rPr lang="en-US" b="1" dirty="0"/>
              <a:t>Multilevel Inheritance</a:t>
            </a:r>
            <a:endParaRPr lang="en-US" dirty="0"/>
          </a:p>
        </p:txBody>
      </p:sp>
      <p:sp>
        <p:nvSpPr>
          <p:cNvPr id="4" name="TextBox 3">
            <a:extLst>
              <a:ext uri="{FF2B5EF4-FFF2-40B4-BE49-F238E27FC236}">
                <a16:creationId xmlns:a16="http://schemas.microsoft.com/office/drawing/2014/main" id="{2AD6C332-8CFB-6C9C-21FC-CA47BDC0A79E}"/>
              </a:ext>
            </a:extLst>
          </p:cNvPr>
          <p:cNvSpPr txBox="1"/>
          <p:nvPr/>
        </p:nvSpPr>
        <p:spPr>
          <a:xfrm>
            <a:off x="731520" y="2139553"/>
            <a:ext cx="9936480" cy="3088025"/>
          </a:xfrm>
          <a:prstGeom prst="rect">
            <a:avLst/>
          </a:prstGeom>
          <a:noFill/>
        </p:spPr>
        <p:txBody>
          <a:bodyPr wrap="square">
            <a:spAutoFit/>
          </a:bodyPr>
          <a:lstStyle/>
          <a:p>
            <a:pPr algn="l">
              <a:buNone/>
            </a:pPr>
            <a:r>
              <a:rPr lang="en-US" b="1" i="0" dirty="0">
                <a:solidFill>
                  <a:srgbClr val="273239"/>
                </a:solidFill>
                <a:effectLst/>
                <a:latin typeface="Nunito" pitchFamily="2" charset="0"/>
              </a:rPr>
              <a:t>Output</a:t>
            </a:r>
            <a:endParaRPr lang="en-US" sz="1600" b="0" i="0" dirty="0">
              <a:solidFill>
                <a:srgbClr val="273239"/>
              </a:solidFill>
              <a:effectLst/>
              <a:latin typeface="Consolas" panose="020B0609020204030204" pitchFamily="49" charset="0"/>
            </a:endParaRPr>
          </a:p>
          <a:p>
            <a:pPr algn="l" fontAlgn="base">
              <a:spcAft>
                <a:spcPts val="750"/>
              </a:spcAft>
              <a:buNone/>
            </a:pPr>
            <a:r>
              <a:rPr lang="en-US" sz="1600" b="0" i="0" dirty="0">
                <a:solidFill>
                  <a:srgbClr val="273239"/>
                </a:solidFill>
                <a:effectLst/>
                <a:latin typeface="Consolas" panose="020B0609020204030204" pitchFamily="49" charset="0"/>
              </a:rPr>
              <a:t>Grandfather name : </a:t>
            </a:r>
            <a:r>
              <a:rPr lang="en-US" sz="1600" dirty="0">
                <a:solidFill>
                  <a:srgbClr val="273239"/>
                </a:solidFill>
                <a:latin typeface="Consolas" panose="020B0609020204030204" pitchFamily="49" charset="0"/>
              </a:rPr>
              <a:t>Farooq</a:t>
            </a:r>
            <a:endParaRPr lang="en-US" sz="1600" b="0" i="0" dirty="0">
              <a:solidFill>
                <a:srgbClr val="273239"/>
              </a:solidFill>
              <a:effectLst/>
              <a:latin typeface="Consolas" panose="020B0609020204030204" pitchFamily="49" charset="0"/>
            </a:endParaRPr>
          </a:p>
          <a:p>
            <a:pPr algn="l" fontAlgn="base">
              <a:spcAft>
                <a:spcPts val="750"/>
              </a:spcAft>
              <a:buNone/>
            </a:pPr>
            <a:r>
              <a:rPr lang="en-US" sz="1600" b="0" i="0" dirty="0">
                <a:solidFill>
                  <a:srgbClr val="273239"/>
                </a:solidFill>
                <a:effectLst/>
                <a:latin typeface="Consolas" panose="020B0609020204030204" pitchFamily="49" charset="0"/>
              </a:rPr>
              <a:t>Father name : </a:t>
            </a:r>
            <a:r>
              <a:rPr lang="en-US" sz="1600" dirty="0">
                <a:solidFill>
                  <a:srgbClr val="273239"/>
                </a:solidFill>
                <a:latin typeface="Consolas" panose="020B0609020204030204" pitchFamily="49" charset="0"/>
              </a:rPr>
              <a:t>Ahmed</a:t>
            </a:r>
            <a:endParaRPr lang="en-US" sz="1600" b="0" i="0" dirty="0">
              <a:solidFill>
                <a:srgbClr val="273239"/>
              </a:solidFill>
              <a:effectLst/>
              <a:latin typeface="Consolas" panose="020B0609020204030204" pitchFamily="49" charset="0"/>
            </a:endParaRPr>
          </a:p>
          <a:p>
            <a:pPr algn="l" fontAlgn="base">
              <a:spcAft>
                <a:spcPts val="750"/>
              </a:spcAft>
              <a:buNone/>
            </a:pPr>
            <a:r>
              <a:rPr lang="en-US" sz="1600" b="0" i="0" dirty="0">
                <a:solidFill>
                  <a:srgbClr val="273239"/>
                </a:solidFill>
                <a:effectLst/>
                <a:latin typeface="Consolas" panose="020B0609020204030204" pitchFamily="49" charset="0"/>
              </a:rPr>
              <a:t>Son name : </a:t>
            </a:r>
            <a:r>
              <a:rPr lang="en-US" sz="1600" dirty="0">
                <a:solidFill>
                  <a:srgbClr val="273239"/>
                </a:solidFill>
                <a:latin typeface="Consolas" panose="020B0609020204030204" pitchFamily="49" charset="0"/>
              </a:rPr>
              <a:t>Ali</a:t>
            </a:r>
            <a:endParaRPr lang="en-US" sz="1600" b="0" i="0" dirty="0">
              <a:solidFill>
                <a:srgbClr val="273239"/>
              </a:solidFill>
              <a:effectLst/>
              <a:latin typeface="Consolas" panose="020B0609020204030204" pitchFamily="49" charset="0"/>
            </a:endParaRPr>
          </a:p>
          <a:p>
            <a:pPr algn="l" rtl="0" fontAlgn="base">
              <a:spcAft>
                <a:spcPts val="750"/>
              </a:spcAft>
              <a:buNone/>
            </a:pPr>
            <a:r>
              <a:rPr lang="en-US" b="1" i="0" dirty="0">
                <a:solidFill>
                  <a:srgbClr val="273239"/>
                </a:solidFill>
                <a:effectLst/>
                <a:latin typeface="Nunito" pitchFamily="2" charset="0"/>
              </a:rPr>
              <a:t>Explanation:</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Son inherits from Father, and Father inherits from Grandfather.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Each constructor passes values up the inheritance chain using explicit constructor calls.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All ancestor class attributes are accessible from the bottom-most class (Son).</a:t>
            </a:r>
          </a:p>
        </p:txBody>
      </p:sp>
    </p:spTree>
    <p:extLst>
      <p:ext uri="{BB962C8B-B14F-4D97-AF65-F5344CB8AC3E}">
        <p14:creationId xmlns:p14="http://schemas.microsoft.com/office/powerpoint/2010/main" val="3842282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EBC73-B53B-CD12-010C-A67D34E42768}"/>
              </a:ext>
            </a:extLst>
          </p:cNvPr>
          <p:cNvSpPr>
            <a:spLocks noGrp="1"/>
          </p:cNvSpPr>
          <p:nvPr>
            <p:ph type="title"/>
          </p:nvPr>
        </p:nvSpPr>
        <p:spPr/>
        <p:txBody>
          <a:bodyPr/>
          <a:lstStyle/>
          <a:p>
            <a:r>
              <a:rPr lang="en-US" b="1" dirty="0"/>
              <a:t>Hierarchical Inheritance</a:t>
            </a:r>
            <a:endParaRPr lang="en-US" dirty="0"/>
          </a:p>
        </p:txBody>
      </p:sp>
      <p:sp>
        <p:nvSpPr>
          <p:cNvPr id="3" name="Content Placeholder 2">
            <a:extLst>
              <a:ext uri="{FF2B5EF4-FFF2-40B4-BE49-F238E27FC236}">
                <a16:creationId xmlns:a16="http://schemas.microsoft.com/office/drawing/2014/main" id="{56F1B842-E021-C0DA-640D-53659B9187D3}"/>
              </a:ext>
            </a:extLst>
          </p:cNvPr>
          <p:cNvSpPr>
            <a:spLocks noGrp="1"/>
          </p:cNvSpPr>
          <p:nvPr>
            <p:ph idx="1"/>
          </p:nvPr>
        </p:nvSpPr>
        <p:spPr/>
        <p:txBody>
          <a:bodyPr/>
          <a:lstStyle/>
          <a:p>
            <a:r>
              <a:rPr lang="en-US" dirty="0"/>
              <a:t>When more than one derived class are created from a single base this type of inheritance is called hierarchical inheritance. In this program, we have a parent (base) class and two child (derived) classes.</a:t>
            </a:r>
          </a:p>
        </p:txBody>
      </p:sp>
      <p:pic>
        <p:nvPicPr>
          <p:cNvPr id="4" name="Picture 3" descr="HierarchicalInheritance">
            <a:extLst>
              <a:ext uri="{FF2B5EF4-FFF2-40B4-BE49-F238E27FC236}">
                <a16:creationId xmlns:a16="http://schemas.microsoft.com/office/drawing/2014/main" id="{FFB65B6E-F67A-DBB1-9F12-D1A1D294AD5A}"/>
              </a:ext>
            </a:extLst>
          </p:cNvPr>
          <p:cNvPicPr>
            <a:picLocks noChangeAspect="1"/>
          </p:cNvPicPr>
          <p:nvPr/>
        </p:nvPicPr>
        <p:blipFill>
          <a:blip r:embed="rId2"/>
          <a:stretch>
            <a:fillRect/>
          </a:stretch>
        </p:blipFill>
        <p:spPr>
          <a:xfrm>
            <a:off x="3953791" y="2531958"/>
            <a:ext cx="4284417" cy="3445510"/>
          </a:xfrm>
          <a:prstGeom prst="rect">
            <a:avLst/>
          </a:prstGeom>
        </p:spPr>
      </p:pic>
    </p:spTree>
    <p:extLst>
      <p:ext uri="{BB962C8B-B14F-4D97-AF65-F5344CB8AC3E}">
        <p14:creationId xmlns:p14="http://schemas.microsoft.com/office/powerpoint/2010/main" val="58767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5962E-4D68-8AD0-95AE-3FD2F7CC2270}"/>
              </a:ext>
            </a:extLst>
          </p:cNvPr>
          <p:cNvSpPr>
            <a:spLocks noGrp="1"/>
          </p:cNvSpPr>
          <p:nvPr>
            <p:ph type="title"/>
          </p:nvPr>
        </p:nvSpPr>
        <p:spPr/>
        <p:txBody>
          <a:bodyPr/>
          <a:lstStyle/>
          <a:p>
            <a:r>
              <a:rPr lang="en-US" b="1" dirty="0"/>
              <a:t>Hierarchical Inheritance</a:t>
            </a:r>
            <a:endParaRPr lang="en-US" dirty="0"/>
          </a:p>
        </p:txBody>
      </p:sp>
      <p:sp>
        <p:nvSpPr>
          <p:cNvPr id="5" name="TextBox 4">
            <a:extLst>
              <a:ext uri="{FF2B5EF4-FFF2-40B4-BE49-F238E27FC236}">
                <a16:creationId xmlns:a16="http://schemas.microsoft.com/office/drawing/2014/main" id="{438D93EC-AC14-BE68-8E91-6BF1973EE889}"/>
              </a:ext>
            </a:extLst>
          </p:cNvPr>
          <p:cNvSpPr txBox="1"/>
          <p:nvPr/>
        </p:nvSpPr>
        <p:spPr>
          <a:xfrm>
            <a:off x="904240" y="1853426"/>
            <a:ext cx="6096000" cy="3970318"/>
          </a:xfrm>
          <a:prstGeom prst="rect">
            <a:avLst/>
          </a:prstGeom>
          <a:noFill/>
        </p:spPr>
        <p:txBody>
          <a:bodyPr wrap="square">
            <a:spAutoFit/>
          </a:bodyPr>
          <a:lstStyle/>
          <a:p>
            <a:r>
              <a:rPr lang="en-US" dirty="0"/>
              <a:t># Base class</a:t>
            </a:r>
          </a:p>
          <a:p>
            <a:r>
              <a:rPr lang="en-US" dirty="0"/>
              <a:t>class Parent:</a:t>
            </a:r>
          </a:p>
          <a:p>
            <a:r>
              <a:rPr lang="en-US" dirty="0"/>
              <a:t>    def func1(self):</a:t>
            </a:r>
          </a:p>
          <a:p>
            <a:r>
              <a:rPr lang="en-US" dirty="0"/>
              <a:t>        print("This function is in parent class.")</a:t>
            </a:r>
          </a:p>
          <a:p>
            <a:endParaRPr lang="en-US" dirty="0"/>
          </a:p>
          <a:p>
            <a:r>
              <a:rPr lang="en-US" dirty="0"/>
              <a:t># Derived class 1</a:t>
            </a:r>
          </a:p>
          <a:p>
            <a:r>
              <a:rPr lang="en-US" dirty="0"/>
              <a:t>class Child1(Parent):</a:t>
            </a:r>
          </a:p>
          <a:p>
            <a:r>
              <a:rPr lang="en-US" dirty="0"/>
              <a:t>    def func2(self):</a:t>
            </a:r>
          </a:p>
          <a:p>
            <a:r>
              <a:rPr lang="en-US" dirty="0"/>
              <a:t>        print("This function is in child 1.")</a:t>
            </a:r>
          </a:p>
          <a:p>
            <a:endParaRPr lang="en-US" dirty="0"/>
          </a:p>
          <a:p>
            <a:r>
              <a:rPr lang="en-US" dirty="0"/>
              <a:t># Derived class 2</a:t>
            </a:r>
          </a:p>
          <a:p>
            <a:r>
              <a:rPr lang="en-US" dirty="0"/>
              <a:t>class Child2(Parent):</a:t>
            </a:r>
          </a:p>
          <a:p>
            <a:r>
              <a:rPr lang="en-US" dirty="0"/>
              <a:t>    def func3(self):</a:t>
            </a:r>
          </a:p>
          <a:p>
            <a:r>
              <a:rPr lang="en-US" dirty="0"/>
              <a:t>        print("This function is in child 2.")</a:t>
            </a:r>
          </a:p>
        </p:txBody>
      </p:sp>
      <p:sp>
        <p:nvSpPr>
          <p:cNvPr id="7" name="TextBox 6">
            <a:extLst>
              <a:ext uri="{FF2B5EF4-FFF2-40B4-BE49-F238E27FC236}">
                <a16:creationId xmlns:a16="http://schemas.microsoft.com/office/drawing/2014/main" id="{DF18EDA4-492E-AE34-5755-1F4AD70277CF}"/>
              </a:ext>
            </a:extLst>
          </p:cNvPr>
          <p:cNvSpPr txBox="1"/>
          <p:nvPr/>
        </p:nvSpPr>
        <p:spPr>
          <a:xfrm>
            <a:off x="5770880" y="1853426"/>
            <a:ext cx="6096000" cy="2308324"/>
          </a:xfrm>
          <a:prstGeom prst="rect">
            <a:avLst/>
          </a:prstGeom>
          <a:noFill/>
        </p:spPr>
        <p:txBody>
          <a:bodyPr wrap="square">
            <a:spAutoFit/>
          </a:bodyPr>
          <a:lstStyle/>
          <a:p>
            <a:r>
              <a:rPr lang="en-US" dirty="0"/>
              <a:t># Driver code</a:t>
            </a:r>
          </a:p>
          <a:p>
            <a:r>
              <a:rPr lang="en-US" dirty="0"/>
              <a:t>object1 = Child1()</a:t>
            </a:r>
          </a:p>
          <a:p>
            <a:r>
              <a:rPr lang="en-US" dirty="0"/>
              <a:t>object2 = Child2()</a:t>
            </a:r>
          </a:p>
          <a:p>
            <a:endParaRPr lang="en-US" dirty="0"/>
          </a:p>
          <a:p>
            <a:r>
              <a:rPr lang="en-US" dirty="0"/>
              <a:t>object1.func1()</a:t>
            </a:r>
          </a:p>
          <a:p>
            <a:r>
              <a:rPr lang="en-US" dirty="0"/>
              <a:t>object1.func2()</a:t>
            </a:r>
          </a:p>
          <a:p>
            <a:r>
              <a:rPr lang="en-US" dirty="0"/>
              <a:t>object2.func1()</a:t>
            </a:r>
          </a:p>
          <a:p>
            <a:r>
              <a:rPr lang="en-US" dirty="0"/>
              <a:t>object2.func3()</a:t>
            </a:r>
          </a:p>
        </p:txBody>
      </p:sp>
    </p:spTree>
    <p:extLst>
      <p:ext uri="{BB962C8B-B14F-4D97-AF65-F5344CB8AC3E}">
        <p14:creationId xmlns:p14="http://schemas.microsoft.com/office/powerpoint/2010/main" val="3622218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9A76-4C2C-0F6D-BA08-E5DD17FC7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23D80-274B-8B12-2965-750BE289F837}"/>
              </a:ext>
            </a:extLst>
          </p:cNvPr>
          <p:cNvSpPr>
            <a:spLocks noGrp="1"/>
          </p:cNvSpPr>
          <p:nvPr>
            <p:ph type="title"/>
          </p:nvPr>
        </p:nvSpPr>
        <p:spPr/>
        <p:txBody>
          <a:bodyPr/>
          <a:lstStyle/>
          <a:p>
            <a:r>
              <a:rPr lang="en-US" b="1" dirty="0"/>
              <a:t>Hierarchical Inheritance</a:t>
            </a:r>
            <a:endParaRPr lang="en-US" dirty="0"/>
          </a:p>
        </p:txBody>
      </p:sp>
      <p:sp>
        <p:nvSpPr>
          <p:cNvPr id="4" name="TextBox 3">
            <a:extLst>
              <a:ext uri="{FF2B5EF4-FFF2-40B4-BE49-F238E27FC236}">
                <a16:creationId xmlns:a16="http://schemas.microsoft.com/office/drawing/2014/main" id="{6893EA26-2C4B-BF00-4ED8-2354BB95BA3A}"/>
              </a:ext>
            </a:extLst>
          </p:cNvPr>
          <p:cNvSpPr txBox="1"/>
          <p:nvPr/>
        </p:nvSpPr>
        <p:spPr>
          <a:xfrm>
            <a:off x="904240" y="1987153"/>
            <a:ext cx="10749280" cy="3713837"/>
          </a:xfrm>
          <a:prstGeom prst="rect">
            <a:avLst/>
          </a:prstGeom>
          <a:noFill/>
        </p:spPr>
        <p:txBody>
          <a:bodyPr wrap="square">
            <a:spAutoFit/>
          </a:bodyPr>
          <a:lstStyle/>
          <a:p>
            <a:pPr algn="l">
              <a:buNone/>
            </a:pP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fontAlgn="base">
              <a:spcAft>
                <a:spcPts val="750"/>
              </a:spcAft>
              <a:buNone/>
            </a:pPr>
            <a:r>
              <a:rPr lang="en-US" sz="1600" b="0" i="0" dirty="0">
                <a:solidFill>
                  <a:srgbClr val="273239"/>
                </a:solidFill>
                <a:effectLst/>
                <a:latin typeface="Consolas" panose="020B0609020204030204" pitchFamily="49" charset="0"/>
              </a:rPr>
              <a:t>This function is in parent class.</a:t>
            </a:r>
          </a:p>
          <a:p>
            <a:pPr algn="l" fontAlgn="base">
              <a:spcAft>
                <a:spcPts val="750"/>
              </a:spcAft>
              <a:buNone/>
            </a:pPr>
            <a:r>
              <a:rPr lang="en-US" sz="1600" b="0" i="0" dirty="0">
                <a:solidFill>
                  <a:srgbClr val="273239"/>
                </a:solidFill>
                <a:effectLst/>
                <a:latin typeface="Consolas" panose="020B0609020204030204" pitchFamily="49" charset="0"/>
              </a:rPr>
              <a:t>This function is in child 1.</a:t>
            </a:r>
          </a:p>
          <a:p>
            <a:pPr algn="l" fontAlgn="base">
              <a:spcAft>
                <a:spcPts val="750"/>
              </a:spcAft>
              <a:buNone/>
            </a:pPr>
            <a:r>
              <a:rPr lang="en-US" sz="1600" b="0" i="0" dirty="0">
                <a:solidFill>
                  <a:srgbClr val="273239"/>
                </a:solidFill>
                <a:effectLst/>
                <a:latin typeface="Consolas" panose="020B0609020204030204" pitchFamily="49" charset="0"/>
              </a:rPr>
              <a:t>This function is in parent class.</a:t>
            </a:r>
          </a:p>
          <a:p>
            <a:pPr algn="l" fontAlgn="base">
              <a:spcAft>
                <a:spcPts val="750"/>
              </a:spcAft>
              <a:buNone/>
            </a:pPr>
            <a:r>
              <a:rPr lang="en-US" sz="1600" b="0" i="0" dirty="0">
                <a:solidFill>
                  <a:srgbClr val="273239"/>
                </a:solidFill>
                <a:effectLst/>
                <a:latin typeface="Consolas" panose="020B0609020204030204" pitchFamily="49" charset="0"/>
              </a:rPr>
              <a:t>This function is in child 2.</a:t>
            </a:r>
          </a:p>
          <a:p>
            <a:pPr algn="l" rtl="0" fontAlgn="base">
              <a:spcAft>
                <a:spcPts val="750"/>
              </a:spcAft>
              <a:buNone/>
            </a:pPr>
            <a:r>
              <a:rPr lang="en-US" b="1" i="0" dirty="0">
                <a:solidFill>
                  <a:srgbClr val="273239"/>
                </a:solidFill>
                <a:effectLst/>
                <a:latin typeface="Nunito" pitchFamily="2" charset="0"/>
              </a:rPr>
              <a:t>Explanation:</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Both Child1 and Child2 inherit from the same Parent class.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Each child can access the func1() method of Parent, but also has its own specific method.</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This pattern is useful when multiple classes need the same base functionality but also have unique behaviors.</a:t>
            </a:r>
          </a:p>
        </p:txBody>
      </p:sp>
    </p:spTree>
    <p:extLst>
      <p:ext uri="{BB962C8B-B14F-4D97-AF65-F5344CB8AC3E}">
        <p14:creationId xmlns:p14="http://schemas.microsoft.com/office/powerpoint/2010/main" val="3244378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3F4E1-47D8-F12B-8AA9-24321529230D}"/>
              </a:ext>
            </a:extLst>
          </p:cNvPr>
          <p:cNvSpPr>
            <a:spLocks noGrp="1"/>
          </p:cNvSpPr>
          <p:nvPr>
            <p:ph type="title"/>
          </p:nvPr>
        </p:nvSpPr>
        <p:spPr/>
        <p:txBody>
          <a:bodyPr/>
          <a:lstStyle/>
          <a:p>
            <a:r>
              <a:rPr lang="en-US" b="1" dirty="0"/>
              <a:t>Hybrid Inheritance</a:t>
            </a:r>
            <a:endParaRPr lang="en-US" dirty="0"/>
          </a:p>
        </p:txBody>
      </p:sp>
      <p:sp>
        <p:nvSpPr>
          <p:cNvPr id="3" name="Content Placeholder 2">
            <a:extLst>
              <a:ext uri="{FF2B5EF4-FFF2-40B4-BE49-F238E27FC236}">
                <a16:creationId xmlns:a16="http://schemas.microsoft.com/office/drawing/2014/main" id="{EE55B4FF-4120-B84E-6373-C5FF2E903869}"/>
              </a:ext>
            </a:extLst>
          </p:cNvPr>
          <p:cNvSpPr>
            <a:spLocks noGrp="1"/>
          </p:cNvSpPr>
          <p:nvPr>
            <p:ph idx="1"/>
          </p:nvPr>
        </p:nvSpPr>
        <p:spPr/>
        <p:txBody>
          <a:bodyPr/>
          <a:lstStyle/>
          <a:p>
            <a:r>
              <a:rPr lang="en-US" dirty="0"/>
              <a:t>Hybrid inheritance is a combination of more than one type of inheritance. It uses a mix like single, multiple, or multilevel inheritance within the same program. Python's method resolution order (MRO) handles such cases.</a:t>
            </a:r>
          </a:p>
        </p:txBody>
      </p:sp>
      <p:pic>
        <p:nvPicPr>
          <p:cNvPr id="4" name="Picture 3" descr="HybridInheritance">
            <a:extLst>
              <a:ext uri="{FF2B5EF4-FFF2-40B4-BE49-F238E27FC236}">
                <a16:creationId xmlns:a16="http://schemas.microsoft.com/office/drawing/2014/main" id="{666A6A98-1C3C-0910-73F4-88F26CC36FA9}"/>
              </a:ext>
            </a:extLst>
          </p:cNvPr>
          <p:cNvPicPr>
            <a:picLocks noChangeAspect="1"/>
          </p:cNvPicPr>
          <p:nvPr/>
        </p:nvPicPr>
        <p:blipFill>
          <a:blip r:embed="rId2"/>
          <a:stretch>
            <a:fillRect/>
          </a:stretch>
        </p:blipFill>
        <p:spPr>
          <a:xfrm>
            <a:off x="3515360" y="3002280"/>
            <a:ext cx="5733628" cy="2866814"/>
          </a:xfrm>
          <a:prstGeom prst="rect">
            <a:avLst/>
          </a:prstGeom>
        </p:spPr>
      </p:pic>
    </p:spTree>
    <p:extLst>
      <p:ext uri="{BB962C8B-B14F-4D97-AF65-F5344CB8AC3E}">
        <p14:creationId xmlns:p14="http://schemas.microsoft.com/office/powerpoint/2010/main" val="644542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06B4-7B66-10D6-7822-272ED9E92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D531B-AF04-5FAA-F81D-6D396C2B2BA5}"/>
              </a:ext>
            </a:extLst>
          </p:cNvPr>
          <p:cNvSpPr>
            <a:spLocks noGrp="1"/>
          </p:cNvSpPr>
          <p:nvPr>
            <p:ph type="title"/>
          </p:nvPr>
        </p:nvSpPr>
        <p:spPr/>
        <p:txBody>
          <a:bodyPr/>
          <a:lstStyle/>
          <a:p>
            <a:r>
              <a:rPr lang="en-US" b="1" dirty="0"/>
              <a:t>Hybrid Inheritance</a:t>
            </a:r>
            <a:endParaRPr lang="en-US" dirty="0"/>
          </a:p>
        </p:txBody>
      </p:sp>
      <p:sp>
        <p:nvSpPr>
          <p:cNvPr id="10" name="TextBox 9">
            <a:extLst>
              <a:ext uri="{FF2B5EF4-FFF2-40B4-BE49-F238E27FC236}">
                <a16:creationId xmlns:a16="http://schemas.microsoft.com/office/drawing/2014/main" id="{4EA94B19-D6B4-AE2D-C27B-5757132DC37F}"/>
              </a:ext>
            </a:extLst>
          </p:cNvPr>
          <p:cNvSpPr txBox="1"/>
          <p:nvPr/>
        </p:nvSpPr>
        <p:spPr>
          <a:xfrm>
            <a:off x="822960" y="1999407"/>
            <a:ext cx="6096000" cy="2585323"/>
          </a:xfrm>
          <a:prstGeom prst="rect">
            <a:avLst/>
          </a:prstGeom>
          <a:noFill/>
        </p:spPr>
        <p:txBody>
          <a:bodyPr wrap="square">
            <a:spAutoFit/>
          </a:bodyPr>
          <a:lstStyle/>
          <a:p>
            <a:r>
              <a:rPr lang="en-US" dirty="0"/>
              <a:t># Base class</a:t>
            </a:r>
          </a:p>
          <a:p>
            <a:r>
              <a:rPr lang="en-US" dirty="0"/>
              <a:t>class School:</a:t>
            </a:r>
          </a:p>
          <a:p>
            <a:r>
              <a:rPr lang="en-US" dirty="0"/>
              <a:t>    def func1(self):</a:t>
            </a:r>
          </a:p>
          <a:p>
            <a:r>
              <a:rPr lang="en-US" dirty="0"/>
              <a:t>        print("This function is in school.")</a:t>
            </a:r>
          </a:p>
          <a:p>
            <a:endParaRPr lang="en-US" dirty="0"/>
          </a:p>
          <a:p>
            <a:r>
              <a:rPr lang="en-US" dirty="0"/>
              <a:t># Derived class 1 (Single Inheritance)</a:t>
            </a:r>
          </a:p>
          <a:p>
            <a:r>
              <a:rPr lang="en-US" dirty="0"/>
              <a:t>class Student1(School):</a:t>
            </a:r>
          </a:p>
          <a:p>
            <a:r>
              <a:rPr lang="en-US" dirty="0"/>
              <a:t>    def func2(self):</a:t>
            </a:r>
          </a:p>
          <a:p>
            <a:r>
              <a:rPr lang="en-US" dirty="0"/>
              <a:t>        print("This function is in student 1.")</a:t>
            </a:r>
          </a:p>
        </p:txBody>
      </p:sp>
      <p:sp>
        <p:nvSpPr>
          <p:cNvPr id="12" name="TextBox 11">
            <a:extLst>
              <a:ext uri="{FF2B5EF4-FFF2-40B4-BE49-F238E27FC236}">
                <a16:creationId xmlns:a16="http://schemas.microsoft.com/office/drawing/2014/main" id="{258FDA3F-38D1-75F5-7E07-57739FFC7890}"/>
              </a:ext>
            </a:extLst>
          </p:cNvPr>
          <p:cNvSpPr txBox="1"/>
          <p:nvPr/>
        </p:nvSpPr>
        <p:spPr>
          <a:xfrm>
            <a:off x="6004560" y="1901041"/>
            <a:ext cx="6096000" cy="3970318"/>
          </a:xfrm>
          <a:prstGeom prst="rect">
            <a:avLst/>
          </a:prstGeom>
          <a:noFill/>
        </p:spPr>
        <p:txBody>
          <a:bodyPr wrap="square">
            <a:spAutoFit/>
          </a:bodyPr>
          <a:lstStyle/>
          <a:p>
            <a:r>
              <a:rPr lang="en-US" dirty="0"/>
              <a:t># Derived class 2 (Another Single Inheritance)</a:t>
            </a:r>
          </a:p>
          <a:p>
            <a:r>
              <a:rPr lang="en-US" dirty="0"/>
              <a:t>class Student2(School):</a:t>
            </a:r>
          </a:p>
          <a:p>
            <a:r>
              <a:rPr lang="en-US" dirty="0"/>
              <a:t>    def func3(self):</a:t>
            </a:r>
          </a:p>
          <a:p>
            <a:r>
              <a:rPr lang="en-US" dirty="0"/>
              <a:t>        print("This function is in student 2.")</a:t>
            </a:r>
          </a:p>
          <a:p>
            <a:endParaRPr lang="en-US" dirty="0"/>
          </a:p>
          <a:p>
            <a:r>
              <a:rPr lang="en-US" dirty="0"/>
              <a:t># Derived class 3 (Multiple Inheritance)</a:t>
            </a:r>
          </a:p>
          <a:p>
            <a:r>
              <a:rPr lang="en-US" dirty="0"/>
              <a:t>class Student3(Student1, School):</a:t>
            </a:r>
          </a:p>
          <a:p>
            <a:r>
              <a:rPr lang="en-US" dirty="0"/>
              <a:t>    def func4(self):</a:t>
            </a:r>
          </a:p>
          <a:p>
            <a:r>
              <a:rPr lang="en-US" dirty="0"/>
              <a:t>        print("This function is in student 3.")</a:t>
            </a:r>
          </a:p>
          <a:p>
            <a:endParaRPr lang="en-US" dirty="0"/>
          </a:p>
          <a:p>
            <a:r>
              <a:rPr lang="en-US" dirty="0"/>
              <a:t># Driver code</a:t>
            </a:r>
          </a:p>
          <a:p>
            <a:r>
              <a:rPr lang="en-US" dirty="0"/>
              <a:t>obj = Student3()</a:t>
            </a:r>
          </a:p>
          <a:p>
            <a:r>
              <a:rPr lang="en-US" dirty="0"/>
              <a:t>obj.func1()</a:t>
            </a:r>
          </a:p>
          <a:p>
            <a:r>
              <a:rPr lang="en-US" dirty="0"/>
              <a:t>obj.func2()</a:t>
            </a:r>
          </a:p>
        </p:txBody>
      </p:sp>
    </p:spTree>
    <p:extLst>
      <p:ext uri="{BB962C8B-B14F-4D97-AF65-F5344CB8AC3E}">
        <p14:creationId xmlns:p14="http://schemas.microsoft.com/office/powerpoint/2010/main" val="568252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0968E-9129-8D36-262D-CE0E00832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71B14-5C28-E3AA-1AC3-B50CADBD38A5}"/>
              </a:ext>
            </a:extLst>
          </p:cNvPr>
          <p:cNvSpPr>
            <a:spLocks noGrp="1"/>
          </p:cNvSpPr>
          <p:nvPr>
            <p:ph type="title"/>
          </p:nvPr>
        </p:nvSpPr>
        <p:spPr/>
        <p:txBody>
          <a:bodyPr/>
          <a:lstStyle/>
          <a:p>
            <a:r>
              <a:rPr lang="en-US" b="1" dirty="0"/>
              <a:t>Hybrid Inheritance</a:t>
            </a:r>
            <a:endParaRPr lang="en-US" dirty="0"/>
          </a:p>
        </p:txBody>
      </p:sp>
      <p:sp>
        <p:nvSpPr>
          <p:cNvPr id="4" name="TextBox 3">
            <a:extLst>
              <a:ext uri="{FF2B5EF4-FFF2-40B4-BE49-F238E27FC236}">
                <a16:creationId xmlns:a16="http://schemas.microsoft.com/office/drawing/2014/main" id="{ACEA342F-002F-1FBC-4F0B-03FA3A480E6E}"/>
              </a:ext>
            </a:extLst>
          </p:cNvPr>
          <p:cNvSpPr txBox="1"/>
          <p:nvPr/>
        </p:nvSpPr>
        <p:spPr>
          <a:xfrm>
            <a:off x="406400" y="2024589"/>
            <a:ext cx="11592560" cy="3965188"/>
          </a:xfrm>
          <a:prstGeom prst="rect">
            <a:avLst/>
          </a:prstGeom>
          <a:noFill/>
        </p:spPr>
        <p:txBody>
          <a:bodyPr wrap="square">
            <a:spAutoFit/>
          </a:bodyPr>
          <a:lstStyle/>
          <a:p>
            <a:pPr algn="l">
              <a:spcBef>
                <a:spcPts val="750"/>
              </a:spcBef>
              <a:buNone/>
            </a:pP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fontAlgn="base">
              <a:spcBef>
                <a:spcPts val="750"/>
              </a:spcBef>
              <a:spcAft>
                <a:spcPts val="750"/>
              </a:spcAft>
              <a:buNone/>
            </a:pPr>
            <a:r>
              <a:rPr lang="en-US" sz="1600" b="0" i="0" dirty="0">
                <a:solidFill>
                  <a:srgbClr val="273239"/>
                </a:solidFill>
                <a:effectLst/>
                <a:latin typeface="Consolas" panose="020B0609020204030204" pitchFamily="49" charset="0"/>
              </a:rPr>
              <a:t>This function is in school.</a:t>
            </a:r>
          </a:p>
          <a:p>
            <a:pPr algn="l" fontAlgn="base">
              <a:spcBef>
                <a:spcPts val="750"/>
              </a:spcBef>
              <a:spcAft>
                <a:spcPts val="750"/>
              </a:spcAft>
              <a:buNone/>
            </a:pPr>
            <a:r>
              <a:rPr lang="en-US" sz="1600" b="0" i="0" dirty="0">
                <a:solidFill>
                  <a:srgbClr val="273239"/>
                </a:solidFill>
                <a:effectLst/>
                <a:latin typeface="Consolas" panose="020B0609020204030204" pitchFamily="49" charset="0"/>
              </a:rPr>
              <a:t>This function is in student 1.</a:t>
            </a:r>
          </a:p>
          <a:p>
            <a:pPr algn="l" rtl="0" fontAlgn="base">
              <a:spcBef>
                <a:spcPts val="750"/>
              </a:spcBef>
              <a:spcAft>
                <a:spcPts val="750"/>
              </a:spcAft>
              <a:buNone/>
            </a:pPr>
            <a:r>
              <a:rPr lang="en-US" b="1" i="0" dirty="0">
                <a:solidFill>
                  <a:srgbClr val="273239"/>
                </a:solidFill>
                <a:effectLst/>
                <a:latin typeface="Nunito" pitchFamily="2" charset="0"/>
              </a:rPr>
              <a:t>Explanation:</a:t>
            </a:r>
            <a:endParaRPr lang="en-US" b="0" i="0" dirty="0">
              <a:solidFill>
                <a:srgbClr val="273239"/>
              </a:solidFill>
              <a:effectLst/>
              <a:latin typeface="Nunito" pitchFamily="2" charset="0"/>
            </a:endParaRPr>
          </a:p>
          <a:p>
            <a:pPr algn="l" fontAlgn="base">
              <a:spcBef>
                <a:spcPts val="750"/>
              </a:spcBef>
              <a:spcAft>
                <a:spcPts val="1800"/>
              </a:spcAft>
              <a:buFont typeface="Arial" panose="020B0604020202020204" pitchFamily="34" charset="0"/>
              <a:buChar char="•"/>
            </a:pPr>
            <a:r>
              <a:rPr lang="en-US" b="0" i="0" dirty="0">
                <a:solidFill>
                  <a:srgbClr val="273239"/>
                </a:solidFill>
                <a:effectLst/>
                <a:latin typeface="Nunito" pitchFamily="2" charset="0"/>
              </a:rPr>
              <a:t>School is the base class inherited by Student1, Student2, and Student3.</a:t>
            </a:r>
          </a:p>
          <a:p>
            <a:pPr algn="l" fontAlgn="base">
              <a:spcBef>
                <a:spcPts val="750"/>
              </a:spcBef>
              <a:spcAft>
                <a:spcPts val="1800"/>
              </a:spcAft>
              <a:buFont typeface="Arial" panose="020B0604020202020204" pitchFamily="34" charset="0"/>
              <a:buChar char="•"/>
            </a:pPr>
            <a:r>
              <a:rPr lang="en-US" b="0" i="0" dirty="0">
                <a:solidFill>
                  <a:srgbClr val="273239"/>
                </a:solidFill>
                <a:effectLst/>
                <a:latin typeface="Nunito" pitchFamily="2" charset="0"/>
              </a:rPr>
              <a:t>Student1 and Student2 each inherit School (single inheritance).</a:t>
            </a:r>
          </a:p>
          <a:p>
            <a:pPr algn="l" fontAlgn="base">
              <a:spcBef>
                <a:spcPts val="750"/>
              </a:spcBef>
              <a:spcAft>
                <a:spcPts val="1800"/>
              </a:spcAft>
              <a:buFont typeface="Arial" panose="020B0604020202020204" pitchFamily="34" charset="0"/>
              <a:buChar char="•"/>
            </a:pPr>
            <a:r>
              <a:rPr lang="en-US" b="0" i="0" dirty="0">
                <a:solidFill>
                  <a:srgbClr val="273239"/>
                </a:solidFill>
                <a:effectLst/>
                <a:latin typeface="Nunito" pitchFamily="2" charset="0"/>
              </a:rPr>
              <a:t>Student3 inherits both from Student1 and School (multiple inheritance).</a:t>
            </a:r>
          </a:p>
          <a:p>
            <a:pPr algn="l" fontAlgn="base">
              <a:spcBef>
                <a:spcPts val="750"/>
              </a:spcBef>
              <a:spcAft>
                <a:spcPts val="1800"/>
              </a:spcAft>
              <a:buFont typeface="Arial" panose="020B0604020202020204" pitchFamily="34" charset="0"/>
              <a:buChar char="•"/>
            </a:pPr>
            <a:r>
              <a:rPr lang="en-US" b="0" i="0" dirty="0">
                <a:solidFill>
                  <a:srgbClr val="273239"/>
                </a:solidFill>
                <a:effectLst/>
                <a:latin typeface="Nunito" pitchFamily="2" charset="0"/>
              </a:rPr>
              <a:t>Python handles method resolution using the MRO, so func1() from School is resolved without ambiguity.</a:t>
            </a:r>
          </a:p>
        </p:txBody>
      </p:sp>
    </p:spTree>
    <p:extLst>
      <p:ext uri="{BB962C8B-B14F-4D97-AF65-F5344CB8AC3E}">
        <p14:creationId xmlns:p14="http://schemas.microsoft.com/office/powerpoint/2010/main" val="3432682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F01FC-8864-AC2D-833A-8556F46B0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79C94-7847-C0C3-55FE-29BD96ED3C99}"/>
              </a:ext>
            </a:extLst>
          </p:cNvPr>
          <p:cNvSpPr>
            <a:spLocks noGrp="1"/>
          </p:cNvSpPr>
          <p:nvPr>
            <p:ph type="title"/>
          </p:nvPr>
        </p:nvSpPr>
        <p:spPr/>
        <p:txBody>
          <a:bodyPr/>
          <a:lstStyle/>
          <a:p>
            <a:r>
              <a:rPr lang="en-US" dirty="0"/>
              <a:t>Tasks</a:t>
            </a:r>
          </a:p>
        </p:txBody>
      </p:sp>
      <p:sp>
        <p:nvSpPr>
          <p:cNvPr id="5" name="TextBox 4">
            <a:extLst>
              <a:ext uri="{FF2B5EF4-FFF2-40B4-BE49-F238E27FC236}">
                <a16:creationId xmlns:a16="http://schemas.microsoft.com/office/drawing/2014/main" id="{1828E4B4-43B1-D5E6-1C72-E22BF3E6C845}"/>
              </a:ext>
            </a:extLst>
          </p:cNvPr>
          <p:cNvSpPr txBox="1"/>
          <p:nvPr/>
        </p:nvSpPr>
        <p:spPr>
          <a:xfrm>
            <a:off x="447040" y="1737360"/>
            <a:ext cx="6096000" cy="3416320"/>
          </a:xfrm>
          <a:prstGeom prst="rect">
            <a:avLst/>
          </a:prstGeom>
          <a:noFill/>
        </p:spPr>
        <p:txBody>
          <a:bodyPr wrap="square">
            <a:spAutoFit/>
          </a:bodyPr>
          <a:lstStyle/>
          <a:p>
            <a:pPr>
              <a:buNone/>
            </a:pPr>
            <a:r>
              <a:rPr lang="en-US" b="1" dirty="0"/>
              <a:t>1. Scenario-Based Tasks</a:t>
            </a:r>
          </a:p>
          <a:p>
            <a:pPr>
              <a:buNone/>
            </a:pPr>
            <a:r>
              <a:rPr lang="en-US" b="1" dirty="0"/>
              <a:t>Task 1: School Management System</a:t>
            </a:r>
          </a:p>
          <a:p>
            <a:pPr>
              <a:buNone/>
            </a:pPr>
            <a:r>
              <a:rPr lang="en-US" dirty="0"/>
              <a:t>A school system has a base class </a:t>
            </a:r>
            <a:r>
              <a:rPr lang="en-US" b="1" dirty="0"/>
              <a:t>Person</a:t>
            </a:r>
            <a:r>
              <a:rPr lang="en-US" dirty="0"/>
              <a:t> with attributes </a:t>
            </a:r>
            <a:r>
              <a:rPr lang="en-US" dirty="0">
                <a:latin typeface="Courier New" panose="02070309020205020404" pitchFamily="49" charset="0"/>
              </a:rPr>
              <a:t>name</a:t>
            </a:r>
            <a:r>
              <a:rPr lang="en-US" dirty="0"/>
              <a:t> and </a:t>
            </a:r>
            <a:r>
              <a:rPr lang="en-US" dirty="0">
                <a:latin typeface="Courier New" panose="02070309020205020404" pitchFamily="49" charset="0"/>
              </a:rPr>
              <a:t>age</a:t>
            </a:r>
            <a:r>
              <a:rPr lang="en-US" dirty="0"/>
              <a:t>.</a:t>
            </a:r>
            <a:br>
              <a:rPr lang="en-US" dirty="0"/>
            </a:br>
            <a:r>
              <a:rPr lang="en-US" dirty="0"/>
              <a:t>Two classes </a:t>
            </a:r>
            <a:r>
              <a:rPr lang="en-US" b="1" dirty="0"/>
              <a:t>Teacher</a:t>
            </a:r>
            <a:r>
              <a:rPr lang="en-US" dirty="0"/>
              <a:t> and </a:t>
            </a:r>
            <a:r>
              <a:rPr lang="en-US" b="1" dirty="0"/>
              <a:t>Student</a:t>
            </a:r>
            <a:r>
              <a:rPr lang="en-US" dirty="0"/>
              <a:t> inherit from it.</a:t>
            </a:r>
          </a:p>
          <a:p>
            <a:pPr>
              <a:buNone/>
            </a:pPr>
            <a:r>
              <a:rPr lang="en-US" b="1" dirty="0"/>
              <a:t>Tasks:</a:t>
            </a:r>
            <a:endParaRPr lang="en-US" dirty="0"/>
          </a:p>
          <a:p>
            <a:pPr>
              <a:buFont typeface="Arial" panose="020B0604020202020204" pitchFamily="34" charset="0"/>
              <a:buChar char="•"/>
            </a:pPr>
            <a:r>
              <a:rPr lang="en-US" dirty="0"/>
              <a:t>Create a base class </a:t>
            </a:r>
            <a:r>
              <a:rPr lang="en-US" dirty="0">
                <a:latin typeface="Courier New" panose="02070309020205020404" pitchFamily="49" charset="0"/>
              </a:rPr>
              <a:t>Person</a:t>
            </a:r>
            <a:r>
              <a:rPr lang="en-US" dirty="0"/>
              <a:t> </a:t>
            </a:r>
          </a:p>
          <a:p>
            <a:pPr>
              <a:buFont typeface="Arial" panose="020B0604020202020204" pitchFamily="34" charset="0"/>
              <a:buChar char="•"/>
            </a:pPr>
            <a:r>
              <a:rPr lang="en-US" dirty="0"/>
              <a:t>Create child classes </a:t>
            </a:r>
            <a:r>
              <a:rPr lang="en-US" dirty="0">
                <a:latin typeface="Courier New" panose="02070309020205020404" pitchFamily="49" charset="0"/>
              </a:rPr>
              <a:t>Teacher</a:t>
            </a:r>
            <a:r>
              <a:rPr lang="en-US" dirty="0"/>
              <a:t> and </a:t>
            </a:r>
            <a:r>
              <a:rPr lang="en-US" dirty="0">
                <a:latin typeface="Courier New" panose="02070309020205020404" pitchFamily="49" charset="0"/>
              </a:rPr>
              <a:t>Student</a:t>
            </a:r>
            <a:r>
              <a:rPr lang="en-US" dirty="0"/>
              <a:t> </a:t>
            </a:r>
          </a:p>
          <a:p>
            <a:pPr>
              <a:buFont typeface="Arial" panose="020B0604020202020204" pitchFamily="34" charset="0"/>
              <a:buChar char="•"/>
            </a:pPr>
            <a:r>
              <a:rPr lang="en-US" dirty="0"/>
              <a:t>Add: </a:t>
            </a:r>
          </a:p>
          <a:p>
            <a:pPr marL="742950" lvl="1" indent="-285750">
              <a:buFont typeface="Arial" panose="020B0604020202020204" pitchFamily="34" charset="0"/>
              <a:buChar char="•"/>
            </a:pPr>
            <a:r>
              <a:rPr lang="en-US" dirty="0"/>
              <a:t>Teacher → subject </a:t>
            </a:r>
          </a:p>
          <a:p>
            <a:pPr marL="742950" lvl="1" indent="-285750">
              <a:buFont typeface="Arial" panose="020B0604020202020204" pitchFamily="34" charset="0"/>
              <a:buChar char="•"/>
            </a:pPr>
            <a:r>
              <a:rPr lang="en-US" dirty="0"/>
              <a:t>Student → grade </a:t>
            </a:r>
          </a:p>
          <a:p>
            <a:pPr>
              <a:buFont typeface="Arial" panose="020B0604020202020204" pitchFamily="34" charset="0"/>
              <a:buChar char="•"/>
            </a:pPr>
            <a:r>
              <a:rPr lang="en-US" dirty="0"/>
              <a:t>Display full details of both </a:t>
            </a:r>
          </a:p>
        </p:txBody>
      </p:sp>
      <p:sp>
        <p:nvSpPr>
          <p:cNvPr id="7" name="TextBox 6">
            <a:extLst>
              <a:ext uri="{FF2B5EF4-FFF2-40B4-BE49-F238E27FC236}">
                <a16:creationId xmlns:a16="http://schemas.microsoft.com/office/drawing/2014/main" id="{EB5AA46F-BCBD-BA09-9568-85AEF5B9107F}"/>
              </a:ext>
            </a:extLst>
          </p:cNvPr>
          <p:cNvSpPr txBox="1"/>
          <p:nvPr/>
        </p:nvSpPr>
        <p:spPr>
          <a:xfrm>
            <a:off x="6400800" y="1808480"/>
            <a:ext cx="5059680" cy="2585323"/>
          </a:xfrm>
          <a:prstGeom prst="rect">
            <a:avLst/>
          </a:prstGeom>
          <a:noFill/>
        </p:spPr>
        <p:txBody>
          <a:bodyPr wrap="square">
            <a:spAutoFit/>
          </a:bodyPr>
          <a:lstStyle/>
          <a:p>
            <a:pPr>
              <a:buNone/>
            </a:pPr>
            <a:r>
              <a:rPr lang="en-US" b="1" dirty="0"/>
              <a:t>Task 2: Online Shopping System (Multiple Inheritance)</a:t>
            </a:r>
          </a:p>
          <a:p>
            <a:pPr>
              <a:buNone/>
            </a:pPr>
            <a:r>
              <a:rPr lang="en-US" dirty="0"/>
              <a:t>An online platform has:</a:t>
            </a:r>
          </a:p>
          <a:p>
            <a:pPr>
              <a:buFont typeface="Arial" panose="020B0604020202020204" pitchFamily="34" charset="0"/>
              <a:buChar char="•"/>
            </a:pPr>
            <a:r>
              <a:rPr lang="en-US" dirty="0"/>
              <a:t>Class </a:t>
            </a:r>
            <a:r>
              <a:rPr lang="en-US" dirty="0">
                <a:latin typeface="Courier New" panose="02070309020205020404" pitchFamily="49" charset="0"/>
              </a:rPr>
              <a:t>Product</a:t>
            </a:r>
            <a:r>
              <a:rPr lang="en-US" dirty="0"/>
              <a:t> → product name, price </a:t>
            </a:r>
          </a:p>
          <a:p>
            <a:pPr>
              <a:buFont typeface="Arial" panose="020B0604020202020204" pitchFamily="34" charset="0"/>
              <a:buChar char="•"/>
            </a:pPr>
            <a:r>
              <a:rPr lang="en-US" dirty="0"/>
              <a:t>Class </a:t>
            </a:r>
            <a:r>
              <a:rPr lang="en-US" dirty="0">
                <a:latin typeface="Courier New" panose="02070309020205020404" pitchFamily="49" charset="0"/>
              </a:rPr>
              <a:t>Discount</a:t>
            </a:r>
            <a:r>
              <a:rPr lang="en-US" dirty="0"/>
              <a:t> → discount percentage </a:t>
            </a:r>
          </a:p>
          <a:p>
            <a:pPr>
              <a:buNone/>
            </a:pPr>
            <a:r>
              <a:rPr lang="en-US" dirty="0"/>
              <a:t>A class </a:t>
            </a:r>
            <a:r>
              <a:rPr lang="en-US" dirty="0" err="1">
                <a:latin typeface="Courier New" panose="02070309020205020404" pitchFamily="49" charset="0"/>
              </a:rPr>
              <a:t>FinalProduct</a:t>
            </a:r>
            <a:r>
              <a:rPr lang="en-US" dirty="0"/>
              <a:t> inherits both.</a:t>
            </a:r>
          </a:p>
          <a:p>
            <a:pPr>
              <a:buNone/>
            </a:pPr>
            <a:r>
              <a:rPr lang="en-US" b="1" dirty="0"/>
              <a:t>Tasks:</a:t>
            </a:r>
            <a:endParaRPr lang="en-US" dirty="0"/>
          </a:p>
          <a:p>
            <a:pPr>
              <a:buFont typeface="Arial" panose="020B0604020202020204" pitchFamily="34" charset="0"/>
              <a:buChar char="•"/>
            </a:pPr>
            <a:r>
              <a:rPr lang="en-US" dirty="0"/>
              <a:t>Calculate final price after discount </a:t>
            </a:r>
          </a:p>
          <a:p>
            <a:pPr>
              <a:buFont typeface="Arial" panose="020B0604020202020204" pitchFamily="34" charset="0"/>
              <a:buChar char="•"/>
            </a:pPr>
            <a:r>
              <a:rPr lang="en-US" dirty="0"/>
              <a:t>Display product details and final price</a:t>
            </a:r>
          </a:p>
        </p:txBody>
      </p:sp>
      <p:sp>
        <p:nvSpPr>
          <p:cNvPr id="4" name="TextBox 3">
            <a:extLst>
              <a:ext uri="{FF2B5EF4-FFF2-40B4-BE49-F238E27FC236}">
                <a16:creationId xmlns:a16="http://schemas.microsoft.com/office/drawing/2014/main" id="{3EA27DFF-D137-56D8-C748-9A4BB0FE4F91}"/>
              </a:ext>
            </a:extLst>
          </p:cNvPr>
          <p:cNvSpPr txBox="1"/>
          <p:nvPr/>
        </p:nvSpPr>
        <p:spPr>
          <a:xfrm>
            <a:off x="6400800" y="4388326"/>
            <a:ext cx="6096000" cy="2031325"/>
          </a:xfrm>
          <a:prstGeom prst="rect">
            <a:avLst/>
          </a:prstGeom>
          <a:noFill/>
        </p:spPr>
        <p:txBody>
          <a:bodyPr wrap="square">
            <a:spAutoFit/>
          </a:bodyPr>
          <a:lstStyle/>
          <a:p>
            <a:pPr>
              <a:buNone/>
            </a:pPr>
            <a:r>
              <a:rPr lang="en-US" b="1" dirty="0"/>
              <a:t>Task 3: Banking System (Multilevel Inheritance)</a:t>
            </a:r>
          </a:p>
          <a:p>
            <a:pPr>
              <a:buFont typeface="Arial" panose="020B0604020202020204" pitchFamily="34" charset="0"/>
              <a:buChar char="•"/>
            </a:pPr>
            <a:r>
              <a:rPr lang="en-US" dirty="0"/>
              <a:t>Class </a:t>
            </a:r>
            <a:r>
              <a:rPr lang="en-US" dirty="0">
                <a:latin typeface="Courier New" panose="02070309020205020404" pitchFamily="49" charset="0"/>
              </a:rPr>
              <a:t>Account</a:t>
            </a:r>
            <a:r>
              <a:rPr lang="en-US" dirty="0"/>
              <a:t> → account number </a:t>
            </a:r>
          </a:p>
          <a:p>
            <a:pPr>
              <a:buFont typeface="Arial" panose="020B0604020202020204" pitchFamily="34" charset="0"/>
              <a:buChar char="•"/>
            </a:pPr>
            <a:r>
              <a:rPr lang="en-US" dirty="0"/>
              <a:t>Class </a:t>
            </a:r>
            <a:r>
              <a:rPr lang="en-US" dirty="0" err="1">
                <a:latin typeface="Courier New" panose="02070309020205020404" pitchFamily="49" charset="0"/>
              </a:rPr>
              <a:t>SavingsAccount</a:t>
            </a:r>
            <a:r>
              <a:rPr lang="en-US" dirty="0"/>
              <a:t> → interest rate </a:t>
            </a:r>
          </a:p>
          <a:p>
            <a:pPr>
              <a:buFont typeface="Arial" panose="020B0604020202020204" pitchFamily="34" charset="0"/>
              <a:buChar char="•"/>
            </a:pPr>
            <a:r>
              <a:rPr lang="en-US" dirty="0"/>
              <a:t>Class </a:t>
            </a:r>
            <a:r>
              <a:rPr lang="en-US" dirty="0" err="1">
                <a:latin typeface="Courier New" panose="02070309020205020404" pitchFamily="49" charset="0"/>
              </a:rPr>
              <a:t>PremiumSavings</a:t>
            </a:r>
            <a:r>
              <a:rPr lang="en-US" dirty="0"/>
              <a:t> → bonus interest </a:t>
            </a:r>
          </a:p>
          <a:p>
            <a:pPr>
              <a:buNone/>
            </a:pPr>
            <a:r>
              <a:rPr lang="en-US" b="1" dirty="0"/>
              <a:t>Tasks:</a:t>
            </a:r>
            <a:endParaRPr lang="en-US" dirty="0"/>
          </a:p>
          <a:p>
            <a:pPr>
              <a:buFont typeface="Arial" panose="020B0604020202020204" pitchFamily="34" charset="0"/>
              <a:buChar char="•"/>
            </a:pPr>
            <a:r>
              <a:rPr lang="en-US" dirty="0"/>
              <a:t>Calculate total interest </a:t>
            </a:r>
          </a:p>
          <a:p>
            <a:pPr>
              <a:buFont typeface="Arial" panose="020B0604020202020204" pitchFamily="34" charset="0"/>
              <a:buChar char="•"/>
            </a:pPr>
            <a:r>
              <a:rPr lang="en-US" dirty="0"/>
              <a:t>Display account details</a:t>
            </a:r>
          </a:p>
        </p:txBody>
      </p:sp>
    </p:spTree>
    <p:extLst>
      <p:ext uri="{BB962C8B-B14F-4D97-AF65-F5344CB8AC3E}">
        <p14:creationId xmlns:p14="http://schemas.microsoft.com/office/powerpoint/2010/main" val="245181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A88F-FEDC-FC5B-159E-3AFD113587AB}"/>
              </a:ext>
            </a:extLst>
          </p:cNvPr>
          <p:cNvSpPr>
            <a:spLocks noGrp="1"/>
          </p:cNvSpPr>
          <p:nvPr>
            <p:ph type="title"/>
          </p:nvPr>
        </p:nvSpPr>
        <p:spPr/>
        <p:txBody>
          <a:bodyPr/>
          <a:lstStyle/>
          <a:p>
            <a:r>
              <a:rPr lang="en-US" dirty="0"/>
              <a:t>Tasks </a:t>
            </a:r>
          </a:p>
        </p:txBody>
      </p:sp>
      <p:sp>
        <p:nvSpPr>
          <p:cNvPr id="5" name="TextBox 4">
            <a:extLst>
              <a:ext uri="{FF2B5EF4-FFF2-40B4-BE49-F238E27FC236}">
                <a16:creationId xmlns:a16="http://schemas.microsoft.com/office/drawing/2014/main" id="{5D2E8364-FB2C-F33D-26B7-A05B329FB40F}"/>
              </a:ext>
            </a:extLst>
          </p:cNvPr>
          <p:cNvSpPr txBox="1"/>
          <p:nvPr/>
        </p:nvSpPr>
        <p:spPr>
          <a:xfrm>
            <a:off x="1005840" y="1821379"/>
            <a:ext cx="6096000" cy="2585323"/>
          </a:xfrm>
          <a:prstGeom prst="rect">
            <a:avLst/>
          </a:prstGeom>
          <a:noFill/>
        </p:spPr>
        <p:txBody>
          <a:bodyPr wrap="square">
            <a:spAutoFit/>
          </a:bodyPr>
          <a:lstStyle/>
          <a:p>
            <a:pPr>
              <a:buNone/>
            </a:pPr>
            <a:r>
              <a:rPr lang="en-US" b="1" dirty="0"/>
              <a:t>Task 4: Employee Hierarchy (Hierarchical Inheritance)</a:t>
            </a:r>
          </a:p>
          <a:p>
            <a:pPr>
              <a:buNone/>
            </a:pPr>
            <a:r>
              <a:rPr lang="en-US" dirty="0"/>
              <a:t>A company has:</a:t>
            </a:r>
          </a:p>
          <a:p>
            <a:pPr>
              <a:buFont typeface="Arial" panose="020B0604020202020204" pitchFamily="34" charset="0"/>
              <a:buChar char="•"/>
            </a:pPr>
            <a:r>
              <a:rPr lang="en-US" dirty="0"/>
              <a:t>Base class </a:t>
            </a:r>
            <a:r>
              <a:rPr lang="en-US" dirty="0">
                <a:latin typeface="Courier New" panose="02070309020205020404" pitchFamily="49" charset="0"/>
              </a:rPr>
              <a:t>Employee</a:t>
            </a:r>
            <a:r>
              <a:rPr lang="en-US" dirty="0"/>
              <a:t> </a:t>
            </a:r>
          </a:p>
          <a:p>
            <a:pPr>
              <a:buFont typeface="Arial" panose="020B0604020202020204" pitchFamily="34" charset="0"/>
              <a:buChar char="•"/>
            </a:pPr>
            <a:r>
              <a:rPr lang="en-US" dirty="0"/>
              <a:t>Child classes: </a:t>
            </a:r>
          </a:p>
          <a:p>
            <a:pPr marL="742950" lvl="1" indent="-285750">
              <a:buFont typeface="Arial" panose="020B0604020202020204" pitchFamily="34" charset="0"/>
              <a:buChar char="•"/>
            </a:pPr>
            <a:r>
              <a:rPr lang="en-US" dirty="0">
                <a:latin typeface="Courier New" panose="02070309020205020404" pitchFamily="49" charset="0"/>
              </a:rPr>
              <a:t>Manager</a:t>
            </a:r>
            <a:r>
              <a:rPr lang="en-US" dirty="0"/>
              <a:t> </a:t>
            </a:r>
          </a:p>
          <a:p>
            <a:pPr marL="742950" lvl="1" indent="-285750">
              <a:buFont typeface="Arial" panose="020B0604020202020204" pitchFamily="34" charset="0"/>
              <a:buChar char="•"/>
            </a:pPr>
            <a:r>
              <a:rPr lang="en-US" dirty="0">
                <a:latin typeface="Courier New" panose="02070309020205020404" pitchFamily="49" charset="0"/>
              </a:rPr>
              <a:t>Developer</a:t>
            </a:r>
            <a:r>
              <a:rPr lang="en-US" dirty="0"/>
              <a:t> </a:t>
            </a:r>
          </a:p>
          <a:p>
            <a:pPr>
              <a:buNone/>
            </a:pPr>
            <a:r>
              <a:rPr lang="en-US" b="1" dirty="0"/>
              <a:t>Tasks:</a:t>
            </a:r>
            <a:endParaRPr lang="en-US" dirty="0"/>
          </a:p>
          <a:p>
            <a:pPr>
              <a:buFont typeface="Arial" panose="020B0604020202020204" pitchFamily="34" charset="0"/>
              <a:buChar char="•"/>
            </a:pPr>
            <a:r>
              <a:rPr lang="en-US" dirty="0"/>
              <a:t>Add unique attributes for each role </a:t>
            </a:r>
          </a:p>
          <a:p>
            <a:pPr>
              <a:buFont typeface="Arial" panose="020B0604020202020204" pitchFamily="34" charset="0"/>
              <a:buChar char="•"/>
            </a:pPr>
            <a:r>
              <a:rPr lang="en-US" dirty="0"/>
              <a:t>Show how both reuse base class data</a:t>
            </a:r>
          </a:p>
        </p:txBody>
      </p:sp>
      <p:sp>
        <p:nvSpPr>
          <p:cNvPr id="7" name="TextBox 6">
            <a:extLst>
              <a:ext uri="{FF2B5EF4-FFF2-40B4-BE49-F238E27FC236}">
                <a16:creationId xmlns:a16="http://schemas.microsoft.com/office/drawing/2014/main" id="{C3E51D25-A4F8-B2DF-6F83-C7F225CAC3C8}"/>
              </a:ext>
            </a:extLst>
          </p:cNvPr>
          <p:cNvSpPr txBox="1"/>
          <p:nvPr/>
        </p:nvSpPr>
        <p:spPr>
          <a:xfrm>
            <a:off x="6258560" y="1737360"/>
            <a:ext cx="5770880" cy="2585323"/>
          </a:xfrm>
          <a:prstGeom prst="rect">
            <a:avLst/>
          </a:prstGeom>
          <a:noFill/>
        </p:spPr>
        <p:txBody>
          <a:bodyPr wrap="square">
            <a:spAutoFit/>
          </a:bodyPr>
          <a:lstStyle/>
          <a:p>
            <a:pPr>
              <a:buNone/>
            </a:pPr>
            <a:r>
              <a:rPr lang="en-US" b="1" dirty="0"/>
              <a:t>Task 5: University System (Hybrid Inheritance)</a:t>
            </a:r>
          </a:p>
          <a:p>
            <a:pPr>
              <a:buFont typeface="Arial" panose="020B0604020202020204" pitchFamily="34" charset="0"/>
              <a:buChar char="•"/>
            </a:pPr>
            <a:r>
              <a:rPr lang="en-US" dirty="0"/>
              <a:t>Base class: </a:t>
            </a:r>
            <a:r>
              <a:rPr lang="en-US" dirty="0">
                <a:latin typeface="Courier New" panose="02070309020205020404" pitchFamily="49" charset="0"/>
              </a:rPr>
              <a:t>University</a:t>
            </a:r>
            <a:r>
              <a:rPr lang="en-US" dirty="0"/>
              <a:t> </a:t>
            </a:r>
          </a:p>
          <a:p>
            <a:pPr>
              <a:buFont typeface="Arial" panose="020B0604020202020204" pitchFamily="34" charset="0"/>
              <a:buChar char="•"/>
            </a:pPr>
            <a:r>
              <a:rPr lang="en-US" dirty="0"/>
              <a:t>Derived: </a:t>
            </a:r>
          </a:p>
          <a:p>
            <a:pPr marL="742950" lvl="1" indent="-285750">
              <a:buFont typeface="Arial" panose="020B0604020202020204" pitchFamily="34" charset="0"/>
              <a:buChar char="•"/>
            </a:pPr>
            <a:r>
              <a:rPr lang="en-US" dirty="0">
                <a:latin typeface="Courier New" panose="02070309020205020404" pitchFamily="49" charset="0"/>
              </a:rPr>
              <a:t>Department</a:t>
            </a:r>
            <a:r>
              <a:rPr lang="en-US" dirty="0"/>
              <a:t> </a:t>
            </a:r>
          </a:p>
          <a:p>
            <a:pPr marL="742950" lvl="1" indent="-285750">
              <a:buFont typeface="Arial" panose="020B0604020202020204" pitchFamily="34" charset="0"/>
              <a:buChar char="•"/>
            </a:pPr>
            <a:r>
              <a:rPr lang="en-US" dirty="0">
                <a:latin typeface="Courier New" panose="02070309020205020404" pitchFamily="49" charset="0"/>
              </a:rPr>
              <a:t>Student</a:t>
            </a:r>
            <a:r>
              <a:rPr lang="en-US" dirty="0"/>
              <a:t> </a:t>
            </a:r>
          </a:p>
          <a:p>
            <a:pPr>
              <a:buFont typeface="Arial" panose="020B0604020202020204" pitchFamily="34" charset="0"/>
              <a:buChar char="•"/>
            </a:pPr>
            <a:r>
              <a:rPr lang="en-US" dirty="0"/>
              <a:t>Another class </a:t>
            </a:r>
            <a:r>
              <a:rPr lang="en-US" dirty="0" err="1">
                <a:latin typeface="Courier New" panose="02070309020205020404" pitchFamily="49" charset="0"/>
              </a:rPr>
              <a:t>ResearchStudent</a:t>
            </a:r>
            <a:r>
              <a:rPr lang="en-US" dirty="0"/>
              <a:t> inherits from both </a:t>
            </a:r>
          </a:p>
          <a:p>
            <a:pPr>
              <a:buNone/>
            </a:pPr>
            <a:r>
              <a:rPr lang="en-US" b="1" dirty="0"/>
              <a:t>Tasks:</a:t>
            </a:r>
            <a:endParaRPr lang="en-US" dirty="0"/>
          </a:p>
          <a:p>
            <a:pPr>
              <a:buFont typeface="Arial" panose="020B0604020202020204" pitchFamily="34" charset="0"/>
              <a:buChar char="•"/>
            </a:pPr>
            <a:r>
              <a:rPr lang="en-US" dirty="0"/>
              <a:t>Show how hybrid inheritance works </a:t>
            </a:r>
          </a:p>
          <a:p>
            <a:pPr>
              <a:buFont typeface="Arial" panose="020B0604020202020204" pitchFamily="34" charset="0"/>
              <a:buChar char="•"/>
            </a:pPr>
            <a:r>
              <a:rPr lang="en-US" dirty="0"/>
              <a:t>Display combined data </a:t>
            </a:r>
          </a:p>
        </p:txBody>
      </p:sp>
    </p:spTree>
    <p:extLst>
      <p:ext uri="{BB962C8B-B14F-4D97-AF65-F5344CB8AC3E}">
        <p14:creationId xmlns:p14="http://schemas.microsoft.com/office/powerpoint/2010/main" val="2527320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FF617-7F8E-211F-C56C-04E9BF358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92D40-6C69-ABF1-04E4-B7B9E2FB4013}"/>
              </a:ext>
            </a:extLst>
          </p:cNvPr>
          <p:cNvSpPr>
            <a:spLocks noGrp="1"/>
          </p:cNvSpPr>
          <p:nvPr>
            <p:ph type="title"/>
          </p:nvPr>
        </p:nvSpPr>
        <p:spPr/>
        <p:txBody>
          <a:bodyPr/>
          <a:lstStyle/>
          <a:p>
            <a:r>
              <a:rPr lang="en-US" dirty="0"/>
              <a:t>Tasks </a:t>
            </a:r>
          </a:p>
        </p:txBody>
      </p:sp>
      <p:sp>
        <p:nvSpPr>
          <p:cNvPr id="4" name="TextBox 3">
            <a:extLst>
              <a:ext uri="{FF2B5EF4-FFF2-40B4-BE49-F238E27FC236}">
                <a16:creationId xmlns:a16="http://schemas.microsoft.com/office/drawing/2014/main" id="{8A94B709-41EC-D089-D9CE-844D6AA99F33}"/>
              </a:ext>
            </a:extLst>
          </p:cNvPr>
          <p:cNvSpPr txBox="1"/>
          <p:nvPr/>
        </p:nvSpPr>
        <p:spPr>
          <a:xfrm>
            <a:off x="1097280" y="1895178"/>
            <a:ext cx="6096000" cy="2031325"/>
          </a:xfrm>
          <a:prstGeom prst="rect">
            <a:avLst/>
          </a:prstGeom>
          <a:noFill/>
        </p:spPr>
        <p:txBody>
          <a:bodyPr wrap="square">
            <a:spAutoFit/>
          </a:bodyPr>
          <a:lstStyle/>
          <a:p>
            <a:pPr>
              <a:buNone/>
            </a:pPr>
            <a:r>
              <a:rPr lang="en-US" b="1" dirty="0"/>
              <a:t>Task 6: Use of </a:t>
            </a:r>
            <a:r>
              <a:rPr lang="en-US" b="1" dirty="0">
                <a:latin typeface="Courier New" panose="02070309020205020404" pitchFamily="49" charset="0"/>
              </a:rPr>
              <a:t>super()</a:t>
            </a:r>
            <a:endParaRPr lang="en-US" b="1" dirty="0"/>
          </a:p>
          <a:p>
            <a:pPr>
              <a:buNone/>
            </a:pPr>
            <a:r>
              <a:rPr lang="en-US" dirty="0"/>
              <a:t>Write a program where:</a:t>
            </a:r>
          </a:p>
          <a:p>
            <a:pPr>
              <a:buFont typeface="Arial" panose="020B0604020202020204" pitchFamily="34" charset="0"/>
              <a:buChar char="•"/>
            </a:pPr>
            <a:r>
              <a:rPr lang="en-US" dirty="0"/>
              <a:t>Parent class </a:t>
            </a:r>
            <a:r>
              <a:rPr lang="en-US" dirty="0">
                <a:latin typeface="Courier New" panose="02070309020205020404" pitchFamily="49" charset="0"/>
              </a:rPr>
              <a:t>Vehicle</a:t>
            </a:r>
            <a:r>
              <a:rPr lang="en-US" dirty="0"/>
              <a:t> has </a:t>
            </a:r>
            <a:r>
              <a:rPr lang="en-US" dirty="0">
                <a:latin typeface="Courier New" panose="02070309020205020404" pitchFamily="49" charset="0"/>
              </a:rPr>
              <a:t>brand</a:t>
            </a:r>
            <a:r>
              <a:rPr lang="en-US" dirty="0"/>
              <a:t> </a:t>
            </a:r>
          </a:p>
          <a:p>
            <a:pPr>
              <a:buFont typeface="Arial" panose="020B0604020202020204" pitchFamily="34" charset="0"/>
              <a:buChar char="•"/>
            </a:pPr>
            <a:r>
              <a:rPr lang="en-US" dirty="0"/>
              <a:t>Child class </a:t>
            </a:r>
            <a:r>
              <a:rPr lang="en-US" dirty="0">
                <a:latin typeface="Courier New" panose="02070309020205020404" pitchFamily="49" charset="0"/>
              </a:rPr>
              <a:t>Car</a:t>
            </a:r>
            <a:r>
              <a:rPr lang="en-US" dirty="0"/>
              <a:t> adds </a:t>
            </a:r>
            <a:r>
              <a:rPr lang="en-US" dirty="0">
                <a:latin typeface="Courier New" panose="02070309020205020404" pitchFamily="49" charset="0"/>
              </a:rPr>
              <a:t>model</a:t>
            </a:r>
            <a:r>
              <a:rPr lang="en-US" dirty="0"/>
              <a:t> </a:t>
            </a:r>
          </a:p>
          <a:p>
            <a:pPr>
              <a:buNone/>
            </a:pPr>
            <a:r>
              <a:rPr lang="en-US" b="1" dirty="0"/>
              <a:t>Requirement:</a:t>
            </a:r>
            <a:endParaRPr lang="en-US" dirty="0"/>
          </a:p>
          <a:p>
            <a:pPr>
              <a:buFont typeface="Arial" panose="020B0604020202020204" pitchFamily="34" charset="0"/>
              <a:buChar char="•"/>
            </a:pPr>
            <a:r>
              <a:rPr lang="en-US" dirty="0"/>
              <a:t>Use </a:t>
            </a:r>
            <a:r>
              <a:rPr lang="en-US" dirty="0">
                <a:latin typeface="Courier New" panose="02070309020205020404" pitchFamily="49" charset="0"/>
              </a:rPr>
              <a:t>super()</a:t>
            </a:r>
            <a:r>
              <a:rPr lang="en-US" dirty="0"/>
              <a:t> to initialize parent attributes </a:t>
            </a:r>
          </a:p>
          <a:p>
            <a:pPr>
              <a:buFont typeface="Arial" panose="020B0604020202020204" pitchFamily="34" charset="0"/>
              <a:buChar char="•"/>
            </a:pPr>
            <a:r>
              <a:rPr lang="en-US" dirty="0"/>
              <a:t>Display complete details</a:t>
            </a:r>
          </a:p>
        </p:txBody>
      </p:sp>
      <p:sp>
        <p:nvSpPr>
          <p:cNvPr id="8" name="TextBox 7">
            <a:extLst>
              <a:ext uri="{FF2B5EF4-FFF2-40B4-BE49-F238E27FC236}">
                <a16:creationId xmlns:a16="http://schemas.microsoft.com/office/drawing/2014/main" id="{C04210F6-70F1-0723-B350-3BA4635694B1}"/>
              </a:ext>
            </a:extLst>
          </p:cNvPr>
          <p:cNvSpPr txBox="1"/>
          <p:nvPr/>
        </p:nvSpPr>
        <p:spPr>
          <a:xfrm>
            <a:off x="1097280" y="4084321"/>
            <a:ext cx="4216400" cy="2031325"/>
          </a:xfrm>
          <a:prstGeom prst="rect">
            <a:avLst/>
          </a:prstGeom>
          <a:noFill/>
        </p:spPr>
        <p:txBody>
          <a:bodyPr wrap="square">
            <a:spAutoFit/>
          </a:bodyPr>
          <a:lstStyle/>
          <a:p>
            <a:pPr>
              <a:buNone/>
            </a:pPr>
            <a:r>
              <a:rPr lang="en-US" b="1" dirty="0"/>
              <a:t>Task 7: Method Overriding</a:t>
            </a:r>
          </a:p>
          <a:p>
            <a:pPr>
              <a:buNone/>
            </a:pPr>
            <a:r>
              <a:rPr lang="en-US" dirty="0"/>
              <a:t>Create:</a:t>
            </a:r>
          </a:p>
          <a:p>
            <a:pPr>
              <a:buFont typeface="Arial" panose="020B0604020202020204" pitchFamily="34" charset="0"/>
              <a:buChar char="•"/>
            </a:pPr>
            <a:r>
              <a:rPr lang="en-US" dirty="0"/>
              <a:t>Class </a:t>
            </a:r>
            <a:r>
              <a:rPr lang="en-US" dirty="0">
                <a:latin typeface="Courier New" panose="02070309020205020404" pitchFamily="49" charset="0"/>
              </a:rPr>
              <a:t>Animal</a:t>
            </a:r>
            <a:r>
              <a:rPr lang="en-US" dirty="0"/>
              <a:t> with method </a:t>
            </a:r>
            <a:r>
              <a:rPr lang="en-US" dirty="0">
                <a:latin typeface="Courier New" panose="02070309020205020404" pitchFamily="49" charset="0"/>
              </a:rPr>
              <a:t>sound()</a:t>
            </a:r>
            <a:r>
              <a:rPr lang="en-US" dirty="0"/>
              <a:t> </a:t>
            </a:r>
          </a:p>
          <a:p>
            <a:pPr>
              <a:buFont typeface="Arial" panose="020B0604020202020204" pitchFamily="34" charset="0"/>
              <a:buChar char="•"/>
            </a:pPr>
            <a:r>
              <a:rPr lang="en-US" dirty="0"/>
              <a:t>Class </a:t>
            </a:r>
            <a:r>
              <a:rPr lang="en-US" dirty="0">
                <a:latin typeface="Courier New" panose="02070309020205020404" pitchFamily="49" charset="0"/>
              </a:rPr>
              <a:t>Cat</a:t>
            </a:r>
            <a:r>
              <a:rPr lang="en-US" dirty="0"/>
              <a:t> that overrides </a:t>
            </a:r>
            <a:r>
              <a:rPr lang="en-US" dirty="0">
                <a:latin typeface="Courier New" panose="02070309020205020404" pitchFamily="49" charset="0"/>
              </a:rPr>
              <a:t>sound()</a:t>
            </a:r>
            <a:r>
              <a:rPr lang="en-US" dirty="0"/>
              <a:t> </a:t>
            </a:r>
          </a:p>
          <a:p>
            <a:pPr>
              <a:buNone/>
            </a:pPr>
            <a:r>
              <a:rPr lang="en-US" b="1" dirty="0"/>
              <a:t>Task:</a:t>
            </a:r>
            <a:endParaRPr lang="en-US" dirty="0"/>
          </a:p>
          <a:p>
            <a:pPr>
              <a:buFont typeface="Arial" panose="020B0604020202020204" pitchFamily="34" charset="0"/>
              <a:buChar char="•"/>
            </a:pPr>
            <a:r>
              <a:rPr lang="en-US" dirty="0"/>
              <a:t>Show difference between parent and child behavior</a:t>
            </a:r>
          </a:p>
        </p:txBody>
      </p:sp>
      <p:sp>
        <p:nvSpPr>
          <p:cNvPr id="10" name="TextBox 9">
            <a:extLst>
              <a:ext uri="{FF2B5EF4-FFF2-40B4-BE49-F238E27FC236}">
                <a16:creationId xmlns:a16="http://schemas.microsoft.com/office/drawing/2014/main" id="{C1B51F0C-DE5B-0184-5893-89CF7209E582}"/>
              </a:ext>
            </a:extLst>
          </p:cNvPr>
          <p:cNvSpPr txBox="1"/>
          <p:nvPr/>
        </p:nvSpPr>
        <p:spPr>
          <a:xfrm>
            <a:off x="5588000" y="1775997"/>
            <a:ext cx="6096000" cy="2308324"/>
          </a:xfrm>
          <a:prstGeom prst="rect">
            <a:avLst/>
          </a:prstGeom>
          <a:noFill/>
        </p:spPr>
        <p:txBody>
          <a:bodyPr wrap="square">
            <a:spAutoFit/>
          </a:bodyPr>
          <a:lstStyle/>
          <a:p>
            <a:pPr>
              <a:buNone/>
            </a:pPr>
            <a:r>
              <a:rPr lang="en-US" b="1" dirty="0"/>
              <a:t>Task 8: Constructor Chaining</a:t>
            </a:r>
          </a:p>
          <a:p>
            <a:pPr>
              <a:buNone/>
            </a:pPr>
            <a:r>
              <a:rPr lang="en-US" dirty="0"/>
              <a:t>Create:</a:t>
            </a:r>
          </a:p>
          <a:p>
            <a:pPr>
              <a:buFont typeface="Arial" panose="020B0604020202020204" pitchFamily="34" charset="0"/>
              <a:buChar char="•"/>
            </a:pPr>
            <a:r>
              <a:rPr lang="en-US" dirty="0"/>
              <a:t>Class </a:t>
            </a:r>
            <a:r>
              <a:rPr lang="en-US" dirty="0">
                <a:latin typeface="Courier New" panose="02070309020205020404" pitchFamily="49" charset="0"/>
              </a:rPr>
              <a:t>A</a:t>
            </a:r>
            <a:r>
              <a:rPr lang="en-US" dirty="0"/>
              <a:t> </a:t>
            </a:r>
          </a:p>
          <a:p>
            <a:pPr>
              <a:buFont typeface="Arial" panose="020B0604020202020204" pitchFamily="34" charset="0"/>
              <a:buChar char="•"/>
            </a:pPr>
            <a:r>
              <a:rPr lang="en-US" dirty="0"/>
              <a:t>Class </a:t>
            </a:r>
            <a:r>
              <a:rPr lang="en-US" dirty="0">
                <a:latin typeface="Courier New" panose="02070309020205020404" pitchFamily="49" charset="0"/>
              </a:rPr>
              <a:t>B</a:t>
            </a:r>
            <a:r>
              <a:rPr lang="en-US" dirty="0"/>
              <a:t> inherits </a:t>
            </a:r>
            <a:r>
              <a:rPr lang="en-US" dirty="0">
                <a:latin typeface="Courier New" panose="02070309020205020404" pitchFamily="49" charset="0"/>
              </a:rPr>
              <a:t>A</a:t>
            </a:r>
            <a:r>
              <a:rPr lang="en-US" dirty="0"/>
              <a:t> </a:t>
            </a:r>
          </a:p>
          <a:p>
            <a:pPr>
              <a:buFont typeface="Arial" panose="020B0604020202020204" pitchFamily="34" charset="0"/>
              <a:buChar char="•"/>
            </a:pPr>
            <a:r>
              <a:rPr lang="en-US" dirty="0"/>
              <a:t>Class </a:t>
            </a:r>
            <a:r>
              <a:rPr lang="en-US" dirty="0">
                <a:latin typeface="Courier New" panose="02070309020205020404" pitchFamily="49" charset="0"/>
              </a:rPr>
              <a:t>C</a:t>
            </a:r>
            <a:r>
              <a:rPr lang="en-US" dirty="0"/>
              <a:t> inherits </a:t>
            </a:r>
            <a:r>
              <a:rPr lang="en-US" dirty="0">
                <a:latin typeface="Courier New" panose="02070309020205020404" pitchFamily="49" charset="0"/>
              </a:rPr>
              <a:t>B</a:t>
            </a:r>
            <a:r>
              <a:rPr lang="en-US" dirty="0"/>
              <a:t> </a:t>
            </a:r>
          </a:p>
          <a:p>
            <a:pPr>
              <a:buNone/>
            </a:pPr>
            <a:r>
              <a:rPr lang="en-US" b="1" dirty="0"/>
              <a:t>Task:</a:t>
            </a:r>
            <a:endParaRPr lang="en-US" dirty="0"/>
          </a:p>
          <a:p>
            <a:pPr>
              <a:buFont typeface="Arial" panose="020B0604020202020204" pitchFamily="34" charset="0"/>
              <a:buChar char="•"/>
            </a:pPr>
            <a:r>
              <a:rPr lang="en-US" dirty="0"/>
              <a:t>Print messages from each constructor to show order of execution </a:t>
            </a:r>
          </a:p>
        </p:txBody>
      </p:sp>
      <p:sp>
        <p:nvSpPr>
          <p:cNvPr id="12" name="TextBox 11">
            <a:extLst>
              <a:ext uri="{FF2B5EF4-FFF2-40B4-BE49-F238E27FC236}">
                <a16:creationId xmlns:a16="http://schemas.microsoft.com/office/drawing/2014/main" id="{8700B761-64C7-D1B4-7AEF-7261AB6E19B6}"/>
              </a:ext>
            </a:extLst>
          </p:cNvPr>
          <p:cNvSpPr txBox="1"/>
          <p:nvPr/>
        </p:nvSpPr>
        <p:spPr>
          <a:xfrm>
            <a:off x="5618480" y="4045684"/>
            <a:ext cx="6096000" cy="2308324"/>
          </a:xfrm>
          <a:prstGeom prst="rect">
            <a:avLst/>
          </a:prstGeom>
          <a:noFill/>
        </p:spPr>
        <p:txBody>
          <a:bodyPr wrap="square">
            <a:spAutoFit/>
          </a:bodyPr>
          <a:lstStyle/>
          <a:p>
            <a:pPr>
              <a:buNone/>
            </a:pPr>
            <a:r>
              <a:rPr lang="en-US" b="1" dirty="0"/>
              <a:t>Task 9: Real-Life Inheritance</a:t>
            </a:r>
          </a:p>
          <a:p>
            <a:pPr>
              <a:buNone/>
            </a:pPr>
            <a:r>
              <a:rPr lang="en-US" dirty="0"/>
              <a:t>Model:</a:t>
            </a:r>
          </a:p>
          <a:p>
            <a:pPr>
              <a:buFont typeface="Arial" panose="020B0604020202020204" pitchFamily="34" charset="0"/>
              <a:buChar char="•"/>
            </a:pPr>
            <a:r>
              <a:rPr lang="en-US" dirty="0">
                <a:latin typeface="Courier New" panose="02070309020205020404" pitchFamily="49" charset="0"/>
              </a:rPr>
              <a:t>Appliance</a:t>
            </a:r>
            <a:r>
              <a:rPr lang="en-US" dirty="0"/>
              <a:t> → name, power </a:t>
            </a:r>
          </a:p>
          <a:p>
            <a:pPr>
              <a:buFont typeface="Arial" panose="020B0604020202020204" pitchFamily="34" charset="0"/>
              <a:buChar char="•"/>
            </a:pPr>
            <a:r>
              <a:rPr lang="en-US" dirty="0" err="1">
                <a:latin typeface="Courier New" panose="02070309020205020404" pitchFamily="49" charset="0"/>
              </a:rPr>
              <a:t>WashingMachine</a:t>
            </a:r>
            <a:r>
              <a:rPr lang="en-US" dirty="0"/>
              <a:t> → capacity </a:t>
            </a:r>
          </a:p>
          <a:p>
            <a:pPr>
              <a:buFont typeface="Arial" panose="020B0604020202020204" pitchFamily="34" charset="0"/>
              <a:buChar char="•"/>
            </a:pPr>
            <a:r>
              <a:rPr lang="en-US" dirty="0" err="1">
                <a:latin typeface="Courier New" panose="02070309020205020404" pitchFamily="49" charset="0"/>
              </a:rPr>
              <a:t>SmartWashingMachine</a:t>
            </a:r>
            <a:r>
              <a:rPr lang="en-US" dirty="0"/>
              <a:t> → </a:t>
            </a:r>
            <a:r>
              <a:rPr lang="en-US" dirty="0" err="1"/>
              <a:t>wifi_enabled</a:t>
            </a:r>
            <a:r>
              <a:rPr lang="en-US" dirty="0"/>
              <a:t> </a:t>
            </a:r>
          </a:p>
          <a:p>
            <a:pPr>
              <a:buNone/>
            </a:pPr>
            <a:r>
              <a:rPr lang="en-US" b="1" dirty="0"/>
              <a:t>Task:</a:t>
            </a:r>
            <a:endParaRPr lang="en-US" dirty="0"/>
          </a:p>
          <a:p>
            <a:pPr>
              <a:buFont typeface="Arial" panose="020B0604020202020204" pitchFamily="34" charset="0"/>
              <a:buChar char="•"/>
            </a:pPr>
            <a:r>
              <a:rPr lang="en-US" dirty="0"/>
              <a:t>Use multilevel inheritance </a:t>
            </a:r>
          </a:p>
          <a:p>
            <a:pPr>
              <a:buFont typeface="Arial" panose="020B0604020202020204" pitchFamily="34" charset="0"/>
              <a:buChar char="•"/>
            </a:pPr>
            <a:r>
              <a:rPr lang="en-US" dirty="0"/>
              <a:t>Print all details</a:t>
            </a:r>
          </a:p>
        </p:txBody>
      </p:sp>
    </p:spTree>
    <p:extLst>
      <p:ext uri="{BB962C8B-B14F-4D97-AF65-F5344CB8AC3E}">
        <p14:creationId xmlns:p14="http://schemas.microsoft.com/office/powerpoint/2010/main" val="4017444508"/>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417</TotalTime>
  <Words>1968</Words>
  <Application>Microsoft Office PowerPoint</Application>
  <PresentationFormat>Widescreen</PresentationFormat>
  <Paragraphs>307</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Consolas</vt:lpstr>
      <vt:lpstr>Courier New</vt:lpstr>
      <vt:lpstr>Nunito</vt:lpstr>
      <vt:lpstr>Retrospect</vt:lpstr>
      <vt:lpstr>Introduction to OOP</vt:lpstr>
      <vt:lpstr>Inheritance in Python</vt:lpstr>
      <vt:lpstr>Inheritance in Python</vt:lpstr>
      <vt:lpstr>Why do we need Inheritance</vt:lpstr>
      <vt:lpstr>super() Function</vt:lpstr>
      <vt:lpstr>super() Function</vt:lpstr>
      <vt:lpstr>Types of Inheritance in Python</vt:lpstr>
      <vt:lpstr>Single Inheritance</vt:lpstr>
      <vt:lpstr>Single Inheritance</vt:lpstr>
      <vt:lpstr>Multiple Inheritance</vt:lpstr>
      <vt:lpstr>Multiple Inheritance</vt:lpstr>
      <vt:lpstr>Multiple Inheritance</vt:lpstr>
      <vt:lpstr>Multilevel Inheritance</vt:lpstr>
      <vt:lpstr>Multilevel Inheritance</vt:lpstr>
      <vt:lpstr>Multilevel Inheritance</vt:lpstr>
      <vt:lpstr>Hierarchical Inheritance</vt:lpstr>
      <vt:lpstr>Hierarchical Inheritance</vt:lpstr>
      <vt:lpstr>Hierarchical Inheritance</vt:lpstr>
      <vt:lpstr>Hybrid Inheritance</vt:lpstr>
      <vt:lpstr>Hybrid Inheritance</vt:lpstr>
      <vt:lpstr>Hybrid Inheritance</vt:lpstr>
      <vt:lpstr>Tasks</vt:lpstr>
      <vt:lpstr>Tasks </vt:lpstr>
      <vt:lpstr>Tasks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PMYLS</dc:creator>
  <cp:lastModifiedBy>PMYLS</cp:lastModifiedBy>
  <cp:revision>5</cp:revision>
  <dcterms:created xsi:type="dcterms:W3CDTF">2026-04-24T07:42:22Z</dcterms:created>
  <dcterms:modified xsi:type="dcterms:W3CDTF">2026-09-15T02:23:17Z</dcterms:modified>
</cp:coreProperties>
</file>