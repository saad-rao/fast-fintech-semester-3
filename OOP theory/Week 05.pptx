
<file path=[Content_Types].xml><?xml version="1.0" encoding="utf-8"?>
<Types xmlns="http://schemas.openxmlformats.org/package/2006/content-types">
  <Default Extension="jpeg" ContentType="image/jpe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0"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3" d="100"/>
          <a:sy n="63" d="100"/>
        </p:scale>
        <p:origin x="80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2F91157-8D9B-4286-9EDC-828F3F710E26}"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F5FDF-24C8-461F-94D1-8B3547F6BFC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903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F91157-8D9B-4286-9EDC-828F3F710E26}"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101557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F91157-8D9B-4286-9EDC-828F3F710E26}"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F5FDF-24C8-461F-94D1-8B3547F6BFC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177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F91157-8D9B-4286-9EDC-828F3F710E26}"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2917631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F91157-8D9B-4286-9EDC-828F3F710E26}"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4091130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F91157-8D9B-4286-9EDC-828F3F710E26}"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2268811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2F91157-8D9B-4286-9EDC-828F3F710E26}" type="datetimeFigureOut">
              <a:rPr lang="en-US" smtClean="0"/>
              <a:t>9/15/2026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2798575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2F91157-8D9B-4286-9EDC-828F3F710E26}" type="datetimeFigureOut">
              <a:rPr lang="en-US" smtClean="0"/>
              <a:t>9/15/2026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42F5FDF-24C8-461F-94D1-8B3547F6BFC4}" type="slidenum">
              <a:rPr lang="en-US" smtClean="0"/>
              <a:t>‹#›</a:t>
            </a:fld>
            <a:endParaRPr lang="en-US"/>
          </a:p>
        </p:txBody>
      </p:sp>
    </p:spTree>
    <p:extLst>
      <p:ext uri="{BB962C8B-B14F-4D97-AF65-F5344CB8AC3E}">
        <p14:creationId xmlns:p14="http://schemas.microsoft.com/office/powerpoint/2010/main" val="3981172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F91157-8D9B-4286-9EDC-828F3F710E26}"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488773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F91157-8D9B-4286-9EDC-828F3F710E26}"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3490955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F91157-8D9B-4286-9EDC-828F3F710E26}"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2F5FDF-24C8-461F-94D1-8B3547F6BFC4}" type="slidenum">
              <a:rPr lang="en-US" smtClean="0"/>
              <a:t>‹#›</a:t>
            </a:fld>
            <a:endParaRPr lang="en-US"/>
          </a:p>
        </p:txBody>
      </p:sp>
    </p:spTree>
    <p:extLst>
      <p:ext uri="{BB962C8B-B14F-4D97-AF65-F5344CB8AC3E}">
        <p14:creationId xmlns:p14="http://schemas.microsoft.com/office/powerpoint/2010/main" val="3767971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F91157-8D9B-4286-9EDC-828F3F710E26}" type="datetimeFigureOut">
              <a:rPr lang="en-US" smtClean="0"/>
              <a:t>9/15/2026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42F5FDF-24C8-461F-94D1-8B3547F6BFC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00138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python/duck-typing-in-pytho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C1E21-9B02-5A76-022D-3B488F15C830}"/>
              </a:ext>
            </a:extLst>
          </p:cNvPr>
          <p:cNvSpPr>
            <a:spLocks noGrp="1"/>
          </p:cNvSpPr>
          <p:nvPr>
            <p:ph type="ctrTitle"/>
          </p:nvPr>
        </p:nvSpPr>
        <p:spPr/>
        <p:txBody>
          <a:bodyPr/>
          <a:lstStyle/>
          <a:p>
            <a:r>
              <a:rPr lang="en-US" dirty="0"/>
              <a:t>Introduction to OOP</a:t>
            </a:r>
          </a:p>
        </p:txBody>
      </p:sp>
      <p:sp>
        <p:nvSpPr>
          <p:cNvPr id="3" name="Subtitle 2">
            <a:extLst>
              <a:ext uri="{FF2B5EF4-FFF2-40B4-BE49-F238E27FC236}">
                <a16:creationId xmlns:a16="http://schemas.microsoft.com/office/drawing/2014/main" id="{D0A76484-8E0F-6B01-DCED-8706257C87A4}"/>
              </a:ext>
            </a:extLst>
          </p:cNvPr>
          <p:cNvSpPr>
            <a:spLocks noGrp="1"/>
          </p:cNvSpPr>
          <p:nvPr>
            <p:ph type="subTitle" idx="1"/>
          </p:nvPr>
        </p:nvSpPr>
        <p:spPr/>
        <p:txBody>
          <a:bodyPr/>
          <a:lstStyle/>
          <a:p>
            <a:r>
              <a:rPr lang="en-US" b="1" dirty="0"/>
              <a:t>Polymorphism in Python</a:t>
            </a:r>
          </a:p>
        </p:txBody>
      </p:sp>
    </p:spTree>
    <p:extLst>
      <p:ext uri="{BB962C8B-B14F-4D97-AF65-F5344CB8AC3E}">
        <p14:creationId xmlns:p14="http://schemas.microsoft.com/office/powerpoint/2010/main" val="1937127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DE823-AB61-CDE1-B077-DA6E66D1FC6C}"/>
              </a:ext>
            </a:extLst>
          </p:cNvPr>
          <p:cNvSpPr>
            <a:spLocks noGrp="1"/>
          </p:cNvSpPr>
          <p:nvPr>
            <p:ph type="title"/>
          </p:nvPr>
        </p:nvSpPr>
        <p:spPr/>
        <p:txBody>
          <a:bodyPr/>
          <a:lstStyle/>
          <a:p>
            <a:r>
              <a:rPr lang="en-US" b="1" dirty="0"/>
              <a:t>Polymorphism</a:t>
            </a:r>
            <a:endParaRPr lang="en-US" dirty="0"/>
          </a:p>
        </p:txBody>
      </p:sp>
      <p:sp>
        <p:nvSpPr>
          <p:cNvPr id="3" name="Content Placeholder 2">
            <a:extLst>
              <a:ext uri="{FF2B5EF4-FFF2-40B4-BE49-F238E27FC236}">
                <a16:creationId xmlns:a16="http://schemas.microsoft.com/office/drawing/2014/main" id="{52164D71-18B5-A223-855C-39218D4339B1}"/>
              </a:ext>
            </a:extLst>
          </p:cNvPr>
          <p:cNvSpPr>
            <a:spLocks noGrp="1"/>
          </p:cNvSpPr>
          <p:nvPr>
            <p:ph idx="1"/>
          </p:nvPr>
        </p:nvSpPr>
        <p:spPr/>
        <p:txBody>
          <a:bodyPr/>
          <a:lstStyle/>
          <a:p>
            <a:pPr fontAlgn="base"/>
            <a:r>
              <a:rPr lang="en-US" dirty="0"/>
              <a:t>Polymorphism means "many forms". It refers to the ability of an entity (like a function or object) to perform different actions based on the context.</a:t>
            </a:r>
          </a:p>
          <a:p>
            <a:pPr fontAlgn="base"/>
            <a:r>
              <a:rPr lang="en-US" dirty="0"/>
              <a:t>Technically, Polymorphism allows same method, function or operator to behave differently depending on object it is working with. This makes code more flexible and reusable.</a:t>
            </a:r>
          </a:p>
          <a:p>
            <a:endParaRPr lang="en-US" dirty="0"/>
          </a:p>
        </p:txBody>
      </p:sp>
    </p:spTree>
    <p:extLst>
      <p:ext uri="{BB962C8B-B14F-4D97-AF65-F5344CB8AC3E}">
        <p14:creationId xmlns:p14="http://schemas.microsoft.com/office/powerpoint/2010/main" val="27248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55CE2-AE76-8CB5-3DBB-2AAE172C8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DD8679-2071-2DB7-B5EB-C6D5CF1F91F5}"/>
              </a:ext>
            </a:extLst>
          </p:cNvPr>
          <p:cNvSpPr>
            <a:spLocks noGrp="1"/>
          </p:cNvSpPr>
          <p:nvPr>
            <p:ph type="title"/>
          </p:nvPr>
        </p:nvSpPr>
        <p:spPr/>
        <p:txBody>
          <a:bodyPr/>
          <a:lstStyle/>
          <a:p>
            <a:r>
              <a:rPr lang="en-US" b="1" dirty="0"/>
              <a:t>Polymorphism</a:t>
            </a:r>
            <a:endParaRPr lang="en-US" dirty="0"/>
          </a:p>
        </p:txBody>
      </p:sp>
      <p:sp>
        <p:nvSpPr>
          <p:cNvPr id="3" name="Content Placeholder 2">
            <a:extLst>
              <a:ext uri="{FF2B5EF4-FFF2-40B4-BE49-F238E27FC236}">
                <a16:creationId xmlns:a16="http://schemas.microsoft.com/office/drawing/2014/main" id="{56D72B3D-238C-2B3A-233A-7F842FA5BC21}"/>
              </a:ext>
            </a:extLst>
          </p:cNvPr>
          <p:cNvSpPr>
            <a:spLocks noGrp="1"/>
          </p:cNvSpPr>
          <p:nvPr>
            <p:ph idx="1"/>
          </p:nvPr>
        </p:nvSpPr>
        <p:spPr/>
        <p:txBody>
          <a:bodyPr/>
          <a:lstStyle/>
          <a:p>
            <a:pPr fontAlgn="base"/>
            <a:r>
              <a:rPr lang="en-US" b="1" dirty="0"/>
              <a:t>Real Life Example:</a:t>
            </a:r>
            <a:r>
              <a:rPr lang="en-US" dirty="0"/>
              <a:t> In a backend payment system, multiple payment options are available such as Credit Card, UPI, </a:t>
            </a:r>
            <a:r>
              <a:rPr lang="en-US" dirty="0" err="1"/>
              <a:t>NetBanking</a:t>
            </a:r>
            <a:r>
              <a:rPr lang="en-US" dirty="0"/>
              <a:t> and Wallet. All payment types use a common method named </a:t>
            </a:r>
            <a:r>
              <a:rPr lang="en-US" dirty="0" err="1"/>
              <a:t>processPayment</a:t>
            </a:r>
            <a:r>
              <a:rPr lang="en-US" dirty="0"/>
              <a:t>() but different implementations:</a:t>
            </a:r>
          </a:p>
          <a:p>
            <a:pPr lvl="1" fontAlgn="base"/>
            <a:r>
              <a:rPr lang="en-US" sz="2000" dirty="0"/>
              <a:t>Credit Card Payment: validates card, talks to bank API</a:t>
            </a:r>
          </a:p>
          <a:p>
            <a:pPr lvl="1" fontAlgn="base"/>
            <a:r>
              <a:rPr lang="en-US" sz="2000" dirty="0"/>
              <a:t>UPI Payment: redirects to UPI gateway</a:t>
            </a:r>
          </a:p>
          <a:p>
            <a:pPr lvl="1" fontAlgn="base"/>
            <a:r>
              <a:rPr lang="en-US" sz="2000" dirty="0"/>
              <a:t>Wallet Payment: checks wallet balance</a:t>
            </a:r>
          </a:p>
          <a:p>
            <a:pPr lvl="1" fontAlgn="base"/>
            <a:r>
              <a:rPr lang="en-US" sz="2000" dirty="0" err="1"/>
              <a:t>NetBanking</a:t>
            </a:r>
            <a:r>
              <a:rPr lang="en-US" sz="2000" dirty="0"/>
              <a:t> Payment: redirects to bank login</a:t>
            </a:r>
          </a:p>
          <a:p>
            <a:pPr fontAlgn="base"/>
            <a:r>
              <a:rPr lang="en-US" dirty="0"/>
              <a:t>The method name remains the same, but the action changes based on the payment type.</a:t>
            </a:r>
          </a:p>
          <a:p>
            <a:endParaRPr lang="en-US" dirty="0"/>
          </a:p>
        </p:txBody>
      </p:sp>
    </p:spTree>
    <p:extLst>
      <p:ext uri="{BB962C8B-B14F-4D97-AF65-F5344CB8AC3E}">
        <p14:creationId xmlns:p14="http://schemas.microsoft.com/office/powerpoint/2010/main" val="733422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0D914-6E64-17E7-EDCC-3F45DAFDAC16}"/>
              </a:ext>
            </a:extLst>
          </p:cNvPr>
          <p:cNvSpPr>
            <a:spLocks noGrp="1"/>
          </p:cNvSpPr>
          <p:nvPr>
            <p:ph type="title"/>
          </p:nvPr>
        </p:nvSpPr>
        <p:spPr/>
        <p:txBody>
          <a:bodyPr/>
          <a:lstStyle/>
          <a:p>
            <a:r>
              <a:rPr lang="en-US" b="1" dirty="0"/>
              <a:t>Types of Polymorphism</a:t>
            </a:r>
            <a:endParaRPr lang="en-US" dirty="0"/>
          </a:p>
        </p:txBody>
      </p:sp>
      <p:sp>
        <p:nvSpPr>
          <p:cNvPr id="3" name="Content Placeholder 2">
            <a:extLst>
              <a:ext uri="{FF2B5EF4-FFF2-40B4-BE49-F238E27FC236}">
                <a16:creationId xmlns:a16="http://schemas.microsoft.com/office/drawing/2014/main" id="{EAB6F713-69DB-54C2-2CA5-68DB6AF5C2E5}"/>
              </a:ext>
            </a:extLst>
          </p:cNvPr>
          <p:cNvSpPr>
            <a:spLocks noGrp="1"/>
          </p:cNvSpPr>
          <p:nvPr>
            <p:ph idx="1"/>
          </p:nvPr>
        </p:nvSpPr>
        <p:spPr/>
        <p:txBody>
          <a:bodyPr/>
          <a:lstStyle/>
          <a:p>
            <a:r>
              <a:rPr lang="en-US" dirty="0"/>
              <a:t>Polymorphism refers to ability of the same method or operation to behave differently based on object or context. It mainly includes compile-time and runtime polymorphism.</a:t>
            </a:r>
          </a:p>
        </p:txBody>
      </p:sp>
      <p:pic>
        <p:nvPicPr>
          <p:cNvPr id="4" name="Picture 3" descr="polymorphism_in_java">
            <a:extLst>
              <a:ext uri="{FF2B5EF4-FFF2-40B4-BE49-F238E27FC236}">
                <a16:creationId xmlns:a16="http://schemas.microsoft.com/office/drawing/2014/main" id="{77A2A978-FA35-8787-5292-82B4874DEF8A}"/>
              </a:ext>
            </a:extLst>
          </p:cNvPr>
          <p:cNvPicPr>
            <a:picLocks noChangeAspect="1"/>
          </p:cNvPicPr>
          <p:nvPr/>
        </p:nvPicPr>
        <p:blipFill>
          <a:blip r:embed="rId2"/>
          <a:stretch>
            <a:fillRect/>
          </a:stretch>
        </p:blipFill>
        <p:spPr>
          <a:xfrm>
            <a:off x="3108960" y="2438400"/>
            <a:ext cx="6512560" cy="3256280"/>
          </a:xfrm>
          <a:prstGeom prst="rect">
            <a:avLst/>
          </a:prstGeom>
        </p:spPr>
      </p:pic>
    </p:spTree>
    <p:extLst>
      <p:ext uri="{BB962C8B-B14F-4D97-AF65-F5344CB8AC3E}">
        <p14:creationId xmlns:p14="http://schemas.microsoft.com/office/powerpoint/2010/main" val="840442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C30D9-E4B4-80CC-95CF-F7F880EB57C9}"/>
              </a:ext>
            </a:extLst>
          </p:cNvPr>
          <p:cNvSpPr>
            <a:spLocks noGrp="1"/>
          </p:cNvSpPr>
          <p:nvPr>
            <p:ph type="title"/>
          </p:nvPr>
        </p:nvSpPr>
        <p:spPr/>
        <p:txBody>
          <a:bodyPr/>
          <a:lstStyle/>
          <a:p>
            <a:r>
              <a:rPr lang="en-US" b="1" dirty="0"/>
              <a:t>1. Compile-time Polymorphism</a:t>
            </a:r>
            <a:endParaRPr lang="en-US" dirty="0"/>
          </a:p>
        </p:txBody>
      </p:sp>
      <p:sp>
        <p:nvSpPr>
          <p:cNvPr id="3" name="Content Placeholder 2">
            <a:extLst>
              <a:ext uri="{FF2B5EF4-FFF2-40B4-BE49-F238E27FC236}">
                <a16:creationId xmlns:a16="http://schemas.microsoft.com/office/drawing/2014/main" id="{3F0737AF-41CF-32DE-172B-F0FC3F53A503}"/>
              </a:ext>
            </a:extLst>
          </p:cNvPr>
          <p:cNvSpPr>
            <a:spLocks noGrp="1"/>
          </p:cNvSpPr>
          <p:nvPr>
            <p:ph idx="1"/>
          </p:nvPr>
        </p:nvSpPr>
        <p:spPr/>
        <p:txBody>
          <a:bodyPr/>
          <a:lstStyle/>
          <a:p>
            <a:pPr fontAlgn="base"/>
            <a:r>
              <a:rPr lang="en-US" dirty="0"/>
              <a:t>Compile-time polymorphism means deciding which method or operation to run during compilation, usually through method or operator overloading.</a:t>
            </a:r>
          </a:p>
          <a:p>
            <a:pPr fontAlgn="base"/>
            <a:r>
              <a:rPr lang="en-US" dirty="0"/>
              <a:t>Languages like Java or C++ support this. But Python doesn’t because it’s dynamically typed it resolves method calls at runtime, not during compilation. So, true method overloading isn’t supported, though similar behavior can be achieved using default or variable arguments.</a:t>
            </a:r>
          </a:p>
          <a:p>
            <a:pPr fontAlgn="base"/>
            <a:r>
              <a:rPr lang="en-US" b="1" dirty="0"/>
              <a:t>Example:</a:t>
            </a:r>
            <a:r>
              <a:rPr lang="en-US" dirty="0"/>
              <a:t> This code demonstrates method overloading using default and variable-length arguments. The multiply() method works with different numbers of inputs, mimicking compile-time polymorphism.</a:t>
            </a:r>
          </a:p>
          <a:p>
            <a:endParaRPr lang="en-US" dirty="0"/>
          </a:p>
        </p:txBody>
      </p:sp>
    </p:spTree>
    <p:extLst>
      <p:ext uri="{BB962C8B-B14F-4D97-AF65-F5344CB8AC3E}">
        <p14:creationId xmlns:p14="http://schemas.microsoft.com/office/powerpoint/2010/main" val="3765798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FC096-EF62-CB1B-474B-BBA6494EF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73F563-F534-FFC3-8D6C-136B28612C28}"/>
              </a:ext>
            </a:extLst>
          </p:cNvPr>
          <p:cNvSpPr>
            <a:spLocks noGrp="1"/>
          </p:cNvSpPr>
          <p:nvPr>
            <p:ph type="title"/>
          </p:nvPr>
        </p:nvSpPr>
        <p:spPr/>
        <p:txBody>
          <a:bodyPr/>
          <a:lstStyle/>
          <a:p>
            <a:r>
              <a:rPr lang="en-US" b="1" dirty="0"/>
              <a:t>1. Compile-time Polymorphism</a:t>
            </a:r>
            <a:endParaRPr lang="en-US" dirty="0"/>
          </a:p>
        </p:txBody>
      </p:sp>
      <p:sp>
        <p:nvSpPr>
          <p:cNvPr id="7" name="TextBox 6">
            <a:extLst>
              <a:ext uri="{FF2B5EF4-FFF2-40B4-BE49-F238E27FC236}">
                <a16:creationId xmlns:a16="http://schemas.microsoft.com/office/drawing/2014/main" id="{4B8222FD-36D8-03C1-C26C-C0EE13DEBED1}"/>
              </a:ext>
            </a:extLst>
          </p:cNvPr>
          <p:cNvSpPr txBox="1"/>
          <p:nvPr/>
        </p:nvSpPr>
        <p:spPr>
          <a:xfrm>
            <a:off x="1036320" y="1658263"/>
            <a:ext cx="6096000" cy="4801314"/>
          </a:xfrm>
          <a:prstGeom prst="rect">
            <a:avLst/>
          </a:prstGeom>
          <a:noFill/>
        </p:spPr>
        <p:txBody>
          <a:bodyPr wrap="square">
            <a:spAutoFit/>
          </a:bodyPr>
          <a:lstStyle/>
          <a:p>
            <a:r>
              <a:rPr lang="en-US" dirty="0"/>
              <a:t>class Calculator:</a:t>
            </a:r>
          </a:p>
          <a:p>
            <a:r>
              <a:rPr lang="en-US" dirty="0"/>
              <a:t>    def multiply(self, a=1, b=1, *</a:t>
            </a:r>
            <a:r>
              <a:rPr lang="en-US" dirty="0" err="1"/>
              <a:t>args</a:t>
            </a:r>
            <a:r>
              <a:rPr lang="en-US" dirty="0"/>
              <a:t>):</a:t>
            </a:r>
          </a:p>
          <a:p>
            <a:r>
              <a:rPr lang="en-US" dirty="0"/>
              <a:t>        result = a * b</a:t>
            </a:r>
          </a:p>
          <a:p>
            <a:r>
              <a:rPr lang="en-US" dirty="0"/>
              <a:t>        for num in </a:t>
            </a:r>
            <a:r>
              <a:rPr lang="en-US" dirty="0" err="1"/>
              <a:t>args</a:t>
            </a:r>
            <a:r>
              <a:rPr lang="en-US" dirty="0"/>
              <a:t>:</a:t>
            </a:r>
          </a:p>
          <a:p>
            <a:r>
              <a:rPr lang="en-US" dirty="0"/>
              <a:t>            result *= num</a:t>
            </a:r>
          </a:p>
          <a:p>
            <a:r>
              <a:rPr lang="en-US" dirty="0"/>
              <a:t>        return result</a:t>
            </a:r>
          </a:p>
          <a:p>
            <a:endParaRPr lang="en-US" dirty="0"/>
          </a:p>
          <a:p>
            <a:r>
              <a:rPr lang="en-US" dirty="0"/>
              <a:t># Create object</a:t>
            </a:r>
          </a:p>
          <a:p>
            <a:r>
              <a:rPr lang="en-US" dirty="0"/>
              <a:t>calc = Calculator()</a:t>
            </a:r>
          </a:p>
          <a:p>
            <a:endParaRPr lang="en-US" dirty="0"/>
          </a:p>
          <a:p>
            <a:r>
              <a:rPr lang="en-US" dirty="0"/>
              <a:t># Using default arguments</a:t>
            </a:r>
          </a:p>
          <a:p>
            <a:r>
              <a:rPr lang="en-US" dirty="0"/>
              <a:t>print(</a:t>
            </a:r>
            <a:r>
              <a:rPr lang="en-US" dirty="0" err="1"/>
              <a:t>calc.multiply</a:t>
            </a:r>
            <a:r>
              <a:rPr lang="en-US" dirty="0"/>
              <a:t>())            </a:t>
            </a:r>
          </a:p>
          <a:p>
            <a:r>
              <a:rPr lang="en-US" dirty="0"/>
              <a:t>print(</a:t>
            </a:r>
            <a:r>
              <a:rPr lang="en-US" dirty="0" err="1"/>
              <a:t>calc.multiply</a:t>
            </a:r>
            <a:r>
              <a:rPr lang="en-US" dirty="0"/>
              <a:t>(4))           </a:t>
            </a:r>
          </a:p>
          <a:p>
            <a:endParaRPr lang="en-US" dirty="0"/>
          </a:p>
          <a:p>
            <a:r>
              <a:rPr lang="en-US" dirty="0"/>
              <a:t># Using multiple arguments</a:t>
            </a:r>
          </a:p>
          <a:p>
            <a:r>
              <a:rPr lang="en-US" dirty="0"/>
              <a:t>print(</a:t>
            </a:r>
            <a:r>
              <a:rPr lang="en-US" dirty="0" err="1"/>
              <a:t>calc.multiply</a:t>
            </a:r>
            <a:r>
              <a:rPr lang="en-US" dirty="0"/>
              <a:t>(2, 3))       </a:t>
            </a:r>
          </a:p>
          <a:p>
            <a:r>
              <a:rPr lang="en-US" dirty="0"/>
              <a:t>print(</a:t>
            </a:r>
            <a:r>
              <a:rPr lang="en-US" dirty="0" err="1"/>
              <a:t>calc.multiply</a:t>
            </a:r>
            <a:r>
              <a:rPr lang="en-US" dirty="0"/>
              <a:t>(2, 3, 4))</a:t>
            </a:r>
          </a:p>
        </p:txBody>
      </p:sp>
      <p:sp>
        <p:nvSpPr>
          <p:cNvPr id="9" name="TextBox 8">
            <a:extLst>
              <a:ext uri="{FF2B5EF4-FFF2-40B4-BE49-F238E27FC236}">
                <a16:creationId xmlns:a16="http://schemas.microsoft.com/office/drawing/2014/main" id="{F7F95780-FEFB-363D-B81C-562CF00B1DC7}"/>
              </a:ext>
            </a:extLst>
          </p:cNvPr>
          <p:cNvSpPr txBox="1"/>
          <p:nvPr/>
        </p:nvSpPr>
        <p:spPr>
          <a:xfrm>
            <a:off x="6217920" y="1947168"/>
            <a:ext cx="4297680" cy="1785104"/>
          </a:xfrm>
          <a:prstGeom prst="rect">
            <a:avLst/>
          </a:prstGeom>
          <a:noFill/>
        </p:spPr>
        <p:txBody>
          <a:bodyPr wrap="square">
            <a:spAutoFit/>
          </a:bodyPr>
          <a:lstStyle/>
          <a:p>
            <a:pPr>
              <a:buNone/>
            </a:pPr>
            <a:r>
              <a:rPr lang="en-US" b="1" i="0" dirty="0">
                <a:solidFill>
                  <a:srgbClr val="273239"/>
                </a:solidFill>
                <a:effectLst/>
                <a:latin typeface="Nunito" pitchFamily="2" charset="0"/>
              </a:rPr>
              <a:t>Output</a:t>
            </a:r>
            <a:endParaRPr lang="en-US" dirty="0"/>
          </a:p>
          <a:p>
            <a:pPr algn="l" fontAlgn="base">
              <a:spcAft>
                <a:spcPts val="750"/>
              </a:spcAft>
              <a:buNone/>
            </a:pPr>
            <a:r>
              <a:rPr lang="en-US" sz="1800" b="0" i="0" dirty="0">
                <a:effectLst/>
                <a:latin typeface="Consolas" panose="020B0609020204030204" pitchFamily="49" charset="0"/>
              </a:rPr>
              <a:t>1</a:t>
            </a:r>
          </a:p>
          <a:p>
            <a:pPr algn="l" fontAlgn="base">
              <a:spcAft>
                <a:spcPts val="750"/>
              </a:spcAft>
              <a:buNone/>
            </a:pPr>
            <a:r>
              <a:rPr lang="en-US" sz="1800" b="0" i="0" dirty="0">
                <a:effectLst/>
                <a:latin typeface="Consolas" panose="020B0609020204030204" pitchFamily="49" charset="0"/>
              </a:rPr>
              <a:t>4</a:t>
            </a:r>
          </a:p>
          <a:p>
            <a:pPr algn="l" fontAlgn="base">
              <a:spcAft>
                <a:spcPts val="750"/>
              </a:spcAft>
              <a:buNone/>
            </a:pPr>
            <a:r>
              <a:rPr lang="en-US" sz="1800" b="0" i="0" dirty="0">
                <a:effectLst/>
                <a:latin typeface="Consolas" panose="020B0609020204030204" pitchFamily="49" charset="0"/>
              </a:rPr>
              <a:t>6</a:t>
            </a:r>
          </a:p>
          <a:p>
            <a:pPr algn="l" fontAlgn="base">
              <a:spcAft>
                <a:spcPts val="750"/>
              </a:spcAft>
              <a:buNone/>
            </a:pPr>
            <a:r>
              <a:rPr lang="en-US" sz="1800" b="0" i="0" dirty="0">
                <a:effectLst/>
                <a:latin typeface="Consolas" panose="020B0609020204030204" pitchFamily="49" charset="0"/>
              </a:rPr>
              <a:t>24</a:t>
            </a:r>
          </a:p>
        </p:txBody>
      </p:sp>
    </p:spTree>
    <p:extLst>
      <p:ext uri="{BB962C8B-B14F-4D97-AF65-F5344CB8AC3E}">
        <p14:creationId xmlns:p14="http://schemas.microsoft.com/office/powerpoint/2010/main" val="2323231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C301B-8809-B77D-C184-F6B6FD9B7749}"/>
              </a:ext>
            </a:extLst>
          </p:cNvPr>
          <p:cNvSpPr>
            <a:spLocks noGrp="1"/>
          </p:cNvSpPr>
          <p:nvPr>
            <p:ph type="title"/>
          </p:nvPr>
        </p:nvSpPr>
        <p:spPr/>
        <p:txBody>
          <a:bodyPr/>
          <a:lstStyle/>
          <a:p>
            <a:r>
              <a:rPr lang="en-US" b="1" dirty="0"/>
              <a:t>2. Runtime Polymorphism (Overriding)</a:t>
            </a:r>
            <a:endParaRPr lang="en-US" dirty="0"/>
          </a:p>
        </p:txBody>
      </p:sp>
      <p:sp>
        <p:nvSpPr>
          <p:cNvPr id="3" name="Content Placeholder 2">
            <a:extLst>
              <a:ext uri="{FF2B5EF4-FFF2-40B4-BE49-F238E27FC236}">
                <a16:creationId xmlns:a16="http://schemas.microsoft.com/office/drawing/2014/main" id="{164B20C4-5197-6854-5557-033AEF7B47EC}"/>
              </a:ext>
            </a:extLst>
          </p:cNvPr>
          <p:cNvSpPr>
            <a:spLocks noGrp="1"/>
          </p:cNvSpPr>
          <p:nvPr>
            <p:ph idx="1"/>
          </p:nvPr>
        </p:nvSpPr>
        <p:spPr/>
        <p:txBody>
          <a:bodyPr/>
          <a:lstStyle/>
          <a:p>
            <a:pPr fontAlgn="base"/>
            <a:r>
              <a:rPr lang="en-US" dirty="0"/>
              <a:t>Runtime polymorphism means that the behavior of a method is decided while program is running, based on the object calling it. This happens through </a:t>
            </a:r>
            <a:r>
              <a:rPr lang="en-US" u="sng" dirty="0"/>
              <a:t>Method Overriding</a:t>
            </a:r>
            <a:r>
              <a:rPr lang="en-US" dirty="0"/>
              <a:t> a child class provides its own version of a method already defined in the parent class.</a:t>
            </a:r>
          </a:p>
          <a:p>
            <a:pPr fontAlgn="base"/>
            <a:r>
              <a:rPr lang="en-US" b="1" dirty="0"/>
              <a:t>Example:</a:t>
            </a:r>
            <a:r>
              <a:rPr lang="en-US" dirty="0"/>
              <a:t> This code shows runtime polymorphism using method overriding. The sound() method is defined in base class Animal and overridden in Dog and Cat. At runtime, correct method is called based on object's class.</a:t>
            </a:r>
          </a:p>
          <a:p>
            <a:endParaRPr lang="en-US" dirty="0"/>
          </a:p>
        </p:txBody>
      </p:sp>
    </p:spTree>
    <p:extLst>
      <p:ext uri="{BB962C8B-B14F-4D97-AF65-F5344CB8AC3E}">
        <p14:creationId xmlns:p14="http://schemas.microsoft.com/office/powerpoint/2010/main" val="31820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E66AC-185F-251A-0BD6-B058EAD25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CB90A-5B88-ED14-EF7A-82EAE1F3368D}"/>
              </a:ext>
            </a:extLst>
          </p:cNvPr>
          <p:cNvSpPr>
            <a:spLocks noGrp="1"/>
          </p:cNvSpPr>
          <p:nvPr>
            <p:ph type="title"/>
          </p:nvPr>
        </p:nvSpPr>
        <p:spPr/>
        <p:txBody>
          <a:bodyPr/>
          <a:lstStyle/>
          <a:p>
            <a:r>
              <a:rPr lang="en-US" b="1" dirty="0"/>
              <a:t>2. Runtime Polymorphism (Overriding)</a:t>
            </a:r>
            <a:endParaRPr lang="en-US" dirty="0"/>
          </a:p>
        </p:txBody>
      </p:sp>
      <p:sp>
        <p:nvSpPr>
          <p:cNvPr id="7" name="TextBox 6">
            <a:extLst>
              <a:ext uri="{FF2B5EF4-FFF2-40B4-BE49-F238E27FC236}">
                <a16:creationId xmlns:a16="http://schemas.microsoft.com/office/drawing/2014/main" id="{29071E27-A8DF-549C-EBCF-309472E8768E}"/>
              </a:ext>
            </a:extLst>
          </p:cNvPr>
          <p:cNvSpPr txBox="1"/>
          <p:nvPr/>
        </p:nvSpPr>
        <p:spPr>
          <a:xfrm>
            <a:off x="1036320" y="1737360"/>
            <a:ext cx="6096000" cy="4524315"/>
          </a:xfrm>
          <a:prstGeom prst="rect">
            <a:avLst/>
          </a:prstGeom>
          <a:noFill/>
        </p:spPr>
        <p:txBody>
          <a:bodyPr wrap="square">
            <a:spAutoFit/>
          </a:bodyPr>
          <a:lstStyle/>
          <a:p>
            <a:r>
              <a:rPr lang="en-US" dirty="0"/>
              <a:t>class Animal:</a:t>
            </a:r>
          </a:p>
          <a:p>
            <a:r>
              <a:rPr lang="en-US" dirty="0"/>
              <a:t>    def sound(self):</a:t>
            </a:r>
          </a:p>
          <a:p>
            <a:r>
              <a:rPr lang="en-US" dirty="0"/>
              <a:t>        return "Some generic sound"</a:t>
            </a:r>
          </a:p>
          <a:p>
            <a:endParaRPr lang="en-US" dirty="0"/>
          </a:p>
          <a:p>
            <a:r>
              <a:rPr lang="en-US" dirty="0"/>
              <a:t>class Dog(Animal):</a:t>
            </a:r>
          </a:p>
          <a:p>
            <a:r>
              <a:rPr lang="en-US" dirty="0"/>
              <a:t>    def sound(self):</a:t>
            </a:r>
          </a:p>
          <a:p>
            <a:r>
              <a:rPr lang="en-US" dirty="0"/>
              <a:t>        return "Bark"</a:t>
            </a:r>
          </a:p>
          <a:p>
            <a:endParaRPr lang="en-US" dirty="0"/>
          </a:p>
          <a:p>
            <a:r>
              <a:rPr lang="en-US" dirty="0"/>
              <a:t>class Cat(Animal):</a:t>
            </a:r>
          </a:p>
          <a:p>
            <a:r>
              <a:rPr lang="en-US" dirty="0"/>
              <a:t>    def sound(self):</a:t>
            </a:r>
          </a:p>
          <a:p>
            <a:r>
              <a:rPr lang="en-US" dirty="0"/>
              <a:t>        return "Meow"</a:t>
            </a:r>
          </a:p>
          <a:p>
            <a:endParaRPr lang="en-US" dirty="0"/>
          </a:p>
          <a:p>
            <a:r>
              <a:rPr lang="en-US" dirty="0"/>
              <a:t># Polymorphic behavior</a:t>
            </a:r>
          </a:p>
          <a:p>
            <a:r>
              <a:rPr lang="en-US" dirty="0"/>
              <a:t>animals = [Dog(), Cat(), Animal()]</a:t>
            </a:r>
          </a:p>
          <a:p>
            <a:r>
              <a:rPr lang="en-US" dirty="0"/>
              <a:t>for animal in animals:</a:t>
            </a:r>
          </a:p>
          <a:p>
            <a:r>
              <a:rPr lang="en-US" dirty="0"/>
              <a:t>    print(</a:t>
            </a:r>
            <a:r>
              <a:rPr lang="en-US" dirty="0" err="1"/>
              <a:t>animal.sound</a:t>
            </a:r>
            <a:r>
              <a:rPr lang="en-US" dirty="0"/>
              <a:t>())</a:t>
            </a:r>
          </a:p>
        </p:txBody>
      </p:sp>
      <p:sp>
        <p:nvSpPr>
          <p:cNvPr id="9" name="TextBox 8">
            <a:extLst>
              <a:ext uri="{FF2B5EF4-FFF2-40B4-BE49-F238E27FC236}">
                <a16:creationId xmlns:a16="http://schemas.microsoft.com/office/drawing/2014/main" id="{0BADA023-C2D3-33EC-16BB-1A9D2DA1A06E}"/>
              </a:ext>
            </a:extLst>
          </p:cNvPr>
          <p:cNvSpPr txBox="1"/>
          <p:nvPr/>
        </p:nvSpPr>
        <p:spPr>
          <a:xfrm>
            <a:off x="6096000" y="1891248"/>
            <a:ext cx="4470400" cy="1405513"/>
          </a:xfrm>
          <a:prstGeom prst="rect">
            <a:avLst/>
          </a:prstGeom>
          <a:noFill/>
        </p:spPr>
        <p:txBody>
          <a:bodyPr wrap="square">
            <a:spAutoFit/>
          </a:bodyPr>
          <a:lstStyle/>
          <a:p>
            <a:pPr>
              <a:buNone/>
            </a:pPr>
            <a:r>
              <a:rPr lang="en-US" b="1" i="0" dirty="0">
                <a:solidFill>
                  <a:srgbClr val="273239"/>
                </a:solidFill>
                <a:effectLst/>
                <a:latin typeface="Nunito" pitchFamily="2" charset="0"/>
              </a:rPr>
              <a:t>Output</a:t>
            </a:r>
            <a:endParaRPr lang="en-US" dirty="0"/>
          </a:p>
          <a:p>
            <a:pPr algn="l" fontAlgn="base">
              <a:spcAft>
                <a:spcPts val="750"/>
              </a:spcAft>
              <a:buNone/>
            </a:pPr>
            <a:r>
              <a:rPr lang="en-US" sz="1800" b="0" i="0" dirty="0">
                <a:effectLst/>
                <a:latin typeface="Consolas" panose="020B0609020204030204" pitchFamily="49" charset="0"/>
              </a:rPr>
              <a:t>Bark</a:t>
            </a:r>
          </a:p>
          <a:p>
            <a:pPr algn="l" fontAlgn="base">
              <a:spcAft>
                <a:spcPts val="750"/>
              </a:spcAft>
              <a:buNone/>
            </a:pPr>
            <a:r>
              <a:rPr lang="en-US" sz="1800" b="0" i="0" dirty="0">
                <a:effectLst/>
                <a:latin typeface="Consolas" panose="020B0609020204030204" pitchFamily="49" charset="0"/>
              </a:rPr>
              <a:t>Meow</a:t>
            </a:r>
          </a:p>
          <a:p>
            <a:pPr algn="l" fontAlgn="base">
              <a:spcAft>
                <a:spcPts val="750"/>
              </a:spcAft>
              <a:buNone/>
            </a:pPr>
            <a:r>
              <a:rPr lang="en-US" sz="1800" b="0" i="0" dirty="0">
                <a:effectLst/>
                <a:latin typeface="Consolas" panose="020B0609020204030204" pitchFamily="49" charset="0"/>
              </a:rPr>
              <a:t>Some generic sound</a:t>
            </a:r>
          </a:p>
        </p:txBody>
      </p:sp>
      <p:sp>
        <p:nvSpPr>
          <p:cNvPr id="11" name="TextBox 10">
            <a:extLst>
              <a:ext uri="{FF2B5EF4-FFF2-40B4-BE49-F238E27FC236}">
                <a16:creationId xmlns:a16="http://schemas.microsoft.com/office/drawing/2014/main" id="{624402E4-AEAF-B1DA-B506-B1497155A1C5}"/>
              </a:ext>
            </a:extLst>
          </p:cNvPr>
          <p:cNvSpPr txBox="1"/>
          <p:nvPr/>
        </p:nvSpPr>
        <p:spPr>
          <a:xfrm>
            <a:off x="5283200" y="3716496"/>
            <a:ext cx="6096000" cy="1477328"/>
          </a:xfrm>
          <a:prstGeom prst="rect">
            <a:avLst/>
          </a:prstGeom>
          <a:noFill/>
        </p:spPr>
        <p:txBody>
          <a:bodyPr wrap="square">
            <a:spAutoFit/>
          </a:bodyPr>
          <a:lstStyle/>
          <a:p>
            <a:r>
              <a:rPr lang="en-US" b="1" i="0" dirty="0">
                <a:solidFill>
                  <a:srgbClr val="273239"/>
                </a:solidFill>
                <a:effectLst/>
                <a:latin typeface="Nunito" pitchFamily="2" charset="0"/>
              </a:rPr>
              <a:t>Explanation: </a:t>
            </a:r>
            <a:r>
              <a:rPr lang="en-US" b="0" i="0" dirty="0">
                <a:solidFill>
                  <a:srgbClr val="273239"/>
                </a:solidFill>
                <a:effectLst/>
                <a:latin typeface="Nunito" pitchFamily="2" charset="0"/>
              </a:rPr>
              <a:t>Here, sound method behaves differently depending on whether object is a Dog, Cat or Animal and this decision happens at runtime. This dynamic nature makes Python particularly powerful for runtime polymorphism.</a:t>
            </a:r>
            <a:endParaRPr lang="en-US" dirty="0"/>
          </a:p>
        </p:txBody>
      </p:sp>
    </p:spTree>
    <p:extLst>
      <p:ext uri="{BB962C8B-B14F-4D97-AF65-F5344CB8AC3E}">
        <p14:creationId xmlns:p14="http://schemas.microsoft.com/office/powerpoint/2010/main" val="3136754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95324-A741-D7B0-F45E-562DB43014FB}"/>
              </a:ext>
            </a:extLst>
          </p:cNvPr>
          <p:cNvSpPr>
            <a:spLocks noGrp="1"/>
          </p:cNvSpPr>
          <p:nvPr>
            <p:ph type="title"/>
          </p:nvPr>
        </p:nvSpPr>
        <p:spPr/>
        <p:txBody>
          <a:bodyPr/>
          <a:lstStyle/>
          <a:p>
            <a:r>
              <a:rPr lang="en-US" b="1" dirty="0"/>
              <a:t>Polymorphism in Built-in Functions</a:t>
            </a:r>
            <a:endParaRPr lang="en-US" dirty="0"/>
          </a:p>
        </p:txBody>
      </p:sp>
      <p:sp>
        <p:nvSpPr>
          <p:cNvPr id="3" name="Content Placeholder 2">
            <a:extLst>
              <a:ext uri="{FF2B5EF4-FFF2-40B4-BE49-F238E27FC236}">
                <a16:creationId xmlns:a16="http://schemas.microsoft.com/office/drawing/2014/main" id="{9166835A-6C31-9CA0-96C4-06DF8AAF4BF9}"/>
              </a:ext>
            </a:extLst>
          </p:cNvPr>
          <p:cNvSpPr>
            <a:spLocks noGrp="1"/>
          </p:cNvSpPr>
          <p:nvPr>
            <p:ph idx="1"/>
          </p:nvPr>
        </p:nvSpPr>
        <p:spPr/>
        <p:txBody>
          <a:bodyPr/>
          <a:lstStyle/>
          <a:p>
            <a:pPr fontAlgn="base"/>
            <a:r>
              <a:rPr lang="en-US" dirty="0"/>
              <a:t>Python’s built-in functions like</a:t>
            </a:r>
            <a:r>
              <a:rPr lang="en-US" b="1" dirty="0"/>
              <a:t> </a:t>
            </a:r>
            <a:r>
              <a:rPr lang="en-US" b="1" dirty="0" err="1"/>
              <a:t>len</a:t>
            </a:r>
            <a:r>
              <a:rPr lang="en-US" b="1" dirty="0"/>
              <a:t>()</a:t>
            </a:r>
            <a:r>
              <a:rPr lang="en-US" dirty="0"/>
              <a:t> and </a:t>
            </a:r>
            <a:r>
              <a:rPr lang="en-US" b="1" dirty="0"/>
              <a:t>max()</a:t>
            </a:r>
            <a:r>
              <a:rPr lang="en-US" dirty="0"/>
              <a:t> are polymorphic they work with different data types and return results based on type of object passed. This showcases it's dynamic nature, where same function name adapts its behavior depending on input.</a:t>
            </a:r>
          </a:p>
          <a:p>
            <a:pPr fontAlgn="base"/>
            <a:r>
              <a:rPr lang="en-US" b="1" dirty="0"/>
              <a:t>Example:</a:t>
            </a:r>
            <a:r>
              <a:rPr lang="en-US" dirty="0"/>
              <a:t> This code demonstrates polymorphism in built-in functions handling strings, lists, numbers and characters differently while using same function name.</a:t>
            </a:r>
          </a:p>
          <a:p>
            <a:endParaRPr lang="en-US" dirty="0"/>
          </a:p>
        </p:txBody>
      </p:sp>
    </p:spTree>
    <p:extLst>
      <p:ext uri="{BB962C8B-B14F-4D97-AF65-F5344CB8AC3E}">
        <p14:creationId xmlns:p14="http://schemas.microsoft.com/office/powerpoint/2010/main" val="1438878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F18F7-4670-3261-D16C-19F6A5BA3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269965-D602-A32E-468E-EBCCAAF13E06}"/>
              </a:ext>
            </a:extLst>
          </p:cNvPr>
          <p:cNvSpPr>
            <a:spLocks noGrp="1"/>
          </p:cNvSpPr>
          <p:nvPr>
            <p:ph type="title"/>
          </p:nvPr>
        </p:nvSpPr>
        <p:spPr/>
        <p:txBody>
          <a:bodyPr/>
          <a:lstStyle/>
          <a:p>
            <a:r>
              <a:rPr lang="en-US" b="1" dirty="0"/>
              <a:t>Polymorphism in Built-in Functions</a:t>
            </a:r>
            <a:endParaRPr lang="en-US" dirty="0"/>
          </a:p>
        </p:txBody>
      </p:sp>
      <p:sp>
        <p:nvSpPr>
          <p:cNvPr id="7" name="TextBox 6">
            <a:extLst>
              <a:ext uri="{FF2B5EF4-FFF2-40B4-BE49-F238E27FC236}">
                <a16:creationId xmlns:a16="http://schemas.microsoft.com/office/drawing/2014/main" id="{8C217DB3-BFA8-630E-1C7B-6F138722CE75}"/>
              </a:ext>
            </a:extLst>
          </p:cNvPr>
          <p:cNvSpPr txBox="1"/>
          <p:nvPr/>
        </p:nvSpPr>
        <p:spPr>
          <a:xfrm>
            <a:off x="1097280" y="1836896"/>
            <a:ext cx="6096000" cy="1477328"/>
          </a:xfrm>
          <a:prstGeom prst="rect">
            <a:avLst/>
          </a:prstGeom>
          <a:noFill/>
        </p:spPr>
        <p:txBody>
          <a:bodyPr wrap="square">
            <a:spAutoFit/>
          </a:bodyPr>
          <a:lstStyle/>
          <a:p>
            <a:r>
              <a:rPr lang="en-US" dirty="0"/>
              <a:t>print(</a:t>
            </a:r>
            <a:r>
              <a:rPr lang="en-US" dirty="0" err="1"/>
              <a:t>len</a:t>
            </a:r>
            <a:r>
              <a:rPr lang="en-US" dirty="0"/>
              <a:t>("Hello"))  # String length</a:t>
            </a:r>
          </a:p>
          <a:p>
            <a:r>
              <a:rPr lang="en-US" dirty="0"/>
              <a:t>print(</a:t>
            </a:r>
            <a:r>
              <a:rPr lang="en-US" dirty="0" err="1"/>
              <a:t>len</a:t>
            </a:r>
            <a:r>
              <a:rPr lang="en-US" dirty="0"/>
              <a:t>([1, 2, 3]))  # List length</a:t>
            </a:r>
          </a:p>
          <a:p>
            <a:endParaRPr lang="en-US" dirty="0"/>
          </a:p>
          <a:p>
            <a:r>
              <a:rPr lang="en-US" dirty="0"/>
              <a:t>print(max(1, 3, 2))  # Maximum of integers</a:t>
            </a:r>
          </a:p>
          <a:p>
            <a:r>
              <a:rPr lang="en-US" dirty="0"/>
              <a:t>print(max("a", "z", "m"))  # Maximum in strings</a:t>
            </a:r>
          </a:p>
        </p:txBody>
      </p:sp>
      <p:sp>
        <p:nvSpPr>
          <p:cNvPr id="9" name="TextBox 8">
            <a:extLst>
              <a:ext uri="{FF2B5EF4-FFF2-40B4-BE49-F238E27FC236}">
                <a16:creationId xmlns:a16="http://schemas.microsoft.com/office/drawing/2014/main" id="{BC352FDC-161D-6784-8FC2-AF10D2D182F0}"/>
              </a:ext>
            </a:extLst>
          </p:cNvPr>
          <p:cNvSpPr txBox="1"/>
          <p:nvPr/>
        </p:nvSpPr>
        <p:spPr>
          <a:xfrm>
            <a:off x="1097280" y="3314224"/>
            <a:ext cx="6096000" cy="1692771"/>
          </a:xfrm>
          <a:prstGeom prst="rect">
            <a:avLst/>
          </a:prstGeom>
          <a:noFill/>
        </p:spPr>
        <p:txBody>
          <a:bodyPr wrap="square">
            <a:spAutoFit/>
          </a:bodyPr>
          <a:lstStyle/>
          <a:p>
            <a:pPr>
              <a:buNone/>
            </a:pPr>
            <a:br>
              <a:rPr lang="pl-PL" dirty="0"/>
            </a:br>
            <a:r>
              <a:rPr lang="pl-PL" b="1" i="0" dirty="0">
                <a:solidFill>
                  <a:srgbClr val="273239"/>
                </a:solidFill>
                <a:effectLst/>
                <a:latin typeface="Nunito" pitchFamily="2" charset="0"/>
              </a:rPr>
              <a:t>Output</a:t>
            </a:r>
            <a:endParaRPr lang="pl-PL" dirty="0"/>
          </a:p>
          <a:p>
            <a:pPr algn="l" fontAlgn="base">
              <a:spcAft>
                <a:spcPts val="750"/>
              </a:spcAft>
              <a:buNone/>
            </a:pPr>
            <a:r>
              <a:rPr lang="pl-PL" sz="1200" b="0" i="0" dirty="0">
                <a:effectLst/>
                <a:latin typeface="Consolas" panose="020B0609020204030204" pitchFamily="49" charset="0"/>
              </a:rPr>
              <a:t>5</a:t>
            </a:r>
          </a:p>
          <a:p>
            <a:pPr algn="l" fontAlgn="base">
              <a:spcAft>
                <a:spcPts val="750"/>
              </a:spcAft>
              <a:buNone/>
            </a:pPr>
            <a:r>
              <a:rPr lang="pl-PL" sz="1200" b="0" i="0" dirty="0">
                <a:effectLst/>
                <a:latin typeface="Consolas" panose="020B0609020204030204" pitchFamily="49" charset="0"/>
              </a:rPr>
              <a:t>3</a:t>
            </a:r>
          </a:p>
          <a:p>
            <a:pPr algn="l" fontAlgn="base">
              <a:spcAft>
                <a:spcPts val="750"/>
              </a:spcAft>
              <a:buNone/>
            </a:pPr>
            <a:r>
              <a:rPr lang="pl-PL" sz="1200" b="0" i="0" dirty="0">
                <a:effectLst/>
                <a:latin typeface="Consolas" panose="020B0609020204030204" pitchFamily="49" charset="0"/>
              </a:rPr>
              <a:t>3</a:t>
            </a:r>
          </a:p>
          <a:p>
            <a:pPr algn="l" fontAlgn="base">
              <a:spcAft>
                <a:spcPts val="750"/>
              </a:spcAft>
              <a:buNone/>
            </a:pPr>
            <a:r>
              <a:rPr lang="pl-PL" sz="1200" b="0" i="0" dirty="0">
                <a:effectLst/>
                <a:latin typeface="Consolas" panose="020B0609020204030204" pitchFamily="49" charset="0"/>
              </a:rPr>
              <a:t>z</a:t>
            </a:r>
          </a:p>
        </p:txBody>
      </p:sp>
    </p:spTree>
    <p:extLst>
      <p:ext uri="{BB962C8B-B14F-4D97-AF65-F5344CB8AC3E}">
        <p14:creationId xmlns:p14="http://schemas.microsoft.com/office/powerpoint/2010/main" val="1520430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A2255-00DF-1D6B-868D-A4CFC7529424}"/>
              </a:ext>
            </a:extLst>
          </p:cNvPr>
          <p:cNvSpPr>
            <a:spLocks noGrp="1"/>
          </p:cNvSpPr>
          <p:nvPr>
            <p:ph type="title"/>
          </p:nvPr>
        </p:nvSpPr>
        <p:spPr/>
        <p:txBody>
          <a:bodyPr/>
          <a:lstStyle/>
          <a:p>
            <a:r>
              <a:rPr lang="en-US" b="1" dirty="0"/>
              <a:t>Polymorphism in Functions</a:t>
            </a:r>
            <a:endParaRPr lang="en-US" dirty="0"/>
          </a:p>
        </p:txBody>
      </p:sp>
      <p:sp>
        <p:nvSpPr>
          <p:cNvPr id="3" name="Content Placeholder 2">
            <a:extLst>
              <a:ext uri="{FF2B5EF4-FFF2-40B4-BE49-F238E27FC236}">
                <a16:creationId xmlns:a16="http://schemas.microsoft.com/office/drawing/2014/main" id="{30ACAEFD-FE73-D1B4-62A1-A8CC9E104963}"/>
              </a:ext>
            </a:extLst>
          </p:cNvPr>
          <p:cNvSpPr>
            <a:spLocks noGrp="1"/>
          </p:cNvSpPr>
          <p:nvPr>
            <p:ph idx="1"/>
          </p:nvPr>
        </p:nvSpPr>
        <p:spPr/>
        <p:txBody>
          <a:bodyPr/>
          <a:lstStyle/>
          <a:p>
            <a:pPr fontAlgn="base"/>
            <a:r>
              <a:rPr lang="en-US" dirty="0"/>
              <a:t>Polymorphism allows functions to work with different object types as long as they support the required behavior. Using </a:t>
            </a:r>
            <a:r>
              <a:rPr lang="en-US" u="sng" dirty="0">
                <a:hlinkClick r:id="rId2"/>
              </a:rPr>
              <a:t>duck typing</a:t>
            </a:r>
            <a:r>
              <a:rPr lang="en-US" dirty="0"/>
              <a:t>, it focuses on whether an object has the required methods rather than its type, enabling flexible and reusable code.</a:t>
            </a:r>
          </a:p>
          <a:p>
            <a:pPr fontAlgn="base"/>
            <a:r>
              <a:rPr lang="en-US" b="1" dirty="0"/>
              <a:t>Example:</a:t>
            </a:r>
            <a:r>
              <a:rPr lang="en-US" dirty="0"/>
              <a:t> This code demonstrates polymorphism using duck typing as </a:t>
            </a:r>
            <a:r>
              <a:rPr lang="en-US" dirty="0" err="1"/>
              <a:t>perform_task</a:t>
            </a:r>
            <a:r>
              <a:rPr lang="en-US" dirty="0"/>
              <a:t>() function works with different object types (Pen and Eraser), as long as they have a</a:t>
            </a:r>
            <a:r>
              <a:rPr lang="en-US" b="1" dirty="0"/>
              <a:t> .use()</a:t>
            </a:r>
            <a:r>
              <a:rPr lang="en-US" dirty="0"/>
              <a:t> method showing flexible and reusable function design.</a:t>
            </a:r>
          </a:p>
          <a:p>
            <a:endParaRPr lang="en-US" dirty="0"/>
          </a:p>
        </p:txBody>
      </p:sp>
    </p:spTree>
    <p:extLst>
      <p:ext uri="{BB962C8B-B14F-4D97-AF65-F5344CB8AC3E}">
        <p14:creationId xmlns:p14="http://schemas.microsoft.com/office/powerpoint/2010/main" val="411281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B2810-99BE-334C-E93D-EE6A1546A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89992-7846-2F36-8022-F2F538E046CF}"/>
              </a:ext>
            </a:extLst>
          </p:cNvPr>
          <p:cNvSpPr>
            <a:spLocks noGrp="1"/>
          </p:cNvSpPr>
          <p:nvPr>
            <p:ph type="title"/>
          </p:nvPr>
        </p:nvSpPr>
        <p:spPr/>
        <p:txBody>
          <a:bodyPr/>
          <a:lstStyle/>
          <a:p>
            <a:r>
              <a:rPr lang="en-US" b="1" dirty="0"/>
              <a:t>Polymorphism in Functions</a:t>
            </a:r>
            <a:endParaRPr lang="en-US" dirty="0"/>
          </a:p>
        </p:txBody>
      </p:sp>
      <p:sp>
        <p:nvSpPr>
          <p:cNvPr id="7" name="TextBox 6">
            <a:extLst>
              <a:ext uri="{FF2B5EF4-FFF2-40B4-BE49-F238E27FC236}">
                <a16:creationId xmlns:a16="http://schemas.microsoft.com/office/drawing/2014/main" id="{2AFA8B6C-4FFC-B7C1-2C8E-E14E445955F1}"/>
              </a:ext>
            </a:extLst>
          </p:cNvPr>
          <p:cNvSpPr txBox="1"/>
          <p:nvPr/>
        </p:nvSpPr>
        <p:spPr>
          <a:xfrm>
            <a:off x="1188720" y="1737360"/>
            <a:ext cx="6096000" cy="3693319"/>
          </a:xfrm>
          <a:prstGeom prst="rect">
            <a:avLst/>
          </a:prstGeom>
          <a:noFill/>
        </p:spPr>
        <p:txBody>
          <a:bodyPr wrap="square">
            <a:spAutoFit/>
          </a:bodyPr>
          <a:lstStyle/>
          <a:p>
            <a:r>
              <a:rPr lang="en-US" dirty="0"/>
              <a:t>class Pen:</a:t>
            </a:r>
          </a:p>
          <a:p>
            <a:r>
              <a:rPr lang="en-US" dirty="0"/>
              <a:t>    def use(self):</a:t>
            </a:r>
          </a:p>
          <a:p>
            <a:r>
              <a:rPr lang="en-US" dirty="0"/>
              <a:t>        return "Writing"</a:t>
            </a:r>
          </a:p>
          <a:p>
            <a:endParaRPr lang="en-US" dirty="0"/>
          </a:p>
          <a:p>
            <a:r>
              <a:rPr lang="en-US" dirty="0"/>
              <a:t>class Eraser:</a:t>
            </a:r>
          </a:p>
          <a:p>
            <a:r>
              <a:rPr lang="en-US" dirty="0"/>
              <a:t>    def use(self):</a:t>
            </a:r>
          </a:p>
          <a:p>
            <a:r>
              <a:rPr lang="en-US" dirty="0"/>
              <a:t>        return "Erasing"</a:t>
            </a:r>
          </a:p>
          <a:p>
            <a:endParaRPr lang="en-US" dirty="0"/>
          </a:p>
          <a:p>
            <a:r>
              <a:rPr lang="en-US" dirty="0"/>
              <a:t>def </a:t>
            </a:r>
            <a:r>
              <a:rPr lang="en-US" dirty="0" err="1"/>
              <a:t>perform_task</a:t>
            </a:r>
            <a:r>
              <a:rPr lang="en-US" dirty="0"/>
              <a:t>(tool):</a:t>
            </a:r>
          </a:p>
          <a:p>
            <a:r>
              <a:rPr lang="en-US" dirty="0"/>
              <a:t>    print(</a:t>
            </a:r>
            <a:r>
              <a:rPr lang="en-US" dirty="0" err="1"/>
              <a:t>tool.use</a:t>
            </a:r>
            <a:r>
              <a:rPr lang="en-US" dirty="0"/>
              <a:t>())</a:t>
            </a:r>
          </a:p>
          <a:p>
            <a:endParaRPr lang="en-US" dirty="0"/>
          </a:p>
          <a:p>
            <a:r>
              <a:rPr lang="en-US" dirty="0" err="1"/>
              <a:t>perform_task</a:t>
            </a:r>
            <a:r>
              <a:rPr lang="en-US" dirty="0"/>
              <a:t>(Pen())</a:t>
            </a:r>
          </a:p>
          <a:p>
            <a:r>
              <a:rPr lang="en-US" dirty="0" err="1"/>
              <a:t>perform_task</a:t>
            </a:r>
            <a:r>
              <a:rPr lang="en-US" dirty="0"/>
              <a:t>(Eraser())</a:t>
            </a:r>
          </a:p>
        </p:txBody>
      </p:sp>
      <p:sp>
        <p:nvSpPr>
          <p:cNvPr id="9" name="TextBox 8">
            <a:extLst>
              <a:ext uri="{FF2B5EF4-FFF2-40B4-BE49-F238E27FC236}">
                <a16:creationId xmlns:a16="http://schemas.microsoft.com/office/drawing/2014/main" id="{9DE285F8-9378-B43B-37F0-C3ADFF4C8174}"/>
              </a:ext>
            </a:extLst>
          </p:cNvPr>
          <p:cNvSpPr txBox="1"/>
          <p:nvPr/>
        </p:nvSpPr>
        <p:spPr>
          <a:xfrm>
            <a:off x="5994400" y="1808599"/>
            <a:ext cx="6096000" cy="1025922"/>
          </a:xfrm>
          <a:prstGeom prst="rect">
            <a:avLst/>
          </a:prstGeom>
          <a:noFill/>
        </p:spPr>
        <p:txBody>
          <a:bodyPr wrap="square">
            <a:spAutoFit/>
          </a:bodyPr>
          <a:lstStyle/>
          <a:p>
            <a:pPr>
              <a:buNone/>
            </a:pPr>
            <a:r>
              <a:rPr lang="en-US" b="1" i="0" dirty="0">
                <a:solidFill>
                  <a:srgbClr val="273239"/>
                </a:solidFill>
                <a:effectLst/>
                <a:latin typeface="Nunito" pitchFamily="2" charset="0"/>
              </a:rPr>
              <a:t>Output</a:t>
            </a:r>
            <a:endParaRPr lang="en-US" dirty="0"/>
          </a:p>
          <a:p>
            <a:pPr algn="l" fontAlgn="base">
              <a:spcAft>
                <a:spcPts val="750"/>
              </a:spcAft>
              <a:buNone/>
            </a:pPr>
            <a:r>
              <a:rPr lang="en-US" sz="1800" b="0" i="0" dirty="0">
                <a:effectLst/>
                <a:latin typeface="Consolas" panose="020B0609020204030204" pitchFamily="49" charset="0"/>
              </a:rPr>
              <a:t>Writing</a:t>
            </a:r>
          </a:p>
          <a:p>
            <a:pPr algn="l" fontAlgn="base">
              <a:spcAft>
                <a:spcPts val="750"/>
              </a:spcAft>
              <a:buNone/>
            </a:pPr>
            <a:r>
              <a:rPr lang="en-US" sz="1800" b="0" i="0" dirty="0">
                <a:effectLst/>
                <a:latin typeface="Consolas" panose="020B0609020204030204" pitchFamily="49" charset="0"/>
              </a:rPr>
              <a:t>Erasing</a:t>
            </a:r>
          </a:p>
        </p:txBody>
      </p:sp>
    </p:spTree>
    <p:extLst>
      <p:ext uri="{BB962C8B-B14F-4D97-AF65-F5344CB8AC3E}">
        <p14:creationId xmlns:p14="http://schemas.microsoft.com/office/powerpoint/2010/main" val="4229016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393FA-2E41-C6B7-629F-104F1D779CA7}"/>
              </a:ext>
            </a:extLst>
          </p:cNvPr>
          <p:cNvSpPr>
            <a:spLocks noGrp="1"/>
          </p:cNvSpPr>
          <p:nvPr>
            <p:ph type="title"/>
          </p:nvPr>
        </p:nvSpPr>
        <p:spPr/>
        <p:txBody>
          <a:bodyPr/>
          <a:lstStyle/>
          <a:p>
            <a:r>
              <a:rPr lang="en-US" b="1" dirty="0"/>
              <a:t>Polymorphism in Operators</a:t>
            </a:r>
            <a:endParaRPr lang="en-US" dirty="0"/>
          </a:p>
        </p:txBody>
      </p:sp>
      <p:sp>
        <p:nvSpPr>
          <p:cNvPr id="3" name="Content Placeholder 2">
            <a:extLst>
              <a:ext uri="{FF2B5EF4-FFF2-40B4-BE49-F238E27FC236}">
                <a16:creationId xmlns:a16="http://schemas.microsoft.com/office/drawing/2014/main" id="{34BA5DC9-916F-320B-5369-D0E30602F465}"/>
              </a:ext>
            </a:extLst>
          </p:cNvPr>
          <p:cNvSpPr>
            <a:spLocks noGrp="1"/>
          </p:cNvSpPr>
          <p:nvPr>
            <p:ph idx="1"/>
          </p:nvPr>
        </p:nvSpPr>
        <p:spPr/>
        <p:txBody>
          <a:bodyPr/>
          <a:lstStyle/>
          <a:p>
            <a:pPr fontAlgn="base"/>
            <a:r>
              <a:rPr lang="en-US" dirty="0"/>
              <a:t>Same operator (+) can perform different tasks depending on operand types. This is known as </a:t>
            </a:r>
            <a:r>
              <a:rPr lang="en-US" u="sng" dirty="0"/>
              <a:t>operator overloading</a:t>
            </a:r>
            <a:r>
              <a:rPr lang="en-US" dirty="0"/>
              <a:t>. This flexibility is a key aspect of polymorphism.</a:t>
            </a:r>
          </a:p>
          <a:p>
            <a:pPr fontAlgn="base"/>
            <a:r>
              <a:rPr lang="en-US" b="1" dirty="0"/>
              <a:t>Example:</a:t>
            </a:r>
            <a:r>
              <a:rPr lang="en-US" dirty="0"/>
              <a:t> This code shows operator polymorphism as + operator behaves differently based on data types adding integers, concatenating strings and merging lists all using same operator.</a:t>
            </a:r>
          </a:p>
          <a:p>
            <a:endParaRPr lang="en-US" dirty="0"/>
          </a:p>
        </p:txBody>
      </p:sp>
      <p:sp>
        <p:nvSpPr>
          <p:cNvPr id="7" name="TextBox 6">
            <a:extLst>
              <a:ext uri="{FF2B5EF4-FFF2-40B4-BE49-F238E27FC236}">
                <a16:creationId xmlns:a16="http://schemas.microsoft.com/office/drawing/2014/main" id="{CEB7761B-1521-A012-73B7-CB2BDD4F76E8}"/>
              </a:ext>
            </a:extLst>
          </p:cNvPr>
          <p:cNvSpPr txBox="1"/>
          <p:nvPr/>
        </p:nvSpPr>
        <p:spPr>
          <a:xfrm>
            <a:off x="1036320" y="3395749"/>
            <a:ext cx="6096000" cy="923330"/>
          </a:xfrm>
          <a:prstGeom prst="rect">
            <a:avLst/>
          </a:prstGeom>
          <a:noFill/>
        </p:spPr>
        <p:txBody>
          <a:bodyPr wrap="square">
            <a:spAutoFit/>
          </a:bodyPr>
          <a:lstStyle/>
          <a:p>
            <a:r>
              <a:rPr lang="en-US" dirty="0"/>
              <a:t>print(5 + 10)  # Integer addition</a:t>
            </a:r>
          </a:p>
          <a:p>
            <a:r>
              <a:rPr lang="en-US" dirty="0"/>
              <a:t>print("Hello " + "World!")  # String concatenation</a:t>
            </a:r>
          </a:p>
          <a:p>
            <a:r>
              <a:rPr lang="en-US" dirty="0"/>
              <a:t>print([1, 2] + [3, 4])  # List concatenation</a:t>
            </a:r>
          </a:p>
        </p:txBody>
      </p:sp>
      <p:sp>
        <p:nvSpPr>
          <p:cNvPr id="9" name="TextBox 8">
            <a:extLst>
              <a:ext uri="{FF2B5EF4-FFF2-40B4-BE49-F238E27FC236}">
                <a16:creationId xmlns:a16="http://schemas.microsoft.com/office/drawing/2014/main" id="{E29F273F-E321-BF8A-A170-6AEB505BD626}"/>
              </a:ext>
            </a:extLst>
          </p:cNvPr>
          <p:cNvSpPr txBox="1"/>
          <p:nvPr/>
        </p:nvSpPr>
        <p:spPr>
          <a:xfrm>
            <a:off x="6085840" y="3310860"/>
            <a:ext cx="6096000" cy="2369880"/>
          </a:xfrm>
          <a:prstGeom prst="rect">
            <a:avLst/>
          </a:prstGeom>
          <a:noFill/>
        </p:spPr>
        <p:txBody>
          <a:bodyPr wrap="square">
            <a:spAutoFit/>
          </a:bodyPr>
          <a:lstStyle/>
          <a:p>
            <a:pPr algn="l">
              <a:spcBef>
                <a:spcPts val="750"/>
              </a:spcBef>
              <a:buNone/>
            </a:pP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fontAlgn="base">
              <a:spcBef>
                <a:spcPts val="750"/>
              </a:spcBef>
              <a:spcAft>
                <a:spcPts val="750"/>
              </a:spcAft>
              <a:buNone/>
            </a:pPr>
            <a:r>
              <a:rPr lang="en-US" sz="1800" b="0" i="0" dirty="0">
                <a:solidFill>
                  <a:srgbClr val="273239"/>
                </a:solidFill>
                <a:effectLst/>
                <a:latin typeface="Consolas" panose="020B0609020204030204" pitchFamily="49" charset="0"/>
              </a:rPr>
              <a:t>15</a:t>
            </a:r>
          </a:p>
          <a:p>
            <a:pPr algn="l" fontAlgn="base">
              <a:spcBef>
                <a:spcPts val="750"/>
              </a:spcBef>
              <a:spcAft>
                <a:spcPts val="750"/>
              </a:spcAft>
              <a:buNone/>
            </a:pPr>
            <a:r>
              <a:rPr lang="en-US" sz="1800" b="0" i="0" dirty="0">
                <a:solidFill>
                  <a:srgbClr val="273239"/>
                </a:solidFill>
                <a:effectLst/>
                <a:latin typeface="Consolas" panose="020B0609020204030204" pitchFamily="49" charset="0"/>
              </a:rPr>
              <a:t>Hello World!</a:t>
            </a:r>
          </a:p>
          <a:p>
            <a:pPr algn="l" fontAlgn="base">
              <a:spcBef>
                <a:spcPts val="750"/>
              </a:spcBef>
              <a:spcAft>
                <a:spcPts val="750"/>
              </a:spcAft>
              <a:buNone/>
            </a:pPr>
            <a:r>
              <a:rPr lang="en-US" sz="1800" b="0" i="0" dirty="0">
                <a:solidFill>
                  <a:srgbClr val="273239"/>
                </a:solidFill>
                <a:effectLst/>
                <a:latin typeface="Consolas" panose="020B0609020204030204" pitchFamily="49" charset="0"/>
              </a:rPr>
              <a:t>[1, 2, 3, 4]</a:t>
            </a:r>
          </a:p>
          <a:p>
            <a:pPr>
              <a:buNone/>
            </a:pPr>
            <a:br>
              <a:rPr lang="en-US" dirty="0"/>
            </a:br>
            <a:endParaRPr lang="en-US" dirty="0"/>
          </a:p>
        </p:txBody>
      </p:sp>
    </p:spTree>
    <p:extLst>
      <p:ext uri="{BB962C8B-B14F-4D97-AF65-F5344CB8AC3E}">
        <p14:creationId xmlns:p14="http://schemas.microsoft.com/office/powerpoint/2010/main" val="2879954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CD574-218B-18BB-94A3-13597E916E0C}"/>
              </a:ext>
            </a:extLst>
          </p:cNvPr>
          <p:cNvSpPr>
            <a:spLocks noGrp="1"/>
          </p:cNvSpPr>
          <p:nvPr>
            <p:ph type="title"/>
          </p:nvPr>
        </p:nvSpPr>
        <p:spPr/>
        <p:txBody>
          <a:bodyPr/>
          <a:lstStyle/>
          <a:p>
            <a:r>
              <a:rPr lang="en-US" b="1" dirty="0"/>
              <a:t>Duck Typing in Python</a:t>
            </a:r>
            <a:endParaRPr lang="en-US" dirty="0"/>
          </a:p>
        </p:txBody>
      </p:sp>
      <p:sp>
        <p:nvSpPr>
          <p:cNvPr id="3" name="Content Placeholder 2">
            <a:extLst>
              <a:ext uri="{FF2B5EF4-FFF2-40B4-BE49-F238E27FC236}">
                <a16:creationId xmlns:a16="http://schemas.microsoft.com/office/drawing/2014/main" id="{95D815BA-6EB6-59C2-B97D-62A169B41B5B}"/>
              </a:ext>
            </a:extLst>
          </p:cNvPr>
          <p:cNvSpPr>
            <a:spLocks noGrp="1"/>
          </p:cNvSpPr>
          <p:nvPr>
            <p:ph idx="1"/>
          </p:nvPr>
        </p:nvSpPr>
        <p:spPr/>
        <p:txBody>
          <a:bodyPr/>
          <a:lstStyle/>
          <a:p>
            <a:r>
              <a:rPr lang="en-US" b="1" dirty="0"/>
              <a:t>Duck Typing</a:t>
            </a:r>
            <a:r>
              <a:rPr lang="en-US" dirty="0"/>
              <a:t> is a </a:t>
            </a:r>
            <a:r>
              <a:rPr lang="en-US" u="sng" dirty="0"/>
              <a:t>type system</a:t>
            </a:r>
            <a:r>
              <a:rPr lang="en-US" dirty="0"/>
              <a:t> used in dynamic languages. For example, Python, Perl, Ruby, PHP, </a:t>
            </a:r>
            <a:r>
              <a:rPr lang="en-US" dirty="0" err="1"/>
              <a:t>Javascript</a:t>
            </a:r>
            <a:r>
              <a:rPr lang="en-US" dirty="0"/>
              <a:t>, etc. where the type or the class of an object is less important than the method it defines. Using Duck Typing, we do not check types at all. Instead, we check for the presence of a given method or attribute. The name Duck Typing comes from the phrase:</a:t>
            </a:r>
          </a:p>
          <a:p>
            <a:pPr fontAlgn="base"/>
            <a:r>
              <a:rPr lang="en-US" i="1" dirty="0"/>
              <a:t>"If it looks like a duck and quacks like a duck, it's a duck"</a:t>
            </a:r>
          </a:p>
          <a:p>
            <a:endParaRPr lang="en-US" dirty="0"/>
          </a:p>
        </p:txBody>
      </p:sp>
      <p:sp>
        <p:nvSpPr>
          <p:cNvPr id="5" name="TextBox 4">
            <a:extLst>
              <a:ext uri="{FF2B5EF4-FFF2-40B4-BE49-F238E27FC236}">
                <a16:creationId xmlns:a16="http://schemas.microsoft.com/office/drawing/2014/main" id="{3891E8E9-45D7-1733-DEC0-093E010BA7A2}"/>
              </a:ext>
            </a:extLst>
          </p:cNvPr>
          <p:cNvSpPr txBox="1"/>
          <p:nvPr/>
        </p:nvSpPr>
        <p:spPr>
          <a:xfrm>
            <a:off x="1097280" y="3429000"/>
            <a:ext cx="6278880" cy="2800767"/>
          </a:xfrm>
          <a:prstGeom prst="rect">
            <a:avLst/>
          </a:prstGeom>
          <a:noFill/>
        </p:spPr>
        <p:txBody>
          <a:bodyPr wrap="square">
            <a:spAutoFit/>
          </a:bodyPr>
          <a:lstStyle/>
          <a:p>
            <a:pPr>
              <a:buNone/>
            </a:pPr>
            <a:r>
              <a:rPr lang="en-US" sz="1600" b="1" i="0" dirty="0">
                <a:solidFill>
                  <a:srgbClr val="273239"/>
                </a:solidFill>
                <a:effectLst/>
                <a:latin typeface="Nunito" pitchFamily="2" charset="0"/>
              </a:rPr>
              <a:t>Example:</a:t>
            </a:r>
            <a:endParaRPr lang="en-US" sz="1600" dirty="0"/>
          </a:p>
          <a:p>
            <a:pPr algn="l" fontAlgn="base">
              <a:buNone/>
            </a:pPr>
            <a:r>
              <a:rPr lang="en-US" sz="1600" i="1" dirty="0">
                <a:solidFill>
                  <a:srgbClr val="3D7B7B"/>
                </a:solidFill>
                <a:effectLst/>
                <a:latin typeface="Consolas" panose="020B0609020204030204" pitchFamily="49" charset="0"/>
              </a:rPr>
              <a:t># Python program to demonstrate</a:t>
            </a:r>
            <a:endParaRPr lang="en-US" sz="1600" dirty="0">
              <a:effectLst/>
              <a:latin typeface="Consolas" panose="020B0609020204030204" pitchFamily="49" charset="0"/>
            </a:endParaRPr>
          </a:p>
          <a:p>
            <a:pPr algn="l" fontAlgn="base">
              <a:buNone/>
            </a:pPr>
            <a:r>
              <a:rPr lang="en-US" sz="1600" i="1" dirty="0">
                <a:solidFill>
                  <a:srgbClr val="3D7B7B"/>
                </a:solidFill>
                <a:effectLst/>
                <a:latin typeface="Consolas" panose="020B0609020204030204" pitchFamily="49" charset="0"/>
              </a:rPr>
              <a:t># duck typing</a:t>
            </a:r>
            <a:endParaRPr lang="en-US" sz="1600" dirty="0">
              <a:effectLst/>
              <a:latin typeface="Consolas" panose="020B0609020204030204" pitchFamily="49" charset="0"/>
            </a:endParaRPr>
          </a:p>
          <a:p>
            <a:pPr algn="l" fontAlgn="base">
              <a:buNone/>
            </a:pPr>
            <a:r>
              <a:rPr lang="en-US" sz="1600" b="1" dirty="0">
                <a:solidFill>
                  <a:srgbClr val="008000"/>
                </a:solidFill>
                <a:effectLst/>
                <a:latin typeface="Consolas" panose="020B0609020204030204" pitchFamily="49" charset="0"/>
              </a:rPr>
              <a:t>class</a:t>
            </a:r>
            <a:r>
              <a:rPr lang="en-US" sz="1600" dirty="0">
                <a:effectLst/>
                <a:latin typeface="Consolas" panose="020B0609020204030204" pitchFamily="49" charset="0"/>
              </a:rPr>
              <a:t> </a:t>
            </a:r>
            <a:r>
              <a:rPr lang="en-US" sz="1600" dirty="0" err="1">
                <a:effectLst/>
                <a:latin typeface="Consolas" panose="020B0609020204030204" pitchFamily="49" charset="0"/>
              </a:rPr>
              <a:t>Specialstring</a:t>
            </a:r>
            <a:r>
              <a:rPr lang="en-US" sz="1600" dirty="0">
                <a:effectLst/>
                <a:latin typeface="Consolas" panose="020B0609020204030204" pitchFamily="49" charset="0"/>
              </a:rPr>
              <a:t>:</a:t>
            </a:r>
          </a:p>
          <a:p>
            <a:pPr algn="l" fontAlgn="base">
              <a:buNone/>
            </a:pPr>
            <a:r>
              <a:rPr lang="en-US" sz="1600" dirty="0">
                <a:effectLst/>
                <a:latin typeface="Consolas" panose="020B0609020204030204" pitchFamily="49" charset="0"/>
              </a:rPr>
              <a:t>    def __</a:t>
            </a:r>
            <a:r>
              <a:rPr lang="en-US" sz="1600" dirty="0" err="1">
                <a:effectLst/>
                <a:latin typeface="Consolas" panose="020B0609020204030204" pitchFamily="49" charset="0"/>
              </a:rPr>
              <a:t>len</a:t>
            </a:r>
            <a:r>
              <a:rPr lang="en-US" sz="1600" dirty="0">
                <a:effectLst/>
                <a:latin typeface="Consolas" panose="020B0609020204030204" pitchFamily="49" charset="0"/>
              </a:rPr>
              <a:t>__(</a:t>
            </a:r>
            <a:r>
              <a:rPr lang="en-US" sz="1600" dirty="0">
                <a:solidFill>
                  <a:srgbClr val="008000"/>
                </a:solidFill>
                <a:effectLst/>
                <a:latin typeface="Consolas" panose="020B0609020204030204" pitchFamily="49" charset="0"/>
              </a:rPr>
              <a:t>self</a:t>
            </a:r>
            <a:r>
              <a:rPr lang="en-US" sz="1600" dirty="0">
                <a:effectLst/>
                <a:latin typeface="Consolas" panose="020B0609020204030204" pitchFamily="49" charset="0"/>
              </a:rPr>
              <a:t>):</a:t>
            </a:r>
          </a:p>
          <a:p>
            <a:pPr algn="l" fontAlgn="base">
              <a:buNone/>
            </a:pPr>
            <a:r>
              <a:rPr lang="en-US" sz="1600" dirty="0">
                <a:effectLst/>
                <a:latin typeface="Consolas" panose="020B0609020204030204" pitchFamily="49" charset="0"/>
              </a:rPr>
              <a:t>        </a:t>
            </a:r>
            <a:r>
              <a:rPr lang="en-US" sz="1600" b="1" dirty="0">
                <a:solidFill>
                  <a:srgbClr val="008000"/>
                </a:solidFill>
                <a:effectLst/>
                <a:latin typeface="Consolas" panose="020B0609020204030204" pitchFamily="49" charset="0"/>
              </a:rPr>
              <a:t>return</a:t>
            </a:r>
            <a:r>
              <a:rPr lang="en-US" sz="1600" dirty="0">
                <a:effectLst/>
                <a:latin typeface="Consolas" panose="020B0609020204030204" pitchFamily="49" charset="0"/>
              </a:rPr>
              <a:t> </a:t>
            </a:r>
            <a:r>
              <a:rPr lang="en-US" sz="1600" dirty="0">
                <a:solidFill>
                  <a:srgbClr val="666666"/>
                </a:solidFill>
                <a:effectLst/>
                <a:latin typeface="Consolas" panose="020B0609020204030204" pitchFamily="49" charset="0"/>
              </a:rPr>
              <a:t>21</a:t>
            </a:r>
            <a:endParaRPr lang="en-US" sz="1600" dirty="0">
              <a:effectLst/>
              <a:latin typeface="Consolas" panose="020B0609020204030204" pitchFamily="49" charset="0"/>
            </a:endParaRPr>
          </a:p>
          <a:p>
            <a:pPr algn="l" fontAlgn="base">
              <a:buNone/>
            </a:pPr>
            <a:r>
              <a:rPr lang="en-US" sz="1600" i="1" dirty="0">
                <a:solidFill>
                  <a:srgbClr val="3D7B7B"/>
                </a:solidFill>
                <a:effectLst/>
                <a:latin typeface="Consolas" panose="020B0609020204030204" pitchFamily="49" charset="0"/>
              </a:rPr>
              <a:t># Driver's code</a:t>
            </a:r>
            <a:endParaRPr lang="en-US" sz="1600" dirty="0">
              <a:effectLst/>
              <a:latin typeface="Consolas" panose="020B0609020204030204" pitchFamily="49" charset="0"/>
            </a:endParaRPr>
          </a:p>
          <a:p>
            <a:pPr algn="l" fontAlgn="base">
              <a:buNone/>
            </a:pPr>
            <a:r>
              <a:rPr lang="en-US" sz="1600" b="1" dirty="0">
                <a:solidFill>
                  <a:srgbClr val="008000"/>
                </a:solidFill>
                <a:effectLst/>
                <a:latin typeface="Consolas" panose="020B0609020204030204" pitchFamily="49" charset="0"/>
              </a:rPr>
              <a:t>if</a:t>
            </a:r>
            <a:r>
              <a:rPr lang="en-US" sz="1600" dirty="0">
                <a:effectLst/>
                <a:latin typeface="Consolas" panose="020B0609020204030204" pitchFamily="49" charset="0"/>
              </a:rPr>
              <a:t> __name__ == </a:t>
            </a:r>
            <a:r>
              <a:rPr lang="en-US" sz="1600" dirty="0">
                <a:solidFill>
                  <a:srgbClr val="BA2121"/>
                </a:solidFill>
                <a:effectLst/>
                <a:latin typeface="Consolas" panose="020B0609020204030204" pitchFamily="49" charset="0"/>
              </a:rPr>
              <a:t>"__main__"</a:t>
            </a:r>
            <a:r>
              <a:rPr lang="en-US" sz="1600" dirty="0">
                <a:effectLst/>
                <a:latin typeface="Consolas" panose="020B0609020204030204" pitchFamily="49" charset="0"/>
              </a:rPr>
              <a:t>:</a:t>
            </a:r>
          </a:p>
          <a:p>
            <a:pPr algn="l" fontAlgn="base">
              <a:buNone/>
            </a:pPr>
            <a:endParaRPr lang="en-US" sz="1600" dirty="0">
              <a:effectLst/>
              <a:latin typeface="Consolas" panose="020B0609020204030204" pitchFamily="49" charset="0"/>
            </a:endParaRPr>
          </a:p>
          <a:p>
            <a:pPr algn="l" fontAlgn="base">
              <a:buNone/>
            </a:pPr>
            <a:r>
              <a:rPr lang="en-US" sz="1600" dirty="0">
                <a:effectLst/>
                <a:latin typeface="Consolas" panose="020B0609020204030204" pitchFamily="49" charset="0"/>
              </a:rPr>
              <a:t>    string = </a:t>
            </a:r>
            <a:r>
              <a:rPr lang="en-US" sz="1600" dirty="0" err="1">
                <a:effectLst/>
                <a:latin typeface="Consolas" panose="020B0609020204030204" pitchFamily="49" charset="0"/>
              </a:rPr>
              <a:t>Specialstring</a:t>
            </a:r>
            <a:r>
              <a:rPr lang="en-US" sz="1600" dirty="0">
                <a:effectLst/>
                <a:latin typeface="Consolas" panose="020B0609020204030204" pitchFamily="49" charset="0"/>
              </a:rPr>
              <a:t>()</a:t>
            </a:r>
          </a:p>
          <a:p>
            <a:pPr algn="l" fontAlgn="base">
              <a:buNone/>
            </a:pPr>
            <a:r>
              <a:rPr lang="en-US" sz="1600" dirty="0">
                <a:effectLst/>
                <a:latin typeface="Consolas" panose="020B0609020204030204" pitchFamily="49" charset="0"/>
              </a:rPr>
              <a:t>    </a:t>
            </a:r>
            <a:r>
              <a:rPr lang="en-US" sz="1600" dirty="0">
                <a:solidFill>
                  <a:srgbClr val="008000"/>
                </a:solidFill>
                <a:effectLst/>
                <a:latin typeface="Consolas" panose="020B0609020204030204" pitchFamily="49" charset="0"/>
              </a:rPr>
              <a:t>print</a:t>
            </a:r>
            <a:r>
              <a:rPr lang="en-US" sz="1600" dirty="0">
                <a:effectLst/>
                <a:latin typeface="Consolas" panose="020B0609020204030204" pitchFamily="49" charset="0"/>
              </a:rPr>
              <a:t>(</a:t>
            </a:r>
            <a:r>
              <a:rPr lang="en-US" sz="1600" dirty="0" err="1">
                <a:effectLst/>
                <a:latin typeface="Consolas" panose="020B0609020204030204" pitchFamily="49" charset="0"/>
              </a:rPr>
              <a:t>len</a:t>
            </a:r>
            <a:r>
              <a:rPr lang="en-US" sz="1600" dirty="0">
                <a:effectLst/>
                <a:latin typeface="Consolas" panose="020B0609020204030204" pitchFamily="49" charset="0"/>
              </a:rPr>
              <a:t>(string))</a:t>
            </a:r>
          </a:p>
        </p:txBody>
      </p:sp>
      <p:sp>
        <p:nvSpPr>
          <p:cNvPr id="7" name="TextBox 6">
            <a:extLst>
              <a:ext uri="{FF2B5EF4-FFF2-40B4-BE49-F238E27FC236}">
                <a16:creationId xmlns:a16="http://schemas.microsoft.com/office/drawing/2014/main" id="{9DFCB079-F65A-B963-BB8C-E1BCEE93CFD9}"/>
              </a:ext>
            </a:extLst>
          </p:cNvPr>
          <p:cNvSpPr txBox="1"/>
          <p:nvPr/>
        </p:nvSpPr>
        <p:spPr>
          <a:xfrm>
            <a:off x="6167120" y="3580415"/>
            <a:ext cx="6096000" cy="615553"/>
          </a:xfrm>
          <a:prstGeom prst="rect">
            <a:avLst/>
          </a:prstGeom>
          <a:noFill/>
        </p:spPr>
        <p:txBody>
          <a:bodyPr wrap="square">
            <a:spAutoFit/>
          </a:bodyPr>
          <a:lstStyle/>
          <a:p>
            <a:pPr>
              <a:buNone/>
            </a:pPr>
            <a:r>
              <a:rPr lang="en-US" b="1" i="0" dirty="0">
                <a:solidFill>
                  <a:srgbClr val="273239"/>
                </a:solidFill>
                <a:effectLst/>
                <a:latin typeface="Nunito" pitchFamily="2" charset="0"/>
              </a:rPr>
              <a:t>Output:</a:t>
            </a:r>
            <a:endParaRPr lang="en-US" dirty="0"/>
          </a:p>
          <a:p>
            <a:pPr algn="l" fontAlgn="base">
              <a:spcAft>
                <a:spcPts val="750"/>
              </a:spcAft>
              <a:buNone/>
            </a:pPr>
            <a:r>
              <a:rPr lang="en-US" sz="1600" b="0" i="0" dirty="0">
                <a:effectLst/>
                <a:latin typeface="Consolas" panose="020B0609020204030204" pitchFamily="49" charset="0"/>
              </a:rPr>
              <a:t>21</a:t>
            </a:r>
          </a:p>
        </p:txBody>
      </p:sp>
    </p:spTree>
    <p:extLst>
      <p:ext uri="{BB962C8B-B14F-4D97-AF65-F5344CB8AC3E}">
        <p14:creationId xmlns:p14="http://schemas.microsoft.com/office/powerpoint/2010/main" val="2015441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919F-A56B-1265-40A7-4BD02C56C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113F5-4B3E-CBDB-D2AB-46FFAC684295}"/>
              </a:ext>
            </a:extLst>
          </p:cNvPr>
          <p:cNvSpPr>
            <a:spLocks noGrp="1"/>
          </p:cNvSpPr>
          <p:nvPr>
            <p:ph type="title"/>
          </p:nvPr>
        </p:nvSpPr>
        <p:spPr/>
        <p:txBody>
          <a:bodyPr/>
          <a:lstStyle/>
          <a:p>
            <a:r>
              <a:rPr lang="en-US" b="1" dirty="0"/>
              <a:t>Duck Typing in Python</a:t>
            </a:r>
            <a:endParaRPr lang="en-US" dirty="0"/>
          </a:p>
        </p:txBody>
      </p:sp>
      <p:sp>
        <p:nvSpPr>
          <p:cNvPr id="9" name="TextBox 8">
            <a:extLst>
              <a:ext uri="{FF2B5EF4-FFF2-40B4-BE49-F238E27FC236}">
                <a16:creationId xmlns:a16="http://schemas.microsoft.com/office/drawing/2014/main" id="{B828F153-E816-9CB8-5087-D68970A7743F}"/>
              </a:ext>
            </a:extLst>
          </p:cNvPr>
          <p:cNvSpPr txBox="1"/>
          <p:nvPr/>
        </p:nvSpPr>
        <p:spPr>
          <a:xfrm>
            <a:off x="1097280" y="1852920"/>
            <a:ext cx="10373360" cy="2585323"/>
          </a:xfrm>
          <a:prstGeom prst="rect">
            <a:avLst/>
          </a:prstGeom>
          <a:noFill/>
        </p:spPr>
        <p:txBody>
          <a:bodyPr wrap="square">
            <a:spAutoFit/>
          </a:bodyPr>
          <a:lstStyle/>
          <a:p>
            <a:r>
              <a:rPr lang="en-US" b="0" i="0" dirty="0">
                <a:solidFill>
                  <a:srgbClr val="273239"/>
                </a:solidFill>
                <a:effectLst/>
                <a:latin typeface="Nunito" pitchFamily="2" charset="0"/>
              </a:rPr>
              <a:t>In this case, we call method </a:t>
            </a:r>
            <a:r>
              <a:rPr lang="en-US" b="0" i="0" dirty="0" err="1">
                <a:solidFill>
                  <a:srgbClr val="273239"/>
                </a:solidFill>
                <a:effectLst/>
                <a:latin typeface="Nunito" pitchFamily="2" charset="0"/>
              </a:rPr>
              <a:t>len</a:t>
            </a:r>
            <a:r>
              <a:rPr lang="en-US" b="0" i="0" dirty="0">
                <a:solidFill>
                  <a:srgbClr val="273239"/>
                </a:solidFill>
                <a:effectLst/>
                <a:latin typeface="Nunito" pitchFamily="2" charset="0"/>
              </a:rPr>
              <a:t>() gives the return value from __</a:t>
            </a:r>
            <a:r>
              <a:rPr lang="en-US" b="0" i="0" dirty="0" err="1">
                <a:solidFill>
                  <a:srgbClr val="273239"/>
                </a:solidFill>
                <a:effectLst/>
                <a:latin typeface="Nunito" pitchFamily="2" charset="0"/>
              </a:rPr>
              <a:t>len</a:t>
            </a:r>
            <a:r>
              <a:rPr lang="en-US" b="0" i="0" dirty="0">
                <a:solidFill>
                  <a:srgbClr val="273239"/>
                </a:solidFill>
                <a:effectLst/>
                <a:latin typeface="Nunito" pitchFamily="2" charset="0"/>
              </a:rPr>
              <a:t>__ method. Here __</a:t>
            </a:r>
            <a:r>
              <a:rPr lang="en-US" b="0" i="0" dirty="0" err="1">
                <a:solidFill>
                  <a:srgbClr val="273239"/>
                </a:solidFill>
                <a:effectLst/>
                <a:latin typeface="Nunito" pitchFamily="2" charset="0"/>
              </a:rPr>
              <a:t>len</a:t>
            </a:r>
            <a:r>
              <a:rPr lang="en-US" b="0" i="0" dirty="0">
                <a:solidFill>
                  <a:srgbClr val="273239"/>
                </a:solidFill>
                <a:effectLst/>
                <a:latin typeface="Nunito" pitchFamily="2" charset="0"/>
              </a:rPr>
              <a:t>__ method defines the property of the class </a:t>
            </a:r>
            <a:r>
              <a:rPr lang="en-US" b="0" i="0" dirty="0" err="1">
                <a:solidFill>
                  <a:srgbClr val="273239"/>
                </a:solidFill>
                <a:effectLst/>
                <a:latin typeface="Nunito" pitchFamily="2" charset="0"/>
              </a:rPr>
              <a:t>Specialstring</a:t>
            </a:r>
            <a:r>
              <a:rPr lang="en-US" b="0" i="0" dirty="0">
                <a:solidFill>
                  <a:srgbClr val="273239"/>
                </a:solidFill>
                <a:effectLst/>
                <a:latin typeface="Nunito" pitchFamily="2" charset="0"/>
              </a:rPr>
              <a:t> The object's type itself is not significant in this we do not declare the argument in method prototypes. This means that compilers can not do type-checking. Therefore, what really matters is if the object has particular attributes at run time. Duck typing is hence implemented by dynamic languages. But now some of the static languages like Haskell also supports it. But, Java/C# doesn't have this ability yet.</a:t>
            </a:r>
          </a:p>
          <a:p>
            <a:endParaRPr lang="en-US" dirty="0">
              <a:solidFill>
                <a:srgbClr val="273239"/>
              </a:solidFill>
              <a:latin typeface="Nunito" pitchFamily="2" charset="0"/>
            </a:endParaRPr>
          </a:p>
          <a:p>
            <a:r>
              <a:rPr lang="en-US" b="0" i="0" dirty="0">
                <a:solidFill>
                  <a:srgbClr val="273239"/>
                </a:solidFill>
                <a:effectLst/>
                <a:latin typeface="Nunito" pitchFamily="2" charset="0"/>
              </a:rPr>
              <a:t> </a:t>
            </a:r>
            <a:r>
              <a:rPr lang="en-US" b="1" i="0" dirty="0">
                <a:solidFill>
                  <a:srgbClr val="273239"/>
                </a:solidFill>
                <a:effectLst/>
                <a:latin typeface="Nunito" pitchFamily="2" charset="0"/>
              </a:rPr>
              <a:t>Example:</a:t>
            </a:r>
            <a:r>
              <a:rPr lang="en-US" b="0" i="0" dirty="0">
                <a:solidFill>
                  <a:srgbClr val="273239"/>
                </a:solidFill>
                <a:effectLst/>
                <a:latin typeface="Nunito" pitchFamily="2" charset="0"/>
              </a:rPr>
              <a:t> Now, lets look demonstrates how an object be used in any other circumstances until it is not supported.</a:t>
            </a:r>
            <a:endParaRPr lang="en-US" dirty="0"/>
          </a:p>
        </p:txBody>
      </p:sp>
    </p:spTree>
    <p:extLst>
      <p:ext uri="{BB962C8B-B14F-4D97-AF65-F5344CB8AC3E}">
        <p14:creationId xmlns:p14="http://schemas.microsoft.com/office/powerpoint/2010/main" val="2977583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B3F39-3237-D511-0274-DF2F01F72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4968F-BF56-724B-8784-6D0FB61202B4}"/>
              </a:ext>
            </a:extLst>
          </p:cNvPr>
          <p:cNvSpPr>
            <a:spLocks noGrp="1"/>
          </p:cNvSpPr>
          <p:nvPr>
            <p:ph type="title"/>
          </p:nvPr>
        </p:nvSpPr>
        <p:spPr/>
        <p:txBody>
          <a:bodyPr/>
          <a:lstStyle/>
          <a:p>
            <a:r>
              <a:rPr lang="en-US" b="1" dirty="0"/>
              <a:t>Duck Typing in Python</a:t>
            </a:r>
            <a:endParaRPr lang="en-US" dirty="0"/>
          </a:p>
        </p:txBody>
      </p:sp>
      <p:sp>
        <p:nvSpPr>
          <p:cNvPr id="4" name="TextBox 3">
            <a:extLst>
              <a:ext uri="{FF2B5EF4-FFF2-40B4-BE49-F238E27FC236}">
                <a16:creationId xmlns:a16="http://schemas.microsoft.com/office/drawing/2014/main" id="{F5938E68-F09E-2D71-57D1-AFBAA3D3994D}"/>
              </a:ext>
            </a:extLst>
          </p:cNvPr>
          <p:cNvSpPr txBox="1"/>
          <p:nvPr/>
        </p:nvSpPr>
        <p:spPr>
          <a:xfrm>
            <a:off x="934720" y="1811725"/>
            <a:ext cx="6096000" cy="4524315"/>
          </a:xfrm>
          <a:prstGeom prst="rect">
            <a:avLst/>
          </a:prstGeom>
          <a:noFill/>
        </p:spPr>
        <p:txBody>
          <a:bodyPr wrap="square">
            <a:spAutoFit/>
          </a:bodyPr>
          <a:lstStyle/>
          <a:p>
            <a:r>
              <a:rPr lang="en-US" dirty="0"/>
              <a:t># Python program to demonstrate</a:t>
            </a:r>
          </a:p>
          <a:p>
            <a:r>
              <a:rPr lang="en-US" dirty="0"/>
              <a:t># duck typing</a:t>
            </a:r>
          </a:p>
          <a:p>
            <a:r>
              <a:rPr lang="en-US" dirty="0"/>
              <a:t>class Bird:</a:t>
            </a:r>
          </a:p>
          <a:p>
            <a:r>
              <a:rPr lang="en-US" dirty="0"/>
              <a:t>    def fly(self):</a:t>
            </a:r>
          </a:p>
          <a:p>
            <a:r>
              <a:rPr lang="en-US" dirty="0"/>
              <a:t>        print("fly with wings")</a:t>
            </a:r>
          </a:p>
          <a:p>
            <a:endParaRPr lang="en-US" dirty="0"/>
          </a:p>
          <a:p>
            <a:r>
              <a:rPr lang="en-US" dirty="0"/>
              <a:t>class Airplane:</a:t>
            </a:r>
          </a:p>
          <a:p>
            <a:r>
              <a:rPr lang="en-US" dirty="0"/>
              <a:t>    def fly(self):</a:t>
            </a:r>
          </a:p>
          <a:p>
            <a:r>
              <a:rPr lang="en-US" dirty="0"/>
              <a:t>        print("fly with fuel")</a:t>
            </a:r>
          </a:p>
          <a:p>
            <a:r>
              <a:rPr lang="en-US" dirty="0"/>
              <a:t>class Fish:</a:t>
            </a:r>
          </a:p>
          <a:p>
            <a:r>
              <a:rPr lang="en-US" dirty="0"/>
              <a:t>    def swim(self):</a:t>
            </a:r>
          </a:p>
          <a:p>
            <a:r>
              <a:rPr lang="en-US" dirty="0"/>
              <a:t>        print("fish swim in sea")</a:t>
            </a:r>
          </a:p>
          <a:p>
            <a:r>
              <a:rPr lang="en-US" dirty="0"/>
              <a:t># Attributes having same name are</a:t>
            </a:r>
          </a:p>
          <a:p>
            <a:r>
              <a:rPr lang="en-US" dirty="0"/>
              <a:t># considered as duck typing</a:t>
            </a:r>
          </a:p>
          <a:p>
            <a:r>
              <a:rPr lang="en-US" dirty="0"/>
              <a:t>for obj in Bird(), Airplane(), Fish():</a:t>
            </a:r>
          </a:p>
          <a:p>
            <a:r>
              <a:rPr lang="en-US" dirty="0"/>
              <a:t>    </a:t>
            </a:r>
            <a:r>
              <a:rPr lang="en-US" dirty="0" err="1"/>
              <a:t>obj.fly</a:t>
            </a:r>
            <a:r>
              <a:rPr lang="en-US" dirty="0"/>
              <a:t>()</a:t>
            </a:r>
          </a:p>
        </p:txBody>
      </p:sp>
      <p:sp>
        <p:nvSpPr>
          <p:cNvPr id="8" name="TextBox 7">
            <a:extLst>
              <a:ext uri="{FF2B5EF4-FFF2-40B4-BE49-F238E27FC236}">
                <a16:creationId xmlns:a16="http://schemas.microsoft.com/office/drawing/2014/main" id="{E1C07217-339C-6F71-DFD4-FE7135641C96}"/>
              </a:ext>
            </a:extLst>
          </p:cNvPr>
          <p:cNvSpPr txBox="1"/>
          <p:nvPr/>
        </p:nvSpPr>
        <p:spPr>
          <a:xfrm>
            <a:off x="5273040" y="2143522"/>
            <a:ext cx="6096000" cy="3662541"/>
          </a:xfrm>
          <a:prstGeom prst="rect">
            <a:avLst/>
          </a:prstGeom>
          <a:noFill/>
        </p:spPr>
        <p:txBody>
          <a:bodyPr wrap="square">
            <a:spAutoFit/>
          </a:bodyPr>
          <a:lstStyle/>
          <a:p>
            <a:pPr>
              <a:buNone/>
            </a:pPr>
            <a:r>
              <a:rPr lang="en-US" sz="1600" b="1" i="0" dirty="0">
                <a:solidFill>
                  <a:srgbClr val="273239"/>
                </a:solidFill>
                <a:effectLst/>
                <a:latin typeface="Nunito" pitchFamily="2" charset="0"/>
              </a:rPr>
              <a:t>Output:</a:t>
            </a:r>
            <a:endParaRPr lang="en-US" sz="1600" dirty="0"/>
          </a:p>
          <a:p>
            <a:pPr algn="l" fontAlgn="base">
              <a:spcAft>
                <a:spcPts val="750"/>
              </a:spcAft>
              <a:buNone/>
            </a:pPr>
            <a:r>
              <a:rPr lang="en-US" sz="1600" b="0" i="0" dirty="0">
                <a:effectLst/>
                <a:latin typeface="Consolas" panose="020B0609020204030204" pitchFamily="49" charset="0"/>
              </a:rPr>
              <a:t>fly with wings</a:t>
            </a:r>
          </a:p>
          <a:p>
            <a:pPr algn="l" fontAlgn="base">
              <a:spcAft>
                <a:spcPts val="750"/>
              </a:spcAft>
              <a:buNone/>
            </a:pPr>
            <a:r>
              <a:rPr lang="en-US" sz="1600" b="0" i="0" dirty="0">
                <a:effectLst/>
                <a:latin typeface="Consolas" panose="020B0609020204030204" pitchFamily="49" charset="0"/>
              </a:rPr>
              <a:t>fly with fuel</a:t>
            </a:r>
          </a:p>
          <a:p>
            <a:pPr algn="l" fontAlgn="base">
              <a:spcAft>
                <a:spcPts val="750"/>
              </a:spcAft>
              <a:buNone/>
            </a:pPr>
            <a:r>
              <a:rPr lang="en-US" sz="1600" b="0" i="0" dirty="0">
                <a:effectLst/>
                <a:latin typeface="Consolas" panose="020B0609020204030204" pitchFamily="49" charset="0"/>
              </a:rPr>
              <a:t>Traceback (most recent call last):</a:t>
            </a:r>
          </a:p>
          <a:p>
            <a:pPr algn="l" fontAlgn="base">
              <a:spcAft>
                <a:spcPts val="750"/>
              </a:spcAft>
              <a:buNone/>
            </a:pPr>
            <a:r>
              <a:rPr lang="en-US" sz="1600" b="0" i="0" dirty="0">
                <a:effectLst/>
                <a:latin typeface="Consolas" panose="020B0609020204030204" pitchFamily="49" charset="0"/>
              </a:rPr>
              <a:t>  File "/home/854855e5570b9ce4a9e984209b6a1c21.py", line 20, in </a:t>
            </a:r>
          </a:p>
          <a:p>
            <a:pPr algn="l" fontAlgn="base">
              <a:spcAft>
                <a:spcPts val="750"/>
              </a:spcAft>
              <a:buNone/>
            </a:pPr>
            <a:r>
              <a:rPr lang="en-US" sz="1600" b="0" i="0" dirty="0">
                <a:effectLst/>
                <a:latin typeface="Consolas" panose="020B0609020204030204" pitchFamily="49" charset="0"/>
              </a:rPr>
              <a:t>    </a:t>
            </a:r>
            <a:r>
              <a:rPr lang="en-US" sz="1600" b="0" i="0" dirty="0" err="1">
                <a:effectLst/>
                <a:latin typeface="Consolas" panose="020B0609020204030204" pitchFamily="49" charset="0"/>
              </a:rPr>
              <a:t>obj.fly</a:t>
            </a:r>
            <a:r>
              <a:rPr lang="en-US" sz="1600" b="0" i="0" dirty="0">
                <a:effectLst/>
                <a:latin typeface="Consolas" panose="020B0609020204030204" pitchFamily="49" charset="0"/>
              </a:rPr>
              <a:t>()</a:t>
            </a:r>
          </a:p>
          <a:p>
            <a:pPr algn="l" fontAlgn="base">
              <a:spcAft>
                <a:spcPts val="750"/>
              </a:spcAft>
              <a:buNone/>
            </a:pPr>
            <a:r>
              <a:rPr lang="en-US" sz="1600" b="0" i="0" dirty="0" err="1">
                <a:effectLst/>
                <a:latin typeface="Consolas" panose="020B0609020204030204" pitchFamily="49" charset="0"/>
              </a:rPr>
              <a:t>AttributeError</a:t>
            </a:r>
            <a:r>
              <a:rPr lang="en-US" sz="1600" b="0" i="0" dirty="0">
                <a:effectLst/>
                <a:latin typeface="Consolas" panose="020B0609020204030204" pitchFamily="49" charset="0"/>
              </a:rPr>
              <a:t>: 'Fish' object has no attribute 'fly'</a:t>
            </a:r>
          </a:p>
          <a:p>
            <a:pPr>
              <a:buNone/>
            </a:pPr>
            <a:r>
              <a:rPr lang="en-US" sz="1600" b="0" i="0" dirty="0">
                <a:solidFill>
                  <a:srgbClr val="273239"/>
                </a:solidFill>
                <a:effectLst/>
                <a:latin typeface="Nunito" pitchFamily="2" charset="0"/>
              </a:rPr>
              <a:t>In this example, we can see a class supports some method we can modify it or give them new functionality. Duck-typing emphasis what the object can really do, rather than what the object is.</a:t>
            </a:r>
            <a:endParaRPr lang="en-US" sz="1600" dirty="0"/>
          </a:p>
        </p:txBody>
      </p:sp>
    </p:spTree>
    <p:extLst>
      <p:ext uri="{BB962C8B-B14F-4D97-AF65-F5344CB8AC3E}">
        <p14:creationId xmlns:p14="http://schemas.microsoft.com/office/powerpoint/2010/main" val="1642903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A66A-B67C-BE8C-3F8F-6FA585A66E42}"/>
              </a:ext>
            </a:extLst>
          </p:cNvPr>
          <p:cNvSpPr>
            <a:spLocks noGrp="1"/>
          </p:cNvSpPr>
          <p:nvPr>
            <p:ph type="title"/>
          </p:nvPr>
        </p:nvSpPr>
        <p:spPr/>
        <p:txBody>
          <a:bodyPr/>
          <a:lstStyle/>
          <a:p>
            <a:r>
              <a:rPr lang="en-US" dirty="0"/>
              <a:t>Tasks</a:t>
            </a:r>
          </a:p>
        </p:txBody>
      </p:sp>
      <p:sp>
        <p:nvSpPr>
          <p:cNvPr id="5" name="TextBox 4">
            <a:extLst>
              <a:ext uri="{FF2B5EF4-FFF2-40B4-BE49-F238E27FC236}">
                <a16:creationId xmlns:a16="http://schemas.microsoft.com/office/drawing/2014/main" id="{D7B4B162-5668-1E6E-F116-3E4EC304F475}"/>
              </a:ext>
            </a:extLst>
          </p:cNvPr>
          <p:cNvSpPr txBox="1"/>
          <p:nvPr/>
        </p:nvSpPr>
        <p:spPr>
          <a:xfrm>
            <a:off x="1036320" y="1737360"/>
            <a:ext cx="6096000" cy="2585323"/>
          </a:xfrm>
          <a:prstGeom prst="rect">
            <a:avLst/>
          </a:prstGeom>
          <a:noFill/>
        </p:spPr>
        <p:txBody>
          <a:bodyPr wrap="square">
            <a:spAutoFit/>
          </a:bodyPr>
          <a:lstStyle/>
          <a:p>
            <a:pPr>
              <a:buNone/>
            </a:pPr>
            <a:r>
              <a:rPr lang="en-US" b="1" dirty="0"/>
              <a:t>Task 1: Identify the Type</a:t>
            </a:r>
          </a:p>
          <a:p>
            <a:pPr>
              <a:buNone/>
            </a:pPr>
            <a:r>
              <a:rPr lang="en-US" dirty="0"/>
              <a:t>Read the scenario and identify whether it is:</a:t>
            </a:r>
          </a:p>
          <a:p>
            <a:pPr>
              <a:buFont typeface="Arial" panose="020B0604020202020204" pitchFamily="34" charset="0"/>
              <a:buChar char="•"/>
            </a:pPr>
            <a:r>
              <a:rPr lang="en-US" dirty="0"/>
              <a:t>Runtime Polymorphism </a:t>
            </a:r>
          </a:p>
          <a:p>
            <a:pPr>
              <a:buFont typeface="Arial" panose="020B0604020202020204" pitchFamily="34" charset="0"/>
              <a:buChar char="•"/>
            </a:pPr>
            <a:r>
              <a:rPr lang="en-US" dirty="0"/>
              <a:t>Operator Overloading </a:t>
            </a:r>
          </a:p>
          <a:p>
            <a:pPr>
              <a:buFont typeface="Arial" panose="020B0604020202020204" pitchFamily="34" charset="0"/>
              <a:buChar char="•"/>
            </a:pPr>
            <a:r>
              <a:rPr lang="en-US" dirty="0"/>
              <a:t>Duck Typing </a:t>
            </a:r>
          </a:p>
          <a:p>
            <a:pPr>
              <a:buNone/>
            </a:pPr>
            <a:r>
              <a:rPr lang="en-US" b="1" dirty="0"/>
              <a:t>Scenario:</a:t>
            </a:r>
            <a:br>
              <a:rPr lang="en-US" dirty="0"/>
            </a:br>
            <a:r>
              <a:rPr lang="en-US" dirty="0"/>
              <a:t>A system processes different file types (PDF, Word, Image). Each file has a method </a:t>
            </a:r>
            <a:r>
              <a:rPr lang="en-US" dirty="0">
                <a:latin typeface="Courier New" panose="02070309020205020404" pitchFamily="49" charset="0"/>
              </a:rPr>
              <a:t>open()</a:t>
            </a:r>
            <a:r>
              <a:rPr lang="en-US" dirty="0"/>
              <a:t>, but the behavior differs depending on file type.</a:t>
            </a:r>
          </a:p>
        </p:txBody>
      </p:sp>
      <p:sp>
        <p:nvSpPr>
          <p:cNvPr id="7" name="TextBox 6">
            <a:extLst>
              <a:ext uri="{FF2B5EF4-FFF2-40B4-BE49-F238E27FC236}">
                <a16:creationId xmlns:a16="http://schemas.microsoft.com/office/drawing/2014/main" id="{0628C597-71BF-4E64-3E82-FF4E43FC0C35}"/>
              </a:ext>
            </a:extLst>
          </p:cNvPr>
          <p:cNvSpPr txBox="1"/>
          <p:nvPr/>
        </p:nvSpPr>
        <p:spPr>
          <a:xfrm>
            <a:off x="6573520" y="1737360"/>
            <a:ext cx="6096000" cy="3416320"/>
          </a:xfrm>
          <a:prstGeom prst="rect">
            <a:avLst/>
          </a:prstGeom>
          <a:noFill/>
        </p:spPr>
        <p:txBody>
          <a:bodyPr wrap="square">
            <a:spAutoFit/>
          </a:bodyPr>
          <a:lstStyle/>
          <a:p>
            <a:pPr>
              <a:buNone/>
            </a:pPr>
            <a:r>
              <a:rPr lang="en-US" b="1" dirty="0"/>
              <a:t>Task 2: Online Learning Platform</a:t>
            </a:r>
          </a:p>
          <a:p>
            <a:pPr>
              <a:buNone/>
            </a:pPr>
            <a:r>
              <a:rPr lang="en-US" b="1" dirty="0"/>
              <a:t> Scenario:</a:t>
            </a:r>
            <a:br>
              <a:rPr lang="en-US" b="1" dirty="0"/>
            </a:br>
            <a:r>
              <a:rPr lang="en-US" dirty="0"/>
              <a:t>An online platform has different types of users:</a:t>
            </a:r>
          </a:p>
          <a:p>
            <a:pPr>
              <a:buFont typeface="Arial" panose="020B0604020202020204" pitchFamily="34" charset="0"/>
              <a:buChar char="•"/>
            </a:pPr>
            <a:r>
              <a:rPr lang="en-US" dirty="0"/>
              <a:t>Student </a:t>
            </a:r>
          </a:p>
          <a:p>
            <a:pPr>
              <a:buFont typeface="Arial" panose="020B0604020202020204" pitchFamily="34" charset="0"/>
              <a:buChar char="•"/>
            </a:pPr>
            <a:r>
              <a:rPr lang="en-US" dirty="0"/>
              <a:t>Teacher </a:t>
            </a:r>
          </a:p>
          <a:p>
            <a:pPr>
              <a:buNone/>
            </a:pPr>
            <a:r>
              <a:rPr lang="en-US" dirty="0"/>
              <a:t>Each user has a method </a:t>
            </a:r>
            <a:r>
              <a:rPr lang="en-US" dirty="0">
                <a:latin typeface="Courier New" panose="02070309020205020404" pitchFamily="49" charset="0"/>
              </a:rPr>
              <a:t>dashboard()</a:t>
            </a:r>
            <a:r>
              <a:rPr lang="en-US" dirty="0"/>
              <a:t>:</a:t>
            </a:r>
          </a:p>
          <a:p>
            <a:pPr>
              <a:buFont typeface="Arial" panose="020B0604020202020204" pitchFamily="34" charset="0"/>
              <a:buChar char="•"/>
            </a:pPr>
            <a:r>
              <a:rPr lang="en-US" dirty="0"/>
              <a:t>Student → "Viewing courses" </a:t>
            </a:r>
          </a:p>
          <a:p>
            <a:pPr>
              <a:buFont typeface="Arial" panose="020B0604020202020204" pitchFamily="34" charset="0"/>
              <a:buChar char="•"/>
            </a:pPr>
            <a:r>
              <a:rPr lang="en-US" dirty="0"/>
              <a:t>Teacher → "Managing courses" </a:t>
            </a:r>
          </a:p>
          <a:p>
            <a:pPr>
              <a:buNone/>
            </a:pPr>
            <a:r>
              <a:rPr lang="en-US" b="1" dirty="0"/>
              <a:t>Task:</a:t>
            </a:r>
          </a:p>
          <a:p>
            <a:pPr>
              <a:buFont typeface="Arial" panose="020B0604020202020204" pitchFamily="34" charset="0"/>
              <a:buChar char="•"/>
            </a:pPr>
            <a:r>
              <a:rPr lang="en-US" dirty="0"/>
              <a:t>Create a base class </a:t>
            </a:r>
            <a:r>
              <a:rPr lang="en-US" dirty="0">
                <a:latin typeface="Courier New" panose="02070309020205020404" pitchFamily="49" charset="0"/>
              </a:rPr>
              <a:t>User</a:t>
            </a:r>
            <a:r>
              <a:rPr lang="en-US" dirty="0"/>
              <a:t> </a:t>
            </a:r>
          </a:p>
          <a:p>
            <a:pPr>
              <a:buFont typeface="Arial" panose="020B0604020202020204" pitchFamily="34" charset="0"/>
              <a:buChar char="•"/>
            </a:pPr>
            <a:r>
              <a:rPr lang="en-US" dirty="0"/>
              <a:t>Override </a:t>
            </a:r>
            <a:r>
              <a:rPr lang="en-US" dirty="0">
                <a:latin typeface="Courier New" panose="02070309020205020404" pitchFamily="49" charset="0"/>
              </a:rPr>
              <a:t>dashboard()</a:t>
            </a:r>
            <a:r>
              <a:rPr lang="en-US" dirty="0"/>
              <a:t> in child classes </a:t>
            </a:r>
          </a:p>
          <a:p>
            <a:pPr>
              <a:buFont typeface="Arial" panose="020B0604020202020204" pitchFamily="34" charset="0"/>
              <a:buChar char="•"/>
            </a:pPr>
            <a:r>
              <a:rPr lang="en-US" dirty="0"/>
              <a:t>Show runtime polymorphism </a:t>
            </a:r>
          </a:p>
        </p:txBody>
      </p:sp>
    </p:spTree>
    <p:extLst>
      <p:ext uri="{BB962C8B-B14F-4D97-AF65-F5344CB8AC3E}">
        <p14:creationId xmlns:p14="http://schemas.microsoft.com/office/powerpoint/2010/main" val="1283597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815A8-5404-843A-1663-5F0AA14963D9}"/>
              </a:ext>
            </a:extLst>
          </p:cNvPr>
          <p:cNvSpPr>
            <a:spLocks noGrp="1"/>
          </p:cNvSpPr>
          <p:nvPr>
            <p:ph type="title"/>
          </p:nvPr>
        </p:nvSpPr>
        <p:spPr/>
        <p:txBody>
          <a:bodyPr/>
          <a:lstStyle/>
          <a:p>
            <a:r>
              <a:rPr lang="en-US" dirty="0"/>
              <a:t>Tasks</a:t>
            </a:r>
          </a:p>
        </p:txBody>
      </p:sp>
      <p:sp>
        <p:nvSpPr>
          <p:cNvPr id="5" name="TextBox 4">
            <a:extLst>
              <a:ext uri="{FF2B5EF4-FFF2-40B4-BE49-F238E27FC236}">
                <a16:creationId xmlns:a16="http://schemas.microsoft.com/office/drawing/2014/main" id="{95FCDAC2-7487-9F7F-2E5F-558A5E2E16B6}"/>
              </a:ext>
            </a:extLst>
          </p:cNvPr>
          <p:cNvSpPr txBox="1"/>
          <p:nvPr/>
        </p:nvSpPr>
        <p:spPr>
          <a:xfrm>
            <a:off x="1209040" y="1737360"/>
            <a:ext cx="4978400" cy="3139321"/>
          </a:xfrm>
          <a:prstGeom prst="rect">
            <a:avLst/>
          </a:prstGeom>
          <a:noFill/>
        </p:spPr>
        <p:txBody>
          <a:bodyPr wrap="square">
            <a:spAutoFit/>
          </a:bodyPr>
          <a:lstStyle/>
          <a:p>
            <a:pPr>
              <a:buNone/>
            </a:pPr>
            <a:r>
              <a:rPr lang="en-US" b="1" dirty="0"/>
              <a:t>Task 3: Food Delivery System</a:t>
            </a:r>
          </a:p>
          <a:p>
            <a:pPr>
              <a:buNone/>
            </a:pPr>
            <a:r>
              <a:rPr lang="en-US" b="1" dirty="0"/>
              <a:t>Scenario:</a:t>
            </a:r>
            <a:br>
              <a:rPr lang="en-US" dirty="0"/>
            </a:br>
            <a:r>
              <a:rPr lang="en-US" dirty="0"/>
              <a:t>A food delivery app calculates delivery charges differently:</a:t>
            </a:r>
          </a:p>
          <a:p>
            <a:pPr>
              <a:buFont typeface="Arial" panose="020B0604020202020204" pitchFamily="34" charset="0"/>
              <a:buChar char="•"/>
            </a:pPr>
            <a:r>
              <a:rPr lang="en-US" dirty="0"/>
              <a:t>Bike → Rs. 50 </a:t>
            </a:r>
          </a:p>
          <a:p>
            <a:pPr>
              <a:buFont typeface="Arial" panose="020B0604020202020204" pitchFamily="34" charset="0"/>
              <a:buChar char="•"/>
            </a:pPr>
            <a:r>
              <a:rPr lang="en-US" dirty="0"/>
              <a:t>Car → Rs. 100 </a:t>
            </a:r>
          </a:p>
          <a:p>
            <a:pPr>
              <a:buFont typeface="Arial" panose="020B0604020202020204" pitchFamily="34" charset="0"/>
              <a:buChar char="•"/>
            </a:pPr>
            <a:r>
              <a:rPr lang="en-US" dirty="0"/>
              <a:t>Drone → Rs. 200 </a:t>
            </a:r>
          </a:p>
          <a:p>
            <a:pPr>
              <a:buNone/>
            </a:pPr>
            <a:r>
              <a:rPr lang="en-US" b="1" dirty="0"/>
              <a:t>Task:</a:t>
            </a:r>
          </a:p>
          <a:p>
            <a:pPr>
              <a:buFont typeface="Arial" panose="020B0604020202020204" pitchFamily="34" charset="0"/>
              <a:buChar char="•"/>
            </a:pPr>
            <a:r>
              <a:rPr lang="en-US" dirty="0"/>
              <a:t>Create a class </a:t>
            </a:r>
            <a:r>
              <a:rPr lang="en-US" dirty="0">
                <a:latin typeface="Courier New" panose="02070309020205020404" pitchFamily="49" charset="0"/>
              </a:rPr>
              <a:t>Delivery</a:t>
            </a:r>
            <a:r>
              <a:rPr lang="en-US" dirty="0"/>
              <a:t> </a:t>
            </a:r>
          </a:p>
          <a:p>
            <a:pPr>
              <a:buFont typeface="Arial" panose="020B0604020202020204" pitchFamily="34" charset="0"/>
              <a:buChar char="•"/>
            </a:pPr>
            <a:r>
              <a:rPr lang="en-US" dirty="0"/>
              <a:t>Override method </a:t>
            </a:r>
            <a:r>
              <a:rPr lang="en-US" dirty="0">
                <a:latin typeface="Courier New" panose="02070309020205020404" pitchFamily="49" charset="0"/>
              </a:rPr>
              <a:t>charges()</a:t>
            </a:r>
            <a:r>
              <a:rPr lang="en-US" dirty="0"/>
              <a:t> in subclasses </a:t>
            </a:r>
          </a:p>
          <a:p>
            <a:pPr>
              <a:buFont typeface="Arial" panose="020B0604020202020204" pitchFamily="34" charset="0"/>
              <a:buChar char="•"/>
            </a:pPr>
            <a:r>
              <a:rPr lang="en-US" dirty="0"/>
              <a:t>Use a loop to display charges for all</a:t>
            </a:r>
          </a:p>
        </p:txBody>
      </p:sp>
      <p:sp>
        <p:nvSpPr>
          <p:cNvPr id="7" name="TextBox 6">
            <a:extLst>
              <a:ext uri="{FF2B5EF4-FFF2-40B4-BE49-F238E27FC236}">
                <a16:creationId xmlns:a16="http://schemas.microsoft.com/office/drawing/2014/main" id="{AA48CEF1-6164-BB7B-6C20-E0D0277DE184}"/>
              </a:ext>
            </a:extLst>
          </p:cNvPr>
          <p:cNvSpPr txBox="1"/>
          <p:nvPr/>
        </p:nvSpPr>
        <p:spPr>
          <a:xfrm>
            <a:off x="6644640" y="1704321"/>
            <a:ext cx="4511040" cy="3693319"/>
          </a:xfrm>
          <a:prstGeom prst="rect">
            <a:avLst/>
          </a:prstGeom>
          <a:noFill/>
        </p:spPr>
        <p:txBody>
          <a:bodyPr wrap="square">
            <a:spAutoFit/>
          </a:bodyPr>
          <a:lstStyle/>
          <a:p>
            <a:pPr>
              <a:buNone/>
            </a:pPr>
            <a:r>
              <a:rPr lang="en-US" b="1" dirty="0"/>
              <a:t>Task 4: FinTech (Advanced Scenario)</a:t>
            </a:r>
          </a:p>
          <a:p>
            <a:pPr>
              <a:buNone/>
            </a:pPr>
            <a:r>
              <a:rPr lang="en-US" b="1" dirty="0"/>
              <a:t>Scenario:</a:t>
            </a:r>
            <a:br>
              <a:rPr lang="en-US" dirty="0"/>
            </a:br>
            <a:r>
              <a:rPr lang="en-US" dirty="0"/>
              <a:t>A digital banking system supports:</a:t>
            </a:r>
          </a:p>
          <a:p>
            <a:pPr>
              <a:buFont typeface="Arial" panose="020B0604020202020204" pitchFamily="34" charset="0"/>
              <a:buChar char="•"/>
            </a:pPr>
            <a:r>
              <a:rPr lang="en-US" dirty="0"/>
              <a:t>Savings Account </a:t>
            </a:r>
          </a:p>
          <a:p>
            <a:pPr>
              <a:buFont typeface="Arial" panose="020B0604020202020204" pitchFamily="34" charset="0"/>
              <a:buChar char="•"/>
            </a:pPr>
            <a:r>
              <a:rPr lang="en-US" dirty="0"/>
              <a:t>Current Account </a:t>
            </a:r>
          </a:p>
          <a:p>
            <a:pPr>
              <a:buNone/>
            </a:pPr>
            <a:r>
              <a:rPr lang="en-US" dirty="0"/>
              <a:t>Both have a method </a:t>
            </a:r>
            <a:r>
              <a:rPr lang="en-US" dirty="0" err="1">
                <a:latin typeface="Courier New" panose="02070309020205020404" pitchFamily="49" charset="0"/>
              </a:rPr>
              <a:t>calculate_interest</a:t>
            </a:r>
            <a:r>
              <a:rPr lang="en-US" dirty="0">
                <a:latin typeface="Courier New" panose="02070309020205020404" pitchFamily="49" charset="0"/>
              </a:rPr>
              <a:t>()</a:t>
            </a:r>
            <a:r>
              <a:rPr lang="en-US" dirty="0"/>
              <a:t>:</a:t>
            </a:r>
          </a:p>
          <a:p>
            <a:pPr>
              <a:buFont typeface="Arial" panose="020B0604020202020204" pitchFamily="34" charset="0"/>
              <a:buChar char="•"/>
            </a:pPr>
            <a:r>
              <a:rPr lang="en-US" dirty="0"/>
              <a:t>Savings → 5% </a:t>
            </a:r>
          </a:p>
          <a:p>
            <a:pPr>
              <a:buFont typeface="Arial" panose="020B0604020202020204" pitchFamily="34" charset="0"/>
              <a:buChar char="•"/>
            </a:pPr>
            <a:r>
              <a:rPr lang="en-US" dirty="0"/>
              <a:t>Current → 2% </a:t>
            </a:r>
          </a:p>
          <a:p>
            <a:pPr>
              <a:buNone/>
            </a:pPr>
            <a:r>
              <a:rPr lang="en-US" b="1" dirty="0"/>
              <a:t>Task:</a:t>
            </a:r>
          </a:p>
          <a:p>
            <a:pPr>
              <a:buFont typeface="Arial" panose="020B0604020202020204" pitchFamily="34" charset="0"/>
              <a:buChar char="•"/>
            </a:pPr>
            <a:r>
              <a:rPr lang="en-US" dirty="0"/>
              <a:t>Implement runtime polymorphism </a:t>
            </a:r>
          </a:p>
          <a:p>
            <a:pPr>
              <a:buFont typeface="Arial" panose="020B0604020202020204" pitchFamily="34" charset="0"/>
              <a:buChar char="•"/>
            </a:pPr>
            <a:r>
              <a:rPr lang="en-US" dirty="0"/>
              <a:t>Take balance as input </a:t>
            </a:r>
          </a:p>
          <a:p>
            <a:pPr>
              <a:buFont typeface="Arial" panose="020B0604020202020204" pitchFamily="34" charset="0"/>
              <a:buChar char="•"/>
            </a:pPr>
            <a:r>
              <a:rPr lang="en-US" dirty="0"/>
              <a:t>Display calculated interest</a:t>
            </a:r>
          </a:p>
        </p:txBody>
      </p:sp>
    </p:spTree>
    <p:extLst>
      <p:ext uri="{BB962C8B-B14F-4D97-AF65-F5344CB8AC3E}">
        <p14:creationId xmlns:p14="http://schemas.microsoft.com/office/powerpoint/2010/main" val="4172908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4D249-CF60-4A37-9F42-1BC199FB4560}"/>
              </a:ext>
            </a:extLst>
          </p:cNvPr>
          <p:cNvSpPr>
            <a:spLocks noGrp="1"/>
          </p:cNvSpPr>
          <p:nvPr>
            <p:ph type="title"/>
          </p:nvPr>
        </p:nvSpPr>
        <p:spPr/>
        <p:txBody>
          <a:bodyPr/>
          <a:lstStyle/>
          <a:p>
            <a:r>
              <a:rPr lang="en-US" dirty="0"/>
              <a:t>Tasks</a:t>
            </a:r>
          </a:p>
        </p:txBody>
      </p:sp>
      <p:sp>
        <p:nvSpPr>
          <p:cNvPr id="5" name="TextBox 4">
            <a:extLst>
              <a:ext uri="{FF2B5EF4-FFF2-40B4-BE49-F238E27FC236}">
                <a16:creationId xmlns:a16="http://schemas.microsoft.com/office/drawing/2014/main" id="{E6D4B570-5F16-8B52-2168-8BBD285CB073}"/>
              </a:ext>
            </a:extLst>
          </p:cNvPr>
          <p:cNvSpPr txBox="1"/>
          <p:nvPr/>
        </p:nvSpPr>
        <p:spPr>
          <a:xfrm>
            <a:off x="914400" y="1808480"/>
            <a:ext cx="6096000" cy="2862322"/>
          </a:xfrm>
          <a:prstGeom prst="rect">
            <a:avLst/>
          </a:prstGeom>
          <a:noFill/>
        </p:spPr>
        <p:txBody>
          <a:bodyPr wrap="square">
            <a:spAutoFit/>
          </a:bodyPr>
          <a:lstStyle/>
          <a:p>
            <a:pPr>
              <a:buNone/>
            </a:pPr>
            <a:r>
              <a:rPr lang="en-US" b="1" dirty="0"/>
              <a:t>Task 5: Device Control System</a:t>
            </a:r>
          </a:p>
          <a:p>
            <a:pPr>
              <a:buNone/>
            </a:pPr>
            <a:r>
              <a:rPr lang="en-US" b="1" dirty="0"/>
              <a:t>Scenario:</a:t>
            </a:r>
            <a:br>
              <a:rPr lang="en-US" dirty="0"/>
            </a:br>
            <a:r>
              <a:rPr lang="en-US" dirty="0"/>
              <a:t>Different devices:</a:t>
            </a:r>
          </a:p>
          <a:p>
            <a:pPr>
              <a:buFont typeface="Arial" panose="020B0604020202020204" pitchFamily="34" charset="0"/>
              <a:buChar char="•"/>
            </a:pPr>
            <a:r>
              <a:rPr lang="en-US" dirty="0"/>
              <a:t>Fan → </a:t>
            </a:r>
            <a:r>
              <a:rPr lang="en-US" dirty="0">
                <a:latin typeface="Courier New" panose="02070309020205020404" pitchFamily="49" charset="0"/>
              </a:rPr>
              <a:t>start()</a:t>
            </a:r>
            <a:r>
              <a:rPr lang="en-US" dirty="0"/>
              <a:t> </a:t>
            </a:r>
          </a:p>
          <a:p>
            <a:pPr>
              <a:buFont typeface="Arial" panose="020B0604020202020204" pitchFamily="34" charset="0"/>
              <a:buChar char="•"/>
            </a:pPr>
            <a:r>
              <a:rPr lang="en-US" dirty="0"/>
              <a:t>AC → </a:t>
            </a:r>
            <a:r>
              <a:rPr lang="en-US" dirty="0">
                <a:latin typeface="Courier New" panose="02070309020205020404" pitchFamily="49" charset="0"/>
              </a:rPr>
              <a:t>start()</a:t>
            </a:r>
            <a:r>
              <a:rPr lang="en-US" dirty="0"/>
              <a:t> </a:t>
            </a:r>
          </a:p>
          <a:p>
            <a:pPr>
              <a:buFont typeface="Arial" panose="020B0604020202020204" pitchFamily="34" charset="0"/>
              <a:buChar char="•"/>
            </a:pPr>
            <a:r>
              <a:rPr lang="en-US" dirty="0"/>
              <a:t>Light → </a:t>
            </a:r>
            <a:r>
              <a:rPr lang="en-US" dirty="0" err="1">
                <a:latin typeface="Courier New" panose="02070309020205020404" pitchFamily="49" charset="0"/>
              </a:rPr>
              <a:t>turn_on</a:t>
            </a:r>
            <a:r>
              <a:rPr lang="en-US" dirty="0">
                <a:latin typeface="Courier New" panose="02070309020205020404" pitchFamily="49" charset="0"/>
              </a:rPr>
              <a:t>()</a:t>
            </a:r>
            <a:r>
              <a:rPr lang="en-US" dirty="0"/>
              <a:t> </a:t>
            </a:r>
          </a:p>
          <a:p>
            <a:pPr>
              <a:buNone/>
            </a:pPr>
            <a:r>
              <a:rPr lang="en-US" b="1" dirty="0"/>
              <a:t>Task:</a:t>
            </a:r>
          </a:p>
          <a:p>
            <a:pPr>
              <a:buFont typeface="Arial" panose="020B0604020202020204" pitchFamily="34" charset="0"/>
              <a:buChar char="•"/>
            </a:pPr>
            <a:r>
              <a:rPr lang="en-US" dirty="0"/>
              <a:t>Create a function </a:t>
            </a:r>
            <a:r>
              <a:rPr lang="en-US" dirty="0">
                <a:latin typeface="Courier New" panose="02070309020205020404" pitchFamily="49" charset="0"/>
              </a:rPr>
              <a:t>activate(device)</a:t>
            </a:r>
            <a:r>
              <a:rPr lang="en-US" dirty="0"/>
              <a:t> </a:t>
            </a:r>
          </a:p>
          <a:p>
            <a:pPr>
              <a:buFont typeface="Arial" panose="020B0604020202020204" pitchFamily="34" charset="0"/>
              <a:buChar char="•"/>
            </a:pPr>
            <a:r>
              <a:rPr lang="en-US" dirty="0"/>
              <a:t>Pass different objects </a:t>
            </a:r>
          </a:p>
          <a:p>
            <a:pPr>
              <a:buFont typeface="Arial" panose="020B0604020202020204" pitchFamily="34" charset="0"/>
              <a:buChar char="•"/>
            </a:pPr>
            <a:r>
              <a:rPr lang="en-US" dirty="0"/>
              <a:t>Observe error and fix using duck typing </a:t>
            </a:r>
          </a:p>
        </p:txBody>
      </p:sp>
      <p:sp>
        <p:nvSpPr>
          <p:cNvPr id="7" name="TextBox 6">
            <a:extLst>
              <a:ext uri="{FF2B5EF4-FFF2-40B4-BE49-F238E27FC236}">
                <a16:creationId xmlns:a16="http://schemas.microsoft.com/office/drawing/2014/main" id="{F631B0CB-5D77-55C4-5580-1EC58B06F8A9}"/>
              </a:ext>
            </a:extLst>
          </p:cNvPr>
          <p:cNvSpPr txBox="1"/>
          <p:nvPr/>
        </p:nvSpPr>
        <p:spPr>
          <a:xfrm>
            <a:off x="5273040" y="1888758"/>
            <a:ext cx="6096000" cy="2308324"/>
          </a:xfrm>
          <a:prstGeom prst="rect">
            <a:avLst/>
          </a:prstGeom>
          <a:noFill/>
        </p:spPr>
        <p:txBody>
          <a:bodyPr wrap="square">
            <a:spAutoFit/>
          </a:bodyPr>
          <a:lstStyle/>
          <a:p>
            <a:pPr>
              <a:buNone/>
            </a:pPr>
            <a:r>
              <a:rPr lang="en-US" b="1" dirty="0"/>
              <a:t>Task 6: Flexible Tool System</a:t>
            </a:r>
          </a:p>
          <a:p>
            <a:pPr>
              <a:buNone/>
            </a:pPr>
            <a:r>
              <a:rPr lang="en-US" b="1" dirty="0"/>
              <a:t>Scenario:</a:t>
            </a:r>
            <a:br>
              <a:rPr lang="en-US" dirty="0"/>
            </a:br>
            <a:r>
              <a:rPr lang="en-US" dirty="0"/>
              <a:t>Create objects:</a:t>
            </a:r>
          </a:p>
          <a:p>
            <a:pPr>
              <a:buFont typeface="Arial" panose="020B0604020202020204" pitchFamily="34" charset="0"/>
              <a:buChar char="•"/>
            </a:pPr>
            <a:r>
              <a:rPr lang="en-US" dirty="0"/>
              <a:t>Printer → </a:t>
            </a:r>
            <a:r>
              <a:rPr lang="en-US" dirty="0">
                <a:latin typeface="Courier New" panose="02070309020205020404" pitchFamily="49" charset="0"/>
              </a:rPr>
              <a:t>use()</a:t>
            </a:r>
            <a:r>
              <a:rPr lang="en-US" dirty="0"/>
              <a:t> </a:t>
            </a:r>
          </a:p>
          <a:p>
            <a:pPr>
              <a:buFont typeface="Arial" panose="020B0604020202020204" pitchFamily="34" charset="0"/>
              <a:buChar char="•"/>
            </a:pPr>
            <a:r>
              <a:rPr lang="en-US" dirty="0"/>
              <a:t>Scanner → </a:t>
            </a:r>
            <a:r>
              <a:rPr lang="en-US" dirty="0">
                <a:latin typeface="Courier New" panose="02070309020205020404" pitchFamily="49" charset="0"/>
              </a:rPr>
              <a:t>use()</a:t>
            </a:r>
            <a:r>
              <a:rPr lang="en-US" dirty="0"/>
              <a:t> </a:t>
            </a:r>
          </a:p>
          <a:p>
            <a:pPr>
              <a:buNone/>
            </a:pPr>
            <a:r>
              <a:rPr lang="en-US" b="1" dirty="0"/>
              <a:t>Task:</a:t>
            </a:r>
          </a:p>
          <a:p>
            <a:pPr>
              <a:buFont typeface="Arial" panose="020B0604020202020204" pitchFamily="34" charset="0"/>
              <a:buChar char="•"/>
            </a:pPr>
            <a:r>
              <a:rPr lang="en-US" dirty="0"/>
              <a:t>Create a function that works with both without checking type </a:t>
            </a:r>
          </a:p>
          <a:p>
            <a:pPr>
              <a:buFont typeface="Arial" panose="020B0604020202020204" pitchFamily="34" charset="0"/>
              <a:buChar char="•"/>
            </a:pPr>
            <a:r>
              <a:rPr lang="en-US" dirty="0"/>
              <a:t>Demonstrate duck typing </a:t>
            </a:r>
          </a:p>
        </p:txBody>
      </p:sp>
    </p:spTree>
    <p:extLst>
      <p:ext uri="{BB962C8B-B14F-4D97-AF65-F5344CB8AC3E}">
        <p14:creationId xmlns:p14="http://schemas.microsoft.com/office/powerpoint/2010/main" val="837023591"/>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44</TotalTime>
  <Words>1735</Words>
  <Application>Microsoft Office PowerPoint</Application>
  <PresentationFormat>Widescreen</PresentationFormat>
  <Paragraphs>212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Consolas</vt:lpstr>
      <vt:lpstr>Courier New</vt:lpstr>
      <vt:lpstr>Nunito</vt:lpstr>
      <vt:lpstr>Retrospect</vt:lpstr>
      <vt:lpstr>Introduction to OOP</vt:lpstr>
      <vt:lpstr>Polymorphism</vt:lpstr>
      <vt:lpstr>Polymorphism</vt:lpstr>
      <vt:lpstr>Types of Polymorphism</vt:lpstr>
      <vt:lpstr>1. Compile-time Polymorphism</vt:lpstr>
      <vt:lpstr>1. Compile-time Polymorphism</vt:lpstr>
      <vt:lpstr>2. Runtime Polymorphism (Overriding)</vt:lpstr>
      <vt:lpstr>2. Runtime Polymorphism (Overriding)</vt:lpstr>
      <vt:lpstr>Polymorphism in Built-in Functions</vt:lpstr>
      <vt:lpstr>Polymorphism in Built-in Functions</vt:lpstr>
      <vt:lpstr>Polymorphism in Functions</vt:lpstr>
      <vt:lpstr>Polymorphism in Functions</vt:lpstr>
      <vt:lpstr>Polymorphism in Operators</vt:lpstr>
      <vt:lpstr>Duck Typing in Python</vt:lpstr>
      <vt:lpstr>Duck Typing in Python</vt:lpstr>
      <vt:lpstr>Duck Typing in Python</vt:lpstr>
      <vt:lpstr>Tasks</vt:lpstr>
      <vt:lpstr>Tasks</vt:lpstr>
      <vt:lpstr>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PMYLS</dc:creator>
  <cp:lastModifiedBy>PMYLS</cp:lastModifiedBy>
  <cp:revision>4</cp:revision>
  <dcterms:created xsi:type="dcterms:W3CDTF">2026-04-26T11:09:38Z</dcterms:created>
  <dcterms:modified xsi:type="dcterms:W3CDTF">2026-09-15T02:23:39Z</dcterms:modified>
</cp:coreProperties>
</file>