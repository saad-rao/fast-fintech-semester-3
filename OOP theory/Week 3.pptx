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5" r:id="rId11"/>
    <p:sldId id="293" r:id="rId12"/>
    <p:sldId id="296" r:id="rId13"/>
    <p:sldId id="297" r:id="rId14"/>
    <p:sldId id="298" r:id="rId15"/>
    <p:sldId id="299" r:id="rId16"/>
    <p:sldId id="265" r:id="rId17"/>
    <p:sldId id="266" r:id="rId18"/>
    <p:sldId id="267" r:id="rId19"/>
    <p:sldId id="268" r:id="rId20"/>
    <p:sldId id="294" r:id="rId21"/>
    <p:sldId id="269" r:id="rId22"/>
    <p:sldId id="300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8" d="100"/>
          <a:sy n="78" d="100"/>
        </p:scale>
        <p:origin x="192" y="-4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2EFE1-CA53-44B9-92B5-8432CCA9541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2AAA0-B5C2-4EB9-98FA-AE8F292E4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13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2AAA0-B5C2-4EB9-98FA-AE8F292E45C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07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16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8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56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6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1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4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67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448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4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5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9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500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19200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Encapsulation &amp; Data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1800414"/>
            <a:ext cx="10607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 lang="en-US" dirty="0"/>
              <a:t>Week 3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8" y="1041009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02656"/>
            <a:ext cx="10607040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Understand encapsulation and data abstraction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Learn Python access-control conventions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Use @property getters and setters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Distinguish interface from implementation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Apply these concepts to a </a:t>
            </a:r>
            <a:r>
              <a:rPr dirty="0" err="1"/>
              <a:t>BankAccount</a:t>
            </a:r>
            <a:r>
              <a:rPr dirty="0"/>
              <a:t> example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Understand why real PIN storage needs stronger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2111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Encapsulation?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8501"/>
            <a:ext cx="1060704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Encapsulation means keeping data and the methods that operate on that data together inside a class.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It also controls how outside code interacts with internal data.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Main benefits: data protection, validation, easier maintenance, and clearer class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</a:t>
            </a:r>
          </a:p>
        </p:txBody>
      </p:sp>
      <p:pic>
        <p:nvPicPr>
          <p:cNvPr id="1026" name="Picture 2" descr="Understanding Encapsulation in Object-Oriented Programming | by Paramee  weesinghe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50" y="4011043"/>
            <a:ext cx="5924550" cy="220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OP Part-2: Encapsulation — The Art of Protecting Your Data Like a  Professional | by Archana R Mulge | Python in Plain Englis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63" y="3694328"/>
            <a:ext cx="4574687" cy="257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0903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Why Encapsulation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78501"/>
            <a:ext cx="6290017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Without encapsulation, outside code could freely change important values.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For example, a bank balance should not be changed to an invalid value without checks.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Encapsulation gives the class responsibility for maintaining valid internal state.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The class exposes safe operations such as deposit() and withdraw().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4</a:t>
            </a:r>
          </a:p>
        </p:txBody>
      </p:sp>
      <p:pic>
        <p:nvPicPr>
          <p:cNvPr id="2050" name="Picture 2" descr="Difference Between Abstraction and Encapsulation Explained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78" y="1937499"/>
            <a:ext cx="4296662" cy="330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6073" y="120278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Access-Control Conventions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75217"/>
            <a:ext cx="5147017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Public: name — intended for normal outside use.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Protected convention: _name — indicates internal use; Python does not strictly enforce it.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Private-</a:t>
            </a:r>
            <a:r>
              <a:rPr dirty="0" err="1"/>
              <a:t>ish</a:t>
            </a:r>
            <a:r>
              <a:rPr dirty="0"/>
              <a:t>: __name — triggers name mangling and discourages direct access.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Important: Python's conventions are about design and communication, not absolute security barriers.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5</a:t>
            </a:r>
          </a:p>
        </p:txBody>
      </p:sp>
      <p:sp>
        <p:nvSpPr>
          <p:cNvPr id="7" name="AutoShape 2" descr="Access modifiers in Python | PPT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761" y="2013439"/>
            <a:ext cx="5865112" cy="3455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2111" y="1137725"/>
            <a:ext cx="26725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Public Access Modifier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61979"/>
            <a:ext cx="10607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(variables or methods) declared as public can be accessed from anywhere in the program.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all members are public in Python.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6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2834053"/>
            <a:ext cx="802005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7</a:t>
            </a:r>
          </a:p>
        </p:txBody>
      </p:sp>
      <p:sp>
        <p:nvSpPr>
          <p:cNvPr id="2" name="Rectangle 1"/>
          <p:cNvSpPr/>
          <p:nvPr/>
        </p:nvSpPr>
        <p:spPr>
          <a:xfrm>
            <a:off x="1099824" y="1218403"/>
            <a:ext cx="2989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Protected Access Modifier</a:t>
            </a:r>
            <a:endParaRPr lang="en-US" b="1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099824" y="1870586"/>
            <a:ext cx="10259219" cy="12618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 member is considered protected if its name starts with a single underscore (_).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Convention only: It suggests that the member should not be accessed outside the class except by subclasses.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Still, Python allows direct access if explicitly called.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233383" y="2347547"/>
            <a:ext cx="639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06" y="3036486"/>
            <a:ext cx="8175748" cy="29175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8</a:t>
            </a:r>
          </a:p>
        </p:txBody>
      </p:sp>
      <p:sp>
        <p:nvSpPr>
          <p:cNvPr id="2" name="Rectangle 1"/>
          <p:cNvSpPr/>
          <p:nvPr/>
        </p:nvSpPr>
        <p:spPr>
          <a:xfrm>
            <a:off x="1096330" y="1283650"/>
            <a:ext cx="30358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  <a:latin typeface="Nunito"/>
              </a:rPr>
              <a:t>3. Private Access Modifier</a:t>
            </a:r>
            <a:endParaRPr lang="en-US" b="1" i="0" dirty="0">
              <a:solidFill>
                <a:srgbClr val="273239"/>
              </a:solidFill>
              <a:effectLst/>
              <a:latin typeface="Nunito"/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38553" y="1855114"/>
            <a:ext cx="11011487" cy="12311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member is private if its name starts with double underscores (__).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does not enforce strict privacy — instead, it uses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Mangling.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interpreter renames __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_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internally.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name like __age__ (double underscores at both start and end) is not private. It is treated as a special '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 name in Python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 mangling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not apply to it.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714" y="3429000"/>
            <a:ext cx="7553325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22740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Data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956603" y="2051709"/>
            <a:ext cx="5857435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dirty="0"/>
              <a:t>Data abstraction means hiding unnecessary implementation details and showing only the important information to the user.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100" dirty="0"/>
              <a:t>In Python, abstraction can be achieved using abstract classes and the </a:t>
            </a:r>
            <a:r>
              <a:rPr lang="en-US" altLang="en-US" sz="2100" dirty="0" err="1"/>
              <a:t>abc</a:t>
            </a:r>
            <a:r>
              <a:rPr lang="en-US" altLang="en-US" sz="2100" dirty="0"/>
              <a:t> module.</a:t>
            </a:r>
          </a:p>
        </p:txBody>
      </p:sp>
      <p:pic>
        <p:nvPicPr>
          <p:cNvPr id="4099" name="Picture 3" descr="Abstraction in Python - GeeksforGeek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298" y="2051709"/>
            <a:ext cx="3616325" cy="180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956603" y="3836689"/>
            <a:ext cx="109902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</a:rPr>
              <a:t>Real Life Example:</a:t>
            </a:r>
            <a:r>
              <a:rPr lang="en-US" dirty="0">
                <a:solidFill>
                  <a:srgbClr val="273239"/>
                </a:solidFill>
              </a:rPr>
              <a:t> In a graphics software, multiple shapes are available such as Circle, Rectangle and Triangle. All shapes share common data and support the same set of actions, but the internal details are hidden: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</a:rPr>
              <a:t>Common data:</a:t>
            </a:r>
            <a:r>
              <a:rPr lang="en-US" dirty="0">
                <a:solidFill>
                  <a:srgbClr val="273239"/>
                </a:solidFill>
              </a:rPr>
              <a:t> name, color, border thickness, fill style.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73239"/>
                </a:solidFill>
              </a:rPr>
              <a:t>Common actions:</a:t>
            </a:r>
            <a:r>
              <a:rPr lang="en-US" dirty="0">
                <a:solidFill>
                  <a:srgbClr val="273239"/>
                </a:solidFill>
              </a:rPr>
              <a:t> draw(), resize(), </a:t>
            </a:r>
            <a:r>
              <a:rPr lang="en-US" dirty="0" err="1">
                <a:solidFill>
                  <a:srgbClr val="273239"/>
                </a:solidFill>
              </a:rPr>
              <a:t>getArea</a:t>
            </a:r>
            <a:r>
              <a:rPr lang="en-US" dirty="0">
                <a:solidFill>
                  <a:srgbClr val="273239"/>
                </a:solidFill>
              </a:rPr>
              <a:t>().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Each shape implements these actions differently Circle uses radius, Rectangle uses length and width and Triangle uses base and height.</a:t>
            </a:r>
          </a:p>
          <a:p>
            <a:pPr fontAlgn="base"/>
            <a:r>
              <a:rPr lang="en-US" dirty="0">
                <a:solidFill>
                  <a:srgbClr val="273239"/>
                </a:solidFill>
              </a:rPr>
              <a:t>The software only knows that a shape can be drawn and its area can be calculated. How the shape is drawn or how the area is calculated is hidden.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 Base Class</a:t>
            </a:r>
            <a:endParaRPr lang="en-US" dirty="0"/>
          </a:p>
        </p:txBody>
      </p:sp>
      <p:pic>
        <p:nvPicPr>
          <p:cNvPr id="3" name="Picture 5" descr="Understanding Abstraction in Python - Ask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023" y="3234284"/>
            <a:ext cx="3191608" cy="2331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0398" y="1702913"/>
            <a:ext cx="106052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solidFill>
                  <a:srgbClr val="273239"/>
                </a:solidFill>
              </a:rPr>
              <a:t>Abstract Base Class (ABC) is used to achieve data abstraction by defining a common interface for its subclasses. It cannot be instantiated directly and serves as a blueprint for other classes.</a:t>
            </a:r>
          </a:p>
          <a:p>
            <a:pPr fontAlgn="base"/>
            <a:endParaRPr lang="en-US" dirty="0">
              <a:solidFill>
                <a:srgbClr val="273239"/>
              </a:solidFill>
            </a:endParaRPr>
          </a:p>
          <a:p>
            <a:pPr fontAlgn="base"/>
            <a:r>
              <a:rPr lang="en-US" dirty="0">
                <a:solidFill>
                  <a:srgbClr val="273239"/>
                </a:solidFill>
              </a:rPr>
              <a:t>Abstract classes are created using </a:t>
            </a:r>
            <a:r>
              <a:rPr lang="en-US" dirty="0" err="1">
                <a:solidFill>
                  <a:srgbClr val="273239"/>
                </a:solidFill>
              </a:rPr>
              <a:t>abc</a:t>
            </a:r>
            <a:r>
              <a:rPr lang="en-US" dirty="0">
                <a:solidFill>
                  <a:srgbClr val="273239"/>
                </a:solidFill>
              </a:rPr>
              <a:t> module and @</a:t>
            </a:r>
            <a:r>
              <a:rPr lang="en-US" dirty="0" err="1">
                <a:solidFill>
                  <a:srgbClr val="273239"/>
                </a:solidFill>
              </a:rPr>
              <a:t>abstractmethod</a:t>
            </a:r>
            <a:r>
              <a:rPr lang="en-US" dirty="0">
                <a:solidFill>
                  <a:srgbClr val="273239"/>
                </a:solidFill>
              </a:rPr>
              <a:t> decorator, allowing developers to enforce method implementation in subclasses while hiding complex internal logic.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1217" y="3206622"/>
            <a:ext cx="3773658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class Greet(ABC):</a:t>
            </a:r>
          </a:p>
          <a:p>
            <a:r>
              <a:rPr lang="en-US" dirty="0"/>
              <a:t>    @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say_hello</a:t>
            </a:r>
            <a:r>
              <a:rPr lang="en-US" dirty="0"/>
              <a:t>(self):</a:t>
            </a:r>
          </a:p>
          <a:p>
            <a:r>
              <a:rPr lang="en-US" dirty="0"/>
              <a:t>        pass  # Abstract method</a:t>
            </a:r>
          </a:p>
          <a:p>
            <a:r>
              <a:rPr lang="en-US" dirty="0"/>
              <a:t>class English(Greet):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say_hello</a:t>
            </a:r>
            <a:r>
              <a:rPr lang="en-US" dirty="0"/>
              <a:t>(self):</a:t>
            </a:r>
          </a:p>
          <a:p>
            <a:r>
              <a:rPr lang="en-US" dirty="0"/>
              <a:t>        return "Hello!"</a:t>
            </a:r>
          </a:p>
          <a:p>
            <a:r>
              <a:rPr lang="en-US" dirty="0"/>
              <a:t>g = English()</a:t>
            </a:r>
          </a:p>
          <a:p>
            <a:r>
              <a:rPr lang="en-US" dirty="0"/>
              <a:t>print(</a:t>
            </a:r>
            <a:r>
              <a:rPr lang="en-US" dirty="0" err="1"/>
              <a:t>g.say_hello</a:t>
            </a:r>
            <a:r>
              <a:rPr lang="en-US" dirty="0"/>
              <a:t>())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490546" y="5566080"/>
            <a:ext cx="549831" cy="44882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Hello!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4238" y="3293078"/>
            <a:ext cx="388913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</a:rPr>
              <a:t>Explanation:</a:t>
            </a:r>
            <a:endParaRPr lang="en-US" dirty="0">
              <a:solidFill>
                <a:srgbClr val="273239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Greet is an abstract class with a method </a:t>
            </a:r>
            <a:r>
              <a:rPr lang="en-US" dirty="0" err="1">
                <a:solidFill>
                  <a:srgbClr val="273239"/>
                </a:solidFill>
              </a:rPr>
              <a:t>say_hello</a:t>
            </a:r>
            <a:r>
              <a:rPr lang="en-US" dirty="0">
                <a:solidFill>
                  <a:srgbClr val="273239"/>
                </a:solidFill>
              </a:rPr>
              <a:t>() that has no implementation.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English implements this method and returns a greeting.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This keeps structure fixed while letting subclasses define their own behavior.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06334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9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16623" y="1206705"/>
            <a:ext cx="354090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 b="1"/>
            </a:pPr>
            <a:r>
              <a:rPr lang="en-US" altLang="en-US" sz="2800" b="1" dirty="0" err="1"/>
              <a:t>abc</a:t>
            </a:r>
            <a:r>
              <a:rPr lang="en-US" altLang="en-US" sz="2800" b="1" dirty="0"/>
              <a:t> Module in Python 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96459" y="1842061"/>
            <a:ext cx="546881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abc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stands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Abstract Base Classes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It is used in Python to create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abstract classes and abstract methods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helps define a common structure that child classes must follow.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Basic Syntax: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from </a:t>
            </a:r>
            <a:r>
              <a:rPr lang="en-US" altLang="en-US" dirty="0" err="1"/>
              <a:t>abc</a:t>
            </a:r>
            <a:r>
              <a:rPr lang="en-US" altLang="en-US" dirty="0"/>
              <a:t> import ABC, </a:t>
            </a:r>
            <a:r>
              <a:rPr lang="en-US" altLang="en-US" dirty="0" err="1"/>
              <a:t>abstractmethod</a:t>
            </a:r>
            <a:endParaRPr lang="en-US" alt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class Animal(ABC):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   @</a:t>
            </a:r>
            <a:r>
              <a:rPr lang="en-US" altLang="en-US" dirty="0" err="1"/>
              <a:t>abstractmethod</a:t>
            </a:r>
            <a:endParaRPr lang="en-US" alt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   </a:t>
            </a:r>
            <a:r>
              <a:rPr lang="en-US" altLang="en-US" dirty="0" err="1"/>
              <a:t>def</a:t>
            </a:r>
            <a:r>
              <a:rPr lang="en-US" altLang="en-US" dirty="0"/>
              <a:t> sound(self):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       pass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b="8193"/>
          <a:stretch/>
        </p:blipFill>
        <p:spPr>
          <a:xfrm>
            <a:off x="6719841" y="4076114"/>
            <a:ext cx="2556779" cy="21558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-252" t="-2369" r="56125" b="59393"/>
          <a:stretch/>
        </p:blipFill>
        <p:spPr>
          <a:xfrm>
            <a:off x="9487782" y="5264710"/>
            <a:ext cx="1541549" cy="318989"/>
          </a:xfrm>
          <a:prstGeom prst="rect">
            <a:avLst/>
          </a:prstGeom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6508679" y="1829345"/>
            <a:ext cx="553588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Important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Used as the base class for an abstract class.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@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abstractmethod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Declares a method that must be implemented by the child class.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cannot normally create an object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an abstract class if it has unimplemented abstract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child class must implement the abstract methods to create its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short: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abc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Abstract Base Classes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used to implement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abstraction in Python OOP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3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Abstraction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88438" y="1848370"/>
            <a:ext cx="1087608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>
                <a:solidFill>
                  <a:srgbClr val="273239"/>
                </a:solidFill>
              </a:rPr>
              <a:t>Abstraction is made up of key components, these elements work together to define a clear and enforced structure for subclasses while hiding unnecessary implementation details. Let's discuss them one by one.</a:t>
            </a:r>
          </a:p>
          <a:p>
            <a:pPr fontAlgn="base"/>
            <a:r>
              <a:rPr lang="en-US" b="1" dirty="0">
                <a:solidFill>
                  <a:srgbClr val="273239"/>
                </a:solidFill>
              </a:rPr>
              <a:t>1. Abstract Method</a:t>
            </a:r>
          </a:p>
          <a:p>
            <a:pPr fontAlgn="base"/>
            <a:r>
              <a:rPr lang="en-US" dirty="0">
                <a:solidFill>
                  <a:srgbClr val="273239"/>
                </a:solidFill>
              </a:rPr>
              <a:t>Abstract methods are method declarations without a body defined inside an abstract class. They act as placeholders that force subclasses to provide their own specific implementation, ensuring consistent structure across derived classes.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8438" y="371370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class Animal(ABC):</a:t>
            </a:r>
          </a:p>
          <a:p>
            <a:r>
              <a:rPr lang="en-US" dirty="0"/>
              <a:t>    @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make_sound</a:t>
            </a:r>
            <a:r>
              <a:rPr lang="en-US" dirty="0"/>
              <a:t>(self):</a:t>
            </a:r>
          </a:p>
          <a:p>
            <a:r>
              <a:rPr lang="en-US" dirty="0"/>
              <a:t>        pass  # Abstract method, no implementation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8438" y="5201977"/>
            <a:ext cx="10876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73239"/>
                </a:solidFill>
              </a:rPr>
              <a:t>Explanation:</a:t>
            </a:r>
            <a:r>
              <a:rPr lang="en-US" dirty="0">
                <a:solidFill>
                  <a:srgbClr val="273239"/>
                </a:solidFill>
              </a:rPr>
              <a:t> </a:t>
            </a:r>
            <a:r>
              <a:rPr lang="en-US" dirty="0" err="1">
                <a:solidFill>
                  <a:srgbClr val="273239"/>
                </a:solidFill>
              </a:rPr>
              <a:t>make_sound</a:t>
            </a:r>
            <a:r>
              <a:rPr lang="en-US" dirty="0">
                <a:solidFill>
                  <a:srgbClr val="273239"/>
                </a:solidFill>
              </a:rPr>
              <a:t>() is an abstract method in Animal class, so it doesn't have any code inside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923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Abstraction</a:t>
            </a:r>
            <a:endParaRPr lang="en-US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76519" y="1621945"/>
            <a:ext cx="11087588" cy="11694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52352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2. Concrete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+mn-lt"/>
              </a:rPr>
              <a:t>Concrete methods are fully implemented methods within an abstract class. Subclasses can inherit and use them directly, promoting code reuse without needing to redefine common functionality.</a:t>
            </a: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5961" y="285419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class Animal(ABC):</a:t>
            </a:r>
          </a:p>
          <a:p>
            <a:r>
              <a:rPr lang="en-US" dirty="0"/>
              <a:t>    @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make_sound</a:t>
            </a:r>
            <a:r>
              <a:rPr lang="en-US" dirty="0"/>
              <a:t>(self):</a:t>
            </a:r>
          </a:p>
          <a:p>
            <a:r>
              <a:rPr lang="en-US" dirty="0"/>
              <a:t>        pass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move(self):</a:t>
            </a:r>
          </a:p>
          <a:p>
            <a:r>
              <a:rPr lang="en-US" dirty="0"/>
              <a:t>        return "Moving"</a:t>
            </a:r>
          </a:p>
          <a:p>
            <a:r>
              <a:rPr lang="en-US" dirty="0"/>
              <a:t>class Dog(Animal):</a:t>
            </a:r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make_sound</a:t>
            </a:r>
            <a:r>
              <a:rPr lang="en-US" dirty="0"/>
              <a:t>(self):</a:t>
            </a:r>
          </a:p>
          <a:p>
            <a:r>
              <a:rPr lang="en-US" dirty="0"/>
              <a:t>        return "Bark"</a:t>
            </a:r>
          </a:p>
          <a:p>
            <a:r>
              <a:rPr lang="en-US" dirty="0"/>
              <a:t>dog = Dog()</a:t>
            </a:r>
          </a:p>
          <a:p>
            <a:r>
              <a:rPr lang="en-US" dirty="0"/>
              <a:t>print(</a:t>
            </a:r>
            <a:r>
              <a:rPr lang="en-US" dirty="0" err="1"/>
              <a:t>dog.move</a:t>
            </a:r>
            <a:r>
              <a:rPr lang="en-US" dirty="0"/>
              <a:t>())</a:t>
            </a: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5416061" y="2712035"/>
            <a:ext cx="808893" cy="44882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Moving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859216" y="352657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273239"/>
                </a:solidFill>
              </a:rPr>
              <a:t>Explanation:</a:t>
            </a:r>
            <a:r>
              <a:rPr lang="en-US" dirty="0">
                <a:solidFill>
                  <a:srgbClr val="273239"/>
                </a:solidFill>
              </a:rPr>
              <a:t> move() is a concrete method defined in the abstract class Animal. Since it already has an implementation, subclasses such as Dog can use it directly without overriding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66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Abstraction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59887" y="1830867"/>
            <a:ext cx="10533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</a:rPr>
              <a:t>3. Abstract Properties</a:t>
            </a:r>
          </a:p>
          <a:p>
            <a:pPr fontAlgn="base"/>
            <a:r>
              <a:rPr lang="en-US" dirty="0">
                <a:solidFill>
                  <a:srgbClr val="273239"/>
                </a:solidFill>
              </a:rPr>
              <a:t>Abstract properties work like abstract methods but are used for properties. These properties are declared with @property decorator and marked as abstract using @</a:t>
            </a:r>
            <a:r>
              <a:rPr lang="en-US" dirty="0" err="1">
                <a:solidFill>
                  <a:srgbClr val="273239"/>
                </a:solidFill>
              </a:rPr>
              <a:t>abstractmethod</a:t>
            </a:r>
            <a:r>
              <a:rPr lang="en-US" dirty="0">
                <a:solidFill>
                  <a:srgbClr val="273239"/>
                </a:solidFill>
              </a:rPr>
              <a:t>. Subclasses must implement these properties.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7169" y="3124703"/>
            <a:ext cx="6096000" cy="33547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/>
              <a:t>from </a:t>
            </a:r>
            <a:r>
              <a:rPr lang="en-US" sz="1600" dirty="0" err="1"/>
              <a:t>abc</a:t>
            </a:r>
            <a:r>
              <a:rPr lang="en-US" sz="1600" dirty="0"/>
              <a:t> import ABC, </a:t>
            </a:r>
            <a:r>
              <a:rPr lang="en-US" sz="1600" dirty="0" err="1"/>
              <a:t>abstractmethod</a:t>
            </a:r>
            <a:endParaRPr lang="en-US" sz="1600" dirty="0"/>
          </a:p>
          <a:p>
            <a:r>
              <a:rPr lang="en-US" sz="1600" dirty="0"/>
              <a:t>class Animal(ABC):</a:t>
            </a:r>
          </a:p>
          <a:p>
            <a:r>
              <a:rPr lang="en-US" sz="1600" dirty="0"/>
              <a:t>    @property</a:t>
            </a:r>
          </a:p>
          <a:p>
            <a:r>
              <a:rPr lang="en-US" sz="1600" dirty="0"/>
              <a:t>    @</a:t>
            </a:r>
            <a:r>
              <a:rPr lang="en-US" sz="1600" dirty="0" err="1"/>
              <a:t>abstractmethod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def</a:t>
            </a:r>
            <a:r>
              <a:rPr lang="en-US" sz="1600" dirty="0"/>
              <a:t> species(self):</a:t>
            </a:r>
          </a:p>
          <a:p>
            <a:r>
              <a:rPr lang="en-US" sz="1600" dirty="0"/>
              <a:t>        pass  # Abstract property, must be implemented by subclasses</a:t>
            </a:r>
          </a:p>
          <a:p>
            <a:r>
              <a:rPr lang="en-US" sz="1600" dirty="0"/>
              <a:t>class Dog(Animal):</a:t>
            </a:r>
          </a:p>
          <a:p>
            <a:r>
              <a:rPr lang="en-US" sz="1600" dirty="0"/>
              <a:t>    @property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def</a:t>
            </a:r>
            <a:r>
              <a:rPr lang="en-US" sz="1600" dirty="0"/>
              <a:t> species(self):</a:t>
            </a:r>
          </a:p>
          <a:p>
            <a:r>
              <a:rPr lang="en-US" sz="1600" dirty="0"/>
              <a:t>        return "Canine"</a:t>
            </a:r>
          </a:p>
          <a:p>
            <a:r>
              <a:rPr lang="en-US" sz="1600" dirty="0"/>
              <a:t># Instantiate the concrete subclass</a:t>
            </a:r>
          </a:p>
          <a:p>
            <a:r>
              <a:rPr lang="en-US" sz="1600" dirty="0"/>
              <a:t>dog = Dog()</a:t>
            </a:r>
          </a:p>
          <a:p>
            <a:r>
              <a:rPr lang="en-US" sz="1600" dirty="0"/>
              <a:t>print(</a:t>
            </a:r>
            <a:r>
              <a:rPr lang="en-US" sz="1600" dirty="0" err="1"/>
              <a:t>dog.species</a:t>
            </a:r>
            <a:r>
              <a:rPr lang="en-US" sz="1600" dirty="0"/>
              <a:t>)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288823" y="2853539"/>
            <a:ext cx="549831" cy="44882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/>
              </a:rPr>
              <a:t>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Canine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56130" y="3589298"/>
            <a:ext cx="52783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</a:rPr>
              <a:t>Explanation:</a:t>
            </a:r>
            <a:endParaRPr lang="en-US" dirty="0">
              <a:solidFill>
                <a:srgbClr val="273239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species is an abstract property in Animal class and it is marked as @</a:t>
            </a:r>
            <a:r>
              <a:rPr lang="en-US" dirty="0" err="1">
                <a:solidFill>
                  <a:srgbClr val="273239"/>
                </a:solidFill>
              </a:rPr>
              <a:t>abstractmethod</a:t>
            </a:r>
            <a:r>
              <a:rPr lang="en-US" dirty="0">
                <a:solidFill>
                  <a:srgbClr val="273239"/>
                </a:solidFill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Dog class implements species property, making it a concrete subclass that can be instantiated.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Abstract properties enforce that a subclass provides property’s implementation.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72032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Abstraction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7280" y="1828690"/>
            <a:ext cx="105771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</a:rPr>
              <a:t>4. Abstract Class Instantiation</a:t>
            </a:r>
          </a:p>
          <a:p>
            <a:pPr fontAlgn="base"/>
            <a:r>
              <a:rPr lang="en-US" dirty="0">
                <a:solidFill>
                  <a:srgbClr val="273239"/>
                </a:solidFill>
              </a:rPr>
              <a:t>Abstract classes cannot be instantiated directly. This is because they contain one or more abstract methods or properties that lack implementations. Attempting to instantiate an abstract class results in a </a:t>
            </a:r>
            <a:r>
              <a:rPr lang="en-US" dirty="0" err="1">
                <a:solidFill>
                  <a:srgbClr val="273239"/>
                </a:solidFill>
              </a:rPr>
              <a:t>TypeError</a:t>
            </a:r>
            <a:r>
              <a:rPr lang="en-US" dirty="0">
                <a:solidFill>
                  <a:srgbClr val="273239"/>
                </a:solidFill>
              </a:rPr>
              <a:t>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297822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from </a:t>
            </a:r>
            <a:r>
              <a:rPr lang="en-US" dirty="0" err="1"/>
              <a:t>abc</a:t>
            </a:r>
            <a:r>
              <a:rPr lang="en-US" dirty="0"/>
              <a:t> import ABC, </a:t>
            </a:r>
            <a:r>
              <a:rPr lang="en-US" dirty="0" err="1"/>
              <a:t>abstractmethod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Animal(ABC):</a:t>
            </a:r>
          </a:p>
          <a:p>
            <a:r>
              <a:rPr lang="en-US" dirty="0"/>
              <a:t>    @</a:t>
            </a:r>
            <a:r>
              <a:rPr lang="en-US" dirty="0" err="1"/>
              <a:t>abstractmethod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make_sound</a:t>
            </a:r>
            <a:r>
              <a:rPr lang="en-US" dirty="0"/>
              <a:t>(self):</a:t>
            </a:r>
          </a:p>
          <a:p>
            <a:r>
              <a:rPr lang="en-US" dirty="0"/>
              <a:t>        pass</a:t>
            </a:r>
          </a:p>
          <a:p>
            <a:endParaRPr lang="en-US" dirty="0"/>
          </a:p>
          <a:p>
            <a:r>
              <a:rPr lang="en-US" dirty="0"/>
              <a:t>animal = Animal()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59315" y="307937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b="1" dirty="0">
                <a:solidFill>
                  <a:srgbClr val="273239"/>
                </a:solidFill>
              </a:rPr>
              <a:t>Explanation:</a:t>
            </a:r>
            <a:endParaRPr lang="en-US" dirty="0">
              <a:solidFill>
                <a:srgbClr val="273239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Animal class is abstract because it has </a:t>
            </a:r>
            <a:r>
              <a:rPr lang="en-US" dirty="0" err="1">
                <a:solidFill>
                  <a:srgbClr val="273239"/>
                </a:solidFill>
              </a:rPr>
              <a:t>make_sound</a:t>
            </a:r>
            <a:r>
              <a:rPr lang="en-US" dirty="0">
                <a:solidFill>
                  <a:srgbClr val="273239"/>
                </a:solidFill>
              </a:rPr>
              <a:t>() method as an abstract method.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73239"/>
                </a:solidFill>
              </a:rPr>
              <a:t>Instantiating Animal() raises a </a:t>
            </a:r>
            <a:r>
              <a:rPr lang="en-US" dirty="0" err="1">
                <a:solidFill>
                  <a:srgbClr val="273239"/>
                </a:solidFill>
              </a:rPr>
              <a:t>TypeError</a:t>
            </a:r>
            <a:r>
              <a:rPr lang="en-US" dirty="0">
                <a:solidFill>
                  <a:srgbClr val="273239"/>
                </a:solidFill>
              </a:rPr>
              <a:t> because abstract classes with unimplemented methods can't be instantiated, only fully implemented subclasses can.</a:t>
            </a:r>
            <a:endParaRPr lang="en-US" b="0" i="0" dirty="0">
              <a:solidFill>
                <a:srgbClr val="273239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095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9696" y="1208063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Interface vs.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8694"/>
            <a:ext cx="62777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Interface = what the class provides to users.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Implementation = how the class performs those operations internally.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Interface example: </a:t>
            </a:r>
            <a:r>
              <a:rPr dirty="0" err="1"/>
              <a:t>account.deposit</a:t>
            </a:r>
            <a:r>
              <a:rPr dirty="0"/>
              <a:t>(500)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Implementation example: checking the amount and updating the internal balance.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 good class can change its implementation without forcing users to change their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10</a:t>
            </a:r>
          </a:p>
        </p:txBody>
      </p:sp>
      <p:pic>
        <p:nvPicPr>
          <p:cNvPr id="6146" name="Picture 2" descr="https://img.brainkart.com/imagebk38/O4RdwZk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215" y="2092570"/>
            <a:ext cx="3705225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2111" y="1051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@property: Controlled Attribute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81786"/>
            <a:ext cx="106070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 </a:t>
            </a:r>
            <a:r>
              <a:rPr lang="en-US" sz="2000" b="1" dirty="0"/>
              <a:t>property</a:t>
            </a:r>
            <a:r>
              <a:rPr lang="en-US" sz="2000" dirty="0"/>
              <a:t> in Python lets you create a managed attribute in a class. It allows you to control how an attribute is </a:t>
            </a:r>
            <a:r>
              <a:rPr lang="en-US" sz="2000" b="1" dirty="0"/>
              <a:t>read, modified, or deleted</a:t>
            </a:r>
            <a:r>
              <a:rPr lang="en-US" sz="2000" dirty="0"/>
              <a:t> while keeping it accessible like a normal attribute.</a:t>
            </a:r>
          </a:p>
          <a:p>
            <a:r>
              <a:rPr lang="en-US" sz="2000" dirty="0"/>
              <a:t>The @property decorator is commonly used to define: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Getter</a:t>
            </a:r>
            <a:r>
              <a:rPr lang="en-US" sz="2000" dirty="0"/>
              <a:t> — controls how an attribute is accessed.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Setter</a:t>
            </a:r>
            <a:r>
              <a:rPr lang="en-US" sz="2000" dirty="0"/>
              <a:t> — controls how an attribute is changed.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Deleter</a:t>
            </a:r>
            <a:r>
              <a:rPr lang="en-US" sz="2000" dirty="0"/>
              <a:t> — controls how an attribute is deleted.</a:t>
            </a:r>
          </a:p>
          <a:p>
            <a:r>
              <a:rPr lang="en-US" sz="2000" dirty="0"/>
              <a:t>Properties are useful for: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Validation: reject invalid values.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Consistency: keep object state valid.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Flexibility: change internal storage without changing the public interface.</a:t>
            </a:r>
          </a:p>
          <a:p>
            <a:pPr marL="285750" lvl="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Read-only properties can expose information without allowing direct modification.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3319" y="1102555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Getters with @property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13671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A getter reads an internal value.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Example: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class Student: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age):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self._age</a:t>
            </a:r>
            <a:r>
              <a:rPr dirty="0"/>
              <a:t> = age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@property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age(self):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return </a:t>
            </a:r>
            <a:r>
              <a:rPr dirty="0" err="1"/>
              <a:t>self._age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6072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Setters with @property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90579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A setter controls how an attribute is changed.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It is useful for validation.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Example: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@</a:t>
            </a:r>
            <a:r>
              <a:rPr dirty="0" err="1"/>
              <a:t>age.setter</a:t>
            </a:r>
            <a:endParaRPr dirty="0"/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age(self, value):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if value &gt;= 0: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self._age</a:t>
            </a:r>
            <a:r>
              <a:rPr dirty="0"/>
              <a:t> = value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else: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raise </a:t>
            </a:r>
            <a:r>
              <a:rPr dirty="0" err="1"/>
              <a:t>ValueError</a:t>
            </a:r>
            <a:r>
              <a:rPr dirty="0"/>
              <a:t>('Age cannot be negative')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6072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Setters with @property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13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072" y="1890346"/>
            <a:ext cx="3790950" cy="42866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153" y="1890346"/>
            <a:ext cx="3362325" cy="1581150"/>
          </a:xfrm>
          <a:prstGeom prst="rect">
            <a:avLst/>
          </a:prstGeom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920152" y="4035990"/>
            <a:ext cx="550105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@property allows us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_age using s1.age.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@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age.setter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allows us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control changes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someone tries to set an invalid age, the setter can reject 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controlled 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attributes. </a:t>
            </a:r>
          </a:p>
        </p:txBody>
      </p:sp>
    </p:spTree>
    <p:extLst>
      <p:ext uri="{BB962C8B-B14F-4D97-AF65-F5344CB8AC3E}">
        <p14:creationId xmlns:p14="http://schemas.microsoft.com/office/powerpoint/2010/main" val="4010971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A29032-FEC0-025B-4241-4F24554B78FD}"/>
              </a:ext>
            </a:extLst>
          </p:cNvPr>
          <p:cNvSpPr txBox="1"/>
          <p:nvPr/>
        </p:nvSpPr>
        <p:spPr>
          <a:xfrm>
            <a:off x="1106072" y="1188720"/>
            <a:ext cx="37530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US" dirty="0" err="1"/>
              <a:t>Deleter</a:t>
            </a:r>
            <a:r>
              <a:rPr dirty="0"/>
              <a:t> with @property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317F47-7245-2BFA-C9C7-2355CFF80362}"/>
              </a:ext>
            </a:extLst>
          </p:cNvPr>
          <p:cNvSpPr txBox="1"/>
          <p:nvPr/>
        </p:nvSpPr>
        <p:spPr>
          <a:xfrm>
            <a:off x="751840" y="2159844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Person:</a:t>
            </a:r>
          </a:p>
          <a:p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__(self, age):</a:t>
            </a:r>
          </a:p>
          <a:p>
            <a:r>
              <a:rPr lang="en-US" dirty="0"/>
              <a:t>        </a:t>
            </a:r>
            <a:r>
              <a:rPr lang="en-US" dirty="0" err="1"/>
              <a:t>self._age</a:t>
            </a:r>
            <a:r>
              <a:rPr lang="en-US" dirty="0"/>
              <a:t> = age</a:t>
            </a:r>
          </a:p>
          <a:p>
            <a:r>
              <a:rPr lang="en-US" dirty="0"/>
              <a:t>    @property</a:t>
            </a:r>
          </a:p>
          <a:p>
            <a:r>
              <a:rPr lang="en-US" dirty="0"/>
              <a:t>    def age(self):</a:t>
            </a:r>
          </a:p>
          <a:p>
            <a:r>
              <a:rPr lang="en-US" dirty="0"/>
              <a:t>        return </a:t>
            </a:r>
            <a:r>
              <a:rPr lang="en-US" dirty="0" err="1"/>
              <a:t>self._age</a:t>
            </a:r>
            <a:endParaRPr lang="en-US" dirty="0"/>
          </a:p>
          <a:p>
            <a:r>
              <a:rPr lang="en-US" dirty="0"/>
              <a:t>    @age.setter</a:t>
            </a:r>
          </a:p>
          <a:p>
            <a:r>
              <a:rPr lang="en-US" dirty="0"/>
              <a:t>    def age(self, value):</a:t>
            </a:r>
          </a:p>
          <a:p>
            <a:r>
              <a:rPr lang="en-US" dirty="0"/>
              <a:t>        if value &lt; 0:</a:t>
            </a:r>
          </a:p>
          <a:p>
            <a:r>
              <a:rPr lang="en-US" dirty="0"/>
              <a:t>            raise </a:t>
            </a:r>
            <a:r>
              <a:rPr lang="en-US" dirty="0" err="1"/>
              <a:t>ValueError</a:t>
            </a:r>
            <a:r>
              <a:rPr lang="en-US" dirty="0"/>
              <a:t>("Age cannot be negative")</a:t>
            </a:r>
          </a:p>
          <a:p>
            <a:r>
              <a:rPr lang="en-US" dirty="0"/>
              <a:t>        </a:t>
            </a:r>
            <a:r>
              <a:rPr lang="en-US" dirty="0" err="1"/>
              <a:t>self._age</a:t>
            </a:r>
            <a:r>
              <a:rPr lang="en-US" dirty="0"/>
              <a:t> = value</a:t>
            </a:r>
          </a:p>
          <a:p>
            <a:r>
              <a:rPr lang="en-US" dirty="0"/>
              <a:t>    @age.deleter</a:t>
            </a:r>
          </a:p>
          <a:p>
            <a:r>
              <a:rPr lang="en-US" dirty="0"/>
              <a:t>    def age(self):</a:t>
            </a:r>
          </a:p>
          <a:p>
            <a:r>
              <a:rPr lang="en-US" dirty="0"/>
              <a:t>        print("Deleting age")</a:t>
            </a:r>
          </a:p>
          <a:p>
            <a:r>
              <a:rPr lang="en-US" dirty="0"/>
              <a:t>        del </a:t>
            </a:r>
            <a:r>
              <a:rPr lang="en-US" dirty="0" err="1"/>
              <a:t>self._age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E322B-7D47-47BF-0121-410961D3D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9D7FC6-11C4-1CAF-129C-8A10D5353385}"/>
              </a:ext>
            </a:extLst>
          </p:cNvPr>
          <p:cNvSpPr txBox="1"/>
          <p:nvPr/>
        </p:nvSpPr>
        <p:spPr>
          <a:xfrm>
            <a:off x="1062111" y="1093763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Why Use Getters and Setters?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FA248-CF5D-1895-8D54-03180BB361D5}"/>
              </a:ext>
            </a:extLst>
          </p:cNvPr>
          <p:cNvSpPr txBox="1"/>
          <p:nvPr/>
        </p:nvSpPr>
        <p:spPr>
          <a:xfrm>
            <a:off x="822960" y="2148840"/>
            <a:ext cx="10607040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Validation: reject invalid values.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Consistency: keep object state valid.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Flexibility: change internal storage without changing the public interface.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Read-only properties can expose information without allowing direct modification.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4320E8-B245-F1A1-4B75-112E4DE7686D}"/>
              </a:ext>
            </a:extLst>
          </p:cNvPr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9345A-40E8-13AA-19B3-D435B5C3D8F9}"/>
              </a:ext>
            </a:extLst>
          </p:cNvPr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747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193996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BankAccount</a:t>
            </a:r>
            <a:r>
              <a:rPr dirty="0"/>
              <a:t>: Applying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6955"/>
            <a:ext cx="1060704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 bank account is a useful example because balance and authentication information should be controlled.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Internal data: __balance and __pin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Public operations: deposit(), withdraw(), </a:t>
            </a:r>
            <a:r>
              <a:rPr dirty="0" err="1"/>
              <a:t>verify_pin</a:t>
            </a:r>
            <a:r>
              <a:rPr dirty="0"/>
              <a:t>()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Read-only public property: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8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BankAccount — Class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9032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class </a:t>
            </a:r>
            <a:r>
              <a:rPr dirty="0" err="1"/>
              <a:t>BankAccount</a:t>
            </a:r>
            <a:r>
              <a:rPr dirty="0"/>
              <a:t>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balance, pin):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self.__balance</a:t>
            </a:r>
            <a:r>
              <a:rPr dirty="0"/>
              <a:t> = balance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</a:t>
            </a:r>
            <a:r>
              <a:rPr dirty="0" err="1"/>
              <a:t>self.__pin</a:t>
            </a:r>
            <a:r>
              <a:rPr dirty="0"/>
              <a:t> = pin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@property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balance(self):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return </a:t>
            </a:r>
            <a:r>
              <a:rPr dirty="0" err="1"/>
              <a:t>self.__balance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3319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BankAccount</a:t>
            </a:r>
            <a:r>
              <a:rPr dirty="0"/>
              <a:t> — PIN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345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</a:t>
            </a:r>
            <a:r>
              <a:rPr dirty="0" err="1"/>
              <a:t>verify_pin</a:t>
            </a:r>
            <a:r>
              <a:rPr dirty="0"/>
              <a:t>(self, pin):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return pin == </a:t>
            </a:r>
            <a:r>
              <a:rPr dirty="0" err="1"/>
              <a:t>self.__pin</a:t>
            </a:r>
            <a:endParaRPr dirty="0"/>
          </a:p>
          <a:p>
            <a:pPr>
              <a:spcAft>
                <a:spcPts val="900"/>
              </a:spcAft>
              <a:defRPr sz="2100"/>
            </a:pPr>
            <a:endParaRPr dirty="0"/>
          </a:p>
          <a:p>
            <a:pPr>
              <a:spcAft>
                <a:spcPts val="900"/>
              </a:spcAft>
              <a:defRPr sz="2100"/>
            </a:pPr>
            <a:r>
              <a:rPr dirty="0"/>
              <a:t>Keeping PIN checking inside the class means outside code does not need direct access to the stored value.</a:t>
            </a:r>
          </a:p>
          <a:p>
            <a:pPr>
              <a:spcAft>
                <a:spcPts val="900"/>
              </a:spcAft>
              <a:defRPr sz="2100"/>
            </a:pPr>
            <a:r>
              <a:rPr dirty="0"/>
              <a:t>The class controls the authentication-related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BankAccount</a:t>
            </a:r>
            <a:r>
              <a:rPr dirty="0"/>
              <a:t> — Deposit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78502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deposit(self, amount):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if amount &gt; 0: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self.__balance</a:t>
            </a:r>
            <a:r>
              <a:rPr dirty="0"/>
              <a:t> += amount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else: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print('Invalid amount')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  <a:p>
            <a:pPr>
              <a:spcAft>
                <a:spcPts val="900"/>
              </a:spcAft>
              <a:defRPr sz="1900"/>
            </a:pPr>
            <a:r>
              <a:rPr dirty="0"/>
              <a:t>The method protects the object's state by rejecting invalid deposits.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8" y="1114865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BankAccount</a:t>
            </a:r>
            <a:r>
              <a:rPr dirty="0"/>
              <a:t> — Withdrawal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6279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withdraw(self, amount, pin):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if not </a:t>
            </a:r>
            <a:r>
              <a:rPr dirty="0" err="1"/>
              <a:t>self.verify_pin</a:t>
            </a:r>
            <a:r>
              <a:rPr dirty="0"/>
              <a:t>(pin):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print('Incorrect PIN.')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return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if 0 &lt; amount &lt;= </a:t>
            </a:r>
            <a:r>
              <a:rPr dirty="0" err="1"/>
              <a:t>self.__balance</a:t>
            </a:r>
            <a:r>
              <a:rPr dirty="0"/>
              <a:t>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</a:t>
            </a:r>
            <a:r>
              <a:rPr dirty="0" err="1"/>
              <a:t>self.__balance</a:t>
            </a:r>
            <a:r>
              <a:rPr dirty="0"/>
              <a:t> -= amount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else: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            print('Invalid withdrawal amount')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7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Using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99371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account = </a:t>
            </a:r>
            <a:r>
              <a:rPr dirty="0" err="1"/>
              <a:t>BankAccount</a:t>
            </a:r>
            <a:r>
              <a:rPr dirty="0"/>
              <a:t>(1000, '1234')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print(</a:t>
            </a:r>
            <a:r>
              <a:rPr dirty="0" err="1"/>
              <a:t>account.balance</a:t>
            </a:r>
            <a:r>
              <a:rPr dirty="0"/>
              <a:t>)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 err="1"/>
              <a:t>account.deposit</a:t>
            </a:r>
            <a:r>
              <a:rPr dirty="0"/>
              <a:t>(500)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 err="1"/>
              <a:t>account.withdraw</a:t>
            </a:r>
            <a:r>
              <a:rPr dirty="0"/>
              <a:t>(200, '1234')</a:t>
            </a:r>
          </a:p>
          <a:p>
            <a:pPr>
              <a:spcAft>
                <a:spcPts val="900"/>
              </a:spcAft>
              <a:defRPr sz="1600">
                <a:latin typeface="Courier New"/>
              </a:defRPr>
            </a:pPr>
            <a:r>
              <a:rPr dirty="0"/>
              <a:t>print(</a:t>
            </a:r>
            <a:r>
              <a:rPr dirty="0" err="1"/>
              <a:t>account.balance</a:t>
            </a:r>
            <a:r>
              <a:rPr dirty="0"/>
              <a:t>)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  <a:p>
            <a:pPr>
              <a:spcAft>
                <a:spcPts val="900"/>
              </a:spcAft>
              <a:defRPr sz="1900"/>
            </a:pPr>
            <a:r>
              <a:rPr dirty="0"/>
              <a:t>Users interact through the class interface instead of changing __balance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7" y="11887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Encapsulation + Abstraction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016956"/>
            <a:ext cx="106070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Encapsulation protects and organizes internal state.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Abstraction presents a simple interface to the user.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Properties provide controlled attribute access.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Methods provide controlled operations.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Together, these principles create classes that are easier to use, test, and maintain.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8" y="115003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Important Security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414" y="1999371"/>
            <a:ext cx="10607040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The example is for learning OOP concepts, not real banking security.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Storing a PIN directly as a Python string is not appropriate for a real system.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Real applications should use secure authentication design, protected storage, rate limiting, and appropriate cryptographic hashing for PIN/password verification.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Private attributes such as __pin do not make sensitive information cryptographically secure.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06072" y="127136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11448"/>
            <a:ext cx="10607040" cy="2608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Assuming __name is impossible to access.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Using protected/private naming as if it were encryption.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Allowing direct modification of important state.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Forgetting validation in setters and methods.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Putting too much implementation detail into the public interface.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Storing real credentials in plain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150034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90579"/>
            <a:ext cx="10607040" cy="2531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Encapsulation controls access to object data.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Python uses naming conventions: public, _protected, and __private-</a:t>
            </a:r>
            <a:r>
              <a:rPr dirty="0" err="1"/>
              <a:t>ish</a:t>
            </a:r>
            <a:r>
              <a:rPr dirty="0"/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600">
                <a:latin typeface="Courier New"/>
              </a:defRPr>
            </a:pPr>
            <a:r>
              <a:rPr dirty="0"/>
              <a:t>@property provides controlled getter/setter behavior.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Abstraction hides implementation details.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An interface describes what users can do; implementation describes how it works.</a:t>
            </a: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2100"/>
            </a:pPr>
            <a:r>
              <a:rPr dirty="0"/>
              <a:t>Sensitive data requires real security measures beyond Python access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05840" y="1123657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Quick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93863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/>
            </a:pPr>
            <a:r>
              <a:rPr dirty="0"/>
              <a:t>1. What is encapsulation?</a:t>
            </a:r>
          </a:p>
          <a:p>
            <a:pPr>
              <a:spcAft>
                <a:spcPts val="900"/>
              </a:spcAft>
              <a:defRPr sz="2100"/>
            </a:pPr>
            <a:r>
              <a:rPr dirty="0"/>
              <a:t>2. What does a leading underscore mean in Python?</a:t>
            </a:r>
          </a:p>
          <a:p>
            <a:pPr>
              <a:spcAft>
                <a:spcPts val="900"/>
              </a:spcAft>
              <a:defRPr sz="2100"/>
            </a:pPr>
            <a:r>
              <a:rPr dirty="0"/>
              <a:t>3. What does @property do?</a:t>
            </a:r>
          </a:p>
          <a:p>
            <a:pPr>
              <a:spcAft>
                <a:spcPts val="900"/>
              </a:spcAft>
              <a:defRPr sz="2100"/>
            </a:pPr>
            <a:r>
              <a:rPr dirty="0"/>
              <a:t>4. What is the difference between interface and implementation?</a:t>
            </a:r>
          </a:p>
          <a:p>
            <a:pPr>
              <a:spcAft>
                <a:spcPts val="900"/>
              </a:spcAft>
              <a:defRPr sz="2100"/>
            </a:pPr>
            <a:r>
              <a:rPr dirty="0"/>
              <a:t>5. Why is __pin not enough to secure a real PIN?</a:t>
            </a:r>
          </a:p>
          <a:p>
            <a:pPr>
              <a:spcAft>
                <a:spcPts val="900"/>
              </a:spcAft>
              <a:defRPr sz="2100"/>
            </a:pPr>
            <a:r>
              <a:rPr dirty="0"/>
              <a:t>6. Why should balance changes happen through methods?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09024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Python Program 1 — Basic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4615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The balance is stored internally and changed through a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74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rPr dirty="0"/>
              <a:t>class </a:t>
            </a:r>
            <a:r>
              <a:rPr dirty="0" err="1"/>
              <a:t>BankAccount</a:t>
            </a:r>
            <a:r>
              <a:rPr dirty="0"/>
              <a:t>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balance):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self.__balance</a:t>
            </a:r>
            <a:r>
              <a:rPr dirty="0"/>
              <a:t> = balance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deposit(self, amount):</a:t>
            </a:r>
            <a:br>
              <a:rPr dirty="0"/>
            </a:br>
            <a:r>
              <a:rPr dirty="0"/>
              <a:t>        if amount &gt; 0: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self.__balance</a:t>
            </a:r>
            <a:r>
              <a:rPr dirty="0"/>
              <a:t> += amount</a:t>
            </a:r>
            <a:br>
              <a:rPr dirty="0"/>
            </a:b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</a:t>
            </a:r>
            <a:r>
              <a:rPr dirty="0" err="1"/>
              <a:t>get_balance</a:t>
            </a:r>
            <a:r>
              <a:rPr dirty="0"/>
              <a:t>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self.__balance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account = </a:t>
            </a:r>
            <a:r>
              <a:rPr dirty="0" err="1"/>
              <a:t>BankAccount</a:t>
            </a:r>
            <a:r>
              <a:rPr dirty="0"/>
              <a:t>(1000)</a:t>
            </a:r>
            <a:br>
              <a:rPr dirty="0"/>
            </a:br>
            <a:r>
              <a:rPr dirty="0" err="1"/>
              <a:t>account.deposit</a:t>
            </a:r>
            <a:r>
              <a:rPr dirty="0"/>
              <a:t>(500)</a:t>
            </a:r>
            <a:br>
              <a:rPr dirty="0"/>
            </a:br>
            <a:br>
              <a:rPr dirty="0"/>
            </a:br>
            <a:r>
              <a:rPr dirty="0"/>
              <a:t>print("Balance:", </a:t>
            </a:r>
            <a:r>
              <a:rPr dirty="0" err="1"/>
              <a:t>account.get_balance</a:t>
            </a:r>
            <a:r>
              <a:rPr dirty="0"/>
              <a:t>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9695" y="122740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Python Program 2 — @property Getter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41342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The @property decorator lets us read age using </a:t>
            </a:r>
            <a:r>
              <a:rPr dirty="0" err="1"/>
              <a:t>student.age</a:t>
            </a:r>
            <a:r>
              <a:rPr dirty="0"/>
              <a:t> instead of calling a getter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35702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rPr dirty="0"/>
              <a:t>class Student: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age):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self._age</a:t>
            </a:r>
            <a:r>
              <a:rPr dirty="0"/>
              <a:t> = age</a:t>
            </a:r>
            <a:br>
              <a:rPr dirty="0"/>
            </a:br>
            <a:br>
              <a:rPr dirty="0"/>
            </a:br>
            <a:r>
              <a:rPr dirty="0"/>
              <a:t>    @property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age(self):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self._age</a:t>
            </a:r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student = Student(16)</a:t>
            </a:r>
            <a:br>
              <a:rPr dirty="0"/>
            </a:br>
            <a:r>
              <a:rPr dirty="0"/>
              <a:t>print("Age:", </a:t>
            </a:r>
            <a:r>
              <a:rPr dirty="0" err="1"/>
              <a:t>student.age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0903" y="113596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Python Program 3 — @property Getter + Setter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54944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The setter validates data before allowing the internal value to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78102"/>
            <a:ext cx="107899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rPr dirty="0"/>
              <a:t>class Student: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age):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self._age</a:t>
            </a:r>
            <a:r>
              <a:rPr dirty="0"/>
              <a:t> = age</a:t>
            </a:r>
            <a:br>
              <a:rPr dirty="0"/>
            </a:br>
            <a:br>
              <a:rPr dirty="0"/>
            </a:br>
            <a:r>
              <a:rPr dirty="0"/>
              <a:t>    @property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age(self):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self._age</a:t>
            </a:r>
            <a:br>
              <a:rPr dirty="0"/>
            </a:br>
            <a:r>
              <a:rPr dirty="0"/>
              <a:t>    @</a:t>
            </a:r>
            <a:r>
              <a:rPr dirty="0" err="1"/>
              <a:t>age.setter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age(self, value):</a:t>
            </a:r>
            <a:br>
              <a:rPr dirty="0"/>
            </a:br>
            <a:r>
              <a:rPr dirty="0"/>
              <a:t>        if value &gt;= 0: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self._age</a:t>
            </a:r>
            <a:r>
              <a:rPr dirty="0"/>
              <a:t> = value</a:t>
            </a:r>
            <a:br>
              <a:rPr dirty="0"/>
            </a:br>
            <a:r>
              <a:rPr dirty="0"/>
              <a:t>        else:</a:t>
            </a:r>
            <a:br>
              <a:rPr dirty="0"/>
            </a:br>
            <a:r>
              <a:rPr dirty="0"/>
              <a:t>            print("Age cannot be negative.")</a:t>
            </a:r>
            <a:br>
              <a:rPr dirty="0"/>
            </a:br>
            <a:br>
              <a:rPr dirty="0"/>
            </a:br>
            <a:r>
              <a:rPr dirty="0"/>
              <a:t>student = Student(16)</a:t>
            </a:r>
            <a:br>
              <a:rPr dirty="0"/>
            </a:br>
            <a:r>
              <a:rPr dirty="0" err="1"/>
              <a:t>student.age</a:t>
            </a:r>
            <a:r>
              <a:rPr dirty="0"/>
              <a:t> = 17</a:t>
            </a:r>
            <a:br>
              <a:rPr dirty="0"/>
            </a:br>
            <a:r>
              <a:rPr dirty="0"/>
              <a:t>print(</a:t>
            </a:r>
            <a:r>
              <a:rPr dirty="0" err="1"/>
              <a:t>student.age</a:t>
            </a:r>
            <a:r>
              <a:rPr dirty="0"/>
              <a:t>)</a:t>
            </a:r>
            <a:br>
              <a:rPr dirty="0"/>
            </a:br>
            <a:r>
              <a:rPr dirty="0" err="1"/>
              <a:t>student.age</a:t>
            </a:r>
            <a:r>
              <a:rPr dirty="0"/>
              <a:t> = -5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8" y="115443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Python Program 4 — Interface vs.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0594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deposit() and </a:t>
            </a:r>
            <a:r>
              <a:rPr dirty="0" err="1"/>
              <a:t>get_balance</a:t>
            </a:r>
            <a:r>
              <a:rPr dirty="0"/>
              <a:t>() are part of the interface; the internal balance update is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7899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rPr dirty="0"/>
              <a:t>class </a:t>
            </a:r>
            <a:r>
              <a:rPr dirty="0" err="1"/>
              <a:t>BankAccount</a:t>
            </a:r>
            <a:r>
              <a:rPr dirty="0"/>
              <a:t>: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__</a:t>
            </a:r>
            <a:r>
              <a:rPr dirty="0" err="1"/>
              <a:t>init</a:t>
            </a:r>
            <a:r>
              <a:rPr dirty="0"/>
              <a:t>__(self, balance):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self.__balance</a:t>
            </a:r>
            <a:r>
              <a:rPr dirty="0"/>
              <a:t> = balance</a:t>
            </a:r>
            <a:br>
              <a:rPr dirty="0"/>
            </a:br>
            <a:br>
              <a:rPr dirty="0"/>
            </a:br>
            <a:r>
              <a:rPr dirty="0"/>
              <a:t>    # Public interface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deposit(self, amount):</a:t>
            </a:r>
            <a:br>
              <a:rPr dirty="0"/>
            </a:br>
            <a:r>
              <a:rPr dirty="0"/>
              <a:t>        if amount &gt; 0:</a:t>
            </a:r>
            <a:br>
              <a:rPr dirty="0"/>
            </a:br>
            <a:r>
              <a:rPr dirty="0"/>
              <a:t>            </a:t>
            </a:r>
            <a:r>
              <a:rPr dirty="0" err="1"/>
              <a:t>self.__balance</a:t>
            </a:r>
            <a:r>
              <a:rPr dirty="0"/>
              <a:t> += amount</a:t>
            </a:r>
            <a:br>
              <a:rPr dirty="0"/>
            </a:br>
            <a:br>
              <a:rPr dirty="0"/>
            </a:br>
            <a:r>
              <a:rPr dirty="0"/>
              <a:t>    # Public interface</a:t>
            </a:r>
            <a:br>
              <a:rPr dirty="0"/>
            </a:br>
            <a:r>
              <a:rPr dirty="0"/>
              <a:t>    </a:t>
            </a:r>
            <a:r>
              <a:rPr dirty="0" err="1"/>
              <a:t>def</a:t>
            </a:r>
            <a:r>
              <a:rPr dirty="0"/>
              <a:t> </a:t>
            </a:r>
            <a:r>
              <a:rPr dirty="0" err="1"/>
              <a:t>get_balance</a:t>
            </a:r>
            <a:r>
              <a:rPr dirty="0"/>
              <a:t>(self):</a:t>
            </a:r>
            <a:br>
              <a:rPr dirty="0"/>
            </a:br>
            <a:r>
              <a:rPr dirty="0"/>
              <a:t>        return </a:t>
            </a:r>
            <a:r>
              <a:rPr dirty="0" err="1"/>
              <a:t>self.__balance</a:t>
            </a:r>
            <a:br>
              <a:rPr dirty="0"/>
            </a:br>
            <a:br>
              <a:rPr dirty="0"/>
            </a:br>
            <a:r>
              <a:rPr dirty="0"/>
              <a:t>account = </a:t>
            </a:r>
            <a:r>
              <a:rPr dirty="0" err="1"/>
              <a:t>BankAccount</a:t>
            </a:r>
            <a:r>
              <a:rPr dirty="0"/>
              <a:t>(1000)</a:t>
            </a:r>
            <a:br>
              <a:rPr dirty="0"/>
            </a:br>
            <a:br>
              <a:rPr dirty="0"/>
            </a:br>
            <a:r>
              <a:rPr dirty="0"/>
              <a:t># The user only needs to know the interface:</a:t>
            </a:r>
            <a:br>
              <a:rPr dirty="0"/>
            </a:br>
            <a:r>
              <a:rPr dirty="0" err="1"/>
              <a:t>account.deposit</a:t>
            </a:r>
            <a:r>
              <a:rPr dirty="0"/>
              <a:t>(250)</a:t>
            </a:r>
            <a:br>
              <a:rPr dirty="0"/>
            </a:br>
            <a:r>
              <a:rPr dirty="0"/>
              <a:t>print(</a:t>
            </a:r>
            <a:r>
              <a:rPr dirty="0" err="1"/>
              <a:t>account.get_balance</a:t>
            </a:r>
            <a:r>
              <a:rPr dirty="0"/>
              <a:t>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4865" y="11342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Python Program 5 — Bank Account with PIN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2856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This combines private attributes, a read-only property, validation, and controlled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25748"/>
            <a:ext cx="10789920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rPr sz="1050" dirty="0"/>
              <a:t>class </a:t>
            </a:r>
            <a:r>
              <a:rPr sz="1050" dirty="0" err="1"/>
              <a:t>BankAccount</a:t>
            </a:r>
            <a:r>
              <a:rPr sz="1050" dirty="0"/>
              <a:t>: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__</a:t>
            </a:r>
            <a:r>
              <a:rPr sz="1050" dirty="0" err="1"/>
              <a:t>init</a:t>
            </a:r>
            <a:r>
              <a:rPr sz="1050" dirty="0"/>
              <a:t>__(self, balance, pin):</a:t>
            </a:r>
            <a:br>
              <a:rPr sz="1050" dirty="0"/>
            </a:br>
            <a:r>
              <a:rPr sz="1050" dirty="0"/>
              <a:t>        </a:t>
            </a:r>
            <a:r>
              <a:rPr sz="1050" dirty="0" err="1"/>
              <a:t>self.__balance</a:t>
            </a:r>
            <a:r>
              <a:rPr sz="1050" dirty="0"/>
              <a:t> = balance</a:t>
            </a:r>
            <a:br>
              <a:rPr sz="1050" dirty="0"/>
            </a:br>
            <a:r>
              <a:rPr sz="1050" dirty="0"/>
              <a:t>        </a:t>
            </a:r>
            <a:r>
              <a:rPr sz="1050" dirty="0" err="1"/>
              <a:t>self.__pin</a:t>
            </a:r>
            <a:r>
              <a:rPr sz="1050" dirty="0"/>
              <a:t> = pin</a:t>
            </a:r>
            <a:br>
              <a:rPr sz="1050" dirty="0"/>
            </a:br>
            <a:r>
              <a:rPr sz="1050" dirty="0"/>
              <a:t>    @property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balance(self):</a:t>
            </a:r>
            <a:br>
              <a:rPr sz="1050" dirty="0"/>
            </a:br>
            <a:r>
              <a:rPr sz="1050" dirty="0"/>
              <a:t>        return </a:t>
            </a:r>
            <a:r>
              <a:rPr sz="1050" dirty="0" err="1"/>
              <a:t>self.__balance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</a:t>
            </a:r>
            <a:r>
              <a:rPr sz="1050" dirty="0" err="1"/>
              <a:t>verify_pin</a:t>
            </a:r>
            <a:r>
              <a:rPr sz="1050" dirty="0"/>
              <a:t>(self, pin):</a:t>
            </a:r>
            <a:br>
              <a:rPr sz="1050" dirty="0"/>
            </a:br>
            <a:r>
              <a:rPr sz="1050" dirty="0"/>
              <a:t>        return pin == </a:t>
            </a:r>
            <a:r>
              <a:rPr sz="1050" dirty="0" err="1"/>
              <a:t>self.__pin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deposit(self, amount):</a:t>
            </a:r>
            <a:br>
              <a:rPr sz="1050" dirty="0"/>
            </a:br>
            <a:r>
              <a:rPr sz="1050" dirty="0"/>
              <a:t>        if amount &gt; 0:</a:t>
            </a:r>
            <a:br>
              <a:rPr sz="1050" dirty="0"/>
            </a:br>
            <a:r>
              <a:rPr sz="1050" dirty="0"/>
              <a:t>            </a:t>
            </a:r>
            <a:r>
              <a:rPr sz="1050" dirty="0" err="1"/>
              <a:t>self.__balance</a:t>
            </a:r>
            <a:r>
              <a:rPr sz="1050" dirty="0"/>
              <a:t> += amount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withdraw(self, amount, pin):</a:t>
            </a:r>
            <a:br>
              <a:rPr sz="1050" dirty="0"/>
            </a:br>
            <a:r>
              <a:rPr sz="1050" dirty="0"/>
              <a:t>        if not </a:t>
            </a:r>
            <a:r>
              <a:rPr sz="1050" dirty="0" err="1"/>
              <a:t>self.verify_pin</a:t>
            </a:r>
            <a:r>
              <a:rPr sz="1050" dirty="0"/>
              <a:t>(pin):</a:t>
            </a:r>
            <a:br>
              <a:rPr sz="1050" dirty="0"/>
            </a:br>
            <a:r>
              <a:rPr sz="1050" dirty="0"/>
              <a:t>            print("Incorrect PIN.")</a:t>
            </a:r>
            <a:br>
              <a:rPr sz="1050" dirty="0"/>
            </a:br>
            <a:r>
              <a:rPr sz="1050" dirty="0"/>
              <a:t>            return</a:t>
            </a:r>
            <a:br>
              <a:rPr sz="1050" dirty="0"/>
            </a:br>
            <a:r>
              <a:rPr sz="1050" dirty="0"/>
              <a:t>        if 0 &lt; amount &lt;= </a:t>
            </a:r>
            <a:r>
              <a:rPr sz="1050" dirty="0" err="1"/>
              <a:t>self.__balance</a:t>
            </a:r>
            <a:r>
              <a:rPr sz="1050" dirty="0"/>
              <a:t>:</a:t>
            </a:r>
            <a:br>
              <a:rPr sz="1050" dirty="0"/>
            </a:br>
            <a:r>
              <a:rPr sz="1050" dirty="0"/>
              <a:t>            </a:t>
            </a:r>
            <a:r>
              <a:rPr sz="1050" dirty="0" err="1"/>
              <a:t>self.__balance</a:t>
            </a:r>
            <a:r>
              <a:rPr sz="1050" dirty="0"/>
              <a:t> -= amount</a:t>
            </a:r>
            <a:br>
              <a:rPr sz="1050" dirty="0"/>
            </a:br>
            <a:r>
              <a:rPr sz="1050" dirty="0"/>
              <a:t>            print("Withdrawal successful.")</a:t>
            </a:r>
            <a:br>
              <a:rPr sz="1050" dirty="0"/>
            </a:br>
            <a:r>
              <a:rPr sz="1050" dirty="0"/>
              <a:t>        else:</a:t>
            </a:r>
            <a:br>
              <a:rPr sz="1050" dirty="0"/>
            </a:br>
            <a:r>
              <a:rPr sz="1050" dirty="0"/>
              <a:t>            print("Invalid withdrawal amount.")</a:t>
            </a:r>
            <a:br>
              <a:rPr sz="1050" dirty="0"/>
            </a:br>
            <a:r>
              <a:rPr sz="1050" dirty="0"/>
              <a:t>account = </a:t>
            </a:r>
            <a:r>
              <a:rPr sz="1050" dirty="0" err="1"/>
              <a:t>BankAccount</a:t>
            </a:r>
            <a:r>
              <a:rPr sz="1050" dirty="0"/>
              <a:t>(1000, "1234")</a:t>
            </a:r>
            <a:br>
              <a:rPr sz="1050" dirty="0"/>
            </a:br>
            <a:br>
              <a:rPr sz="1050" dirty="0"/>
            </a:br>
            <a:r>
              <a:rPr sz="1050" dirty="0"/>
              <a:t>print("Balance:", </a:t>
            </a:r>
            <a:r>
              <a:rPr sz="1050" dirty="0" err="1"/>
              <a:t>account.balance</a:t>
            </a:r>
            <a:r>
              <a:rPr sz="1050" dirty="0"/>
              <a:t>)</a:t>
            </a:r>
            <a:br>
              <a:rPr sz="1050" dirty="0"/>
            </a:br>
            <a:r>
              <a:rPr sz="1050" dirty="0" err="1"/>
              <a:t>account.deposit</a:t>
            </a:r>
            <a:r>
              <a:rPr sz="1050" dirty="0"/>
              <a:t>(500)</a:t>
            </a:r>
            <a:br>
              <a:rPr sz="1050" dirty="0"/>
            </a:br>
            <a:r>
              <a:rPr sz="1050" dirty="0" err="1"/>
              <a:t>account.withdraw</a:t>
            </a:r>
            <a:r>
              <a:rPr sz="1050" dirty="0"/>
              <a:t>(200, "1234")</a:t>
            </a:r>
            <a:br>
              <a:rPr sz="1050" dirty="0"/>
            </a:br>
            <a:r>
              <a:rPr sz="1050" dirty="0"/>
              <a:t>print("Balance:", </a:t>
            </a:r>
            <a:r>
              <a:rPr sz="1050" dirty="0" err="1"/>
              <a:t>account.balance</a:t>
            </a:r>
            <a:r>
              <a:rPr sz="1050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53319" y="1227406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Python Program 6 — Menu-Based Bank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54945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/>
              <a:t>This is a compact practical program suitable for a classroom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80260"/>
            <a:ext cx="1078992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rPr sz="1050" dirty="0"/>
              <a:t>class </a:t>
            </a:r>
            <a:r>
              <a:rPr sz="1050" dirty="0" err="1"/>
              <a:t>BankAccount</a:t>
            </a:r>
            <a:r>
              <a:rPr sz="1050" dirty="0"/>
              <a:t>: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__</a:t>
            </a:r>
            <a:r>
              <a:rPr sz="1050" dirty="0" err="1"/>
              <a:t>init</a:t>
            </a:r>
            <a:r>
              <a:rPr sz="1050" dirty="0"/>
              <a:t>__(self, balance, pin):</a:t>
            </a:r>
            <a:br>
              <a:rPr sz="1050" dirty="0"/>
            </a:br>
            <a:r>
              <a:rPr sz="1050" dirty="0"/>
              <a:t>        </a:t>
            </a:r>
            <a:r>
              <a:rPr sz="1050" dirty="0" err="1"/>
              <a:t>self.__balance</a:t>
            </a:r>
            <a:r>
              <a:rPr sz="1050" dirty="0"/>
              <a:t> = balance</a:t>
            </a:r>
            <a:br>
              <a:rPr sz="1050" dirty="0"/>
            </a:br>
            <a:r>
              <a:rPr sz="1050" dirty="0"/>
              <a:t>        </a:t>
            </a:r>
            <a:r>
              <a:rPr sz="1050" dirty="0" err="1"/>
              <a:t>self.__pin</a:t>
            </a:r>
            <a:r>
              <a:rPr sz="1050" dirty="0"/>
              <a:t> = pin</a:t>
            </a:r>
            <a:br>
              <a:rPr sz="1050" dirty="0"/>
            </a:br>
            <a:r>
              <a:rPr sz="1050" dirty="0"/>
              <a:t>    @property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balance(self):</a:t>
            </a:r>
            <a:br>
              <a:rPr sz="1050" dirty="0"/>
            </a:br>
            <a:r>
              <a:rPr sz="1050" dirty="0"/>
              <a:t>        return </a:t>
            </a:r>
            <a:r>
              <a:rPr sz="1050" dirty="0" err="1"/>
              <a:t>self.__balance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</a:t>
            </a:r>
            <a:r>
              <a:rPr sz="1050" dirty="0" err="1"/>
              <a:t>check_pin</a:t>
            </a:r>
            <a:r>
              <a:rPr sz="1050" dirty="0"/>
              <a:t>(self, pin):</a:t>
            </a:r>
            <a:br>
              <a:rPr sz="1050" dirty="0"/>
            </a:br>
            <a:r>
              <a:rPr sz="1050" dirty="0"/>
              <a:t>        return pin == </a:t>
            </a:r>
            <a:r>
              <a:rPr sz="1050" dirty="0" err="1"/>
              <a:t>self.__pin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deposit(self, amount):</a:t>
            </a:r>
            <a:br>
              <a:rPr sz="1050" dirty="0"/>
            </a:br>
            <a:r>
              <a:rPr sz="1050" dirty="0"/>
              <a:t>        if amount &gt; 0:</a:t>
            </a:r>
            <a:br>
              <a:rPr sz="1050" dirty="0"/>
            </a:br>
            <a:r>
              <a:rPr sz="1050" dirty="0"/>
              <a:t>            </a:t>
            </a:r>
            <a:r>
              <a:rPr sz="1050" dirty="0" err="1"/>
              <a:t>self.__balance</a:t>
            </a:r>
            <a:r>
              <a:rPr sz="1050" dirty="0"/>
              <a:t> += amount</a:t>
            </a:r>
            <a:br>
              <a:rPr sz="1050" dirty="0"/>
            </a:br>
            <a:r>
              <a:rPr sz="1050" dirty="0"/>
              <a:t>            return True</a:t>
            </a:r>
            <a:br>
              <a:rPr sz="1050" dirty="0"/>
            </a:br>
            <a:r>
              <a:rPr sz="1050" dirty="0"/>
              <a:t>        return False</a:t>
            </a:r>
            <a:br>
              <a:rPr sz="1050" dirty="0"/>
            </a:br>
            <a:r>
              <a:rPr sz="1050" dirty="0"/>
              <a:t>    </a:t>
            </a:r>
            <a:r>
              <a:rPr sz="1050" dirty="0" err="1"/>
              <a:t>def</a:t>
            </a:r>
            <a:r>
              <a:rPr sz="1050" dirty="0"/>
              <a:t> withdraw(self, amount, pin):</a:t>
            </a:r>
            <a:br>
              <a:rPr sz="1050" dirty="0"/>
            </a:br>
            <a:r>
              <a:rPr sz="1050" dirty="0"/>
              <a:t>        if not </a:t>
            </a:r>
            <a:r>
              <a:rPr sz="1050" dirty="0" err="1"/>
              <a:t>self.check_pin</a:t>
            </a:r>
            <a:r>
              <a:rPr sz="1050" dirty="0"/>
              <a:t>(pin):</a:t>
            </a:r>
            <a:br>
              <a:rPr sz="1050" dirty="0"/>
            </a:br>
            <a:r>
              <a:rPr sz="1050" dirty="0"/>
              <a:t>            return "Incorrect PIN"</a:t>
            </a:r>
            <a:br>
              <a:rPr sz="1050" dirty="0"/>
            </a:br>
            <a:r>
              <a:rPr sz="1050" dirty="0"/>
              <a:t>        if amount &lt;= 0 or amount &gt; </a:t>
            </a:r>
            <a:r>
              <a:rPr sz="1050" dirty="0" err="1"/>
              <a:t>self.__balance</a:t>
            </a:r>
            <a:r>
              <a:rPr sz="1050" dirty="0"/>
              <a:t>:</a:t>
            </a:r>
            <a:br>
              <a:rPr sz="1050" dirty="0"/>
            </a:br>
            <a:r>
              <a:rPr sz="1050" dirty="0"/>
              <a:t>            return "Invalid amount"</a:t>
            </a:r>
            <a:br>
              <a:rPr sz="1050" dirty="0"/>
            </a:br>
            <a:r>
              <a:rPr sz="1050" dirty="0"/>
              <a:t>        </a:t>
            </a:r>
            <a:r>
              <a:rPr sz="1050" dirty="0" err="1"/>
              <a:t>self.__balance</a:t>
            </a:r>
            <a:r>
              <a:rPr sz="1050" dirty="0"/>
              <a:t> -= amount</a:t>
            </a:r>
            <a:br>
              <a:rPr sz="1050" dirty="0"/>
            </a:br>
            <a:r>
              <a:rPr sz="1050" dirty="0"/>
              <a:t>        return "Withdrawal successful"</a:t>
            </a:r>
            <a:br>
              <a:rPr sz="1050" dirty="0"/>
            </a:br>
            <a:r>
              <a:rPr sz="1050" dirty="0"/>
              <a:t>account = </a:t>
            </a:r>
            <a:r>
              <a:rPr sz="1050" dirty="0" err="1"/>
              <a:t>BankAccount</a:t>
            </a:r>
            <a:r>
              <a:rPr sz="1050" dirty="0"/>
              <a:t>(2000, "2468")</a:t>
            </a:r>
            <a:br>
              <a:rPr sz="1050" dirty="0"/>
            </a:br>
            <a:r>
              <a:rPr sz="1050" dirty="0"/>
              <a:t>print("Current balance:", </a:t>
            </a:r>
            <a:r>
              <a:rPr sz="1050" dirty="0" err="1"/>
              <a:t>account.balance</a:t>
            </a:r>
            <a:r>
              <a:rPr sz="1050" dirty="0"/>
              <a:t>)</a:t>
            </a:r>
            <a:br>
              <a:rPr sz="1050" dirty="0"/>
            </a:br>
            <a:r>
              <a:rPr sz="1050" dirty="0"/>
              <a:t>print(</a:t>
            </a:r>
            <a:r>
              <a:rPr sz="1050" dirty="0" err="1"/>
              <a:t>account.deposit</a:t>
            </a:r>
            <a:r>
              <a:rPr sz="1050" dirty="0"/>
              <a:t>(300))</a:t>
            </a:r>
            <a:br>
              <a:rPr sz="1050" dirty="0"/>
            </a:br>
            <a:r>
              <a:rPr sz="1050" dirty="0"/>
              <a:t>print(</a:t>
            </a:r>
            <a:r>
              <a:rPr sz="1050" dirty="0" err="1"/>
              <a:t>account.withdraw</a:t>
            </a:r>
            <a:r>
              <a:rPr sz="1050" dirty="0"/>
              <a:t>(500, "2468"))</a:t>
            </a:r>
            <a:br>
              <a:rPr sz="1050" dirty="0"/>
            </a:br>
            <a:r>
              <a:rPr sz="1050" dirty="0"/>
              <a:t>print("Final balance:", </a:t>
            </a:r>
            <a:r>
              <a:rPr sz="1050" dirty="0" err="1"/>
              <a:t>account.balance</a:t>
            </a:r>
            <a:r>
              <a:rPr sz="1050"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8487" y="1051560"/>
            <a:ext cx="9688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69710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rPr dirty="0"/>
              <a:t>1. Create a Person class with a protected _age attribute and a method that displays the age.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2. Create a Rectangle class with private __length and __width attributes. Add a method to calculate area.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3. Create a Student class with an @property getter for marks.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4. Add a setter to </a:t>
            </a:r>
            <a:r>
              <a:rPr dirty="0" err="1"/>
              <a:t>Student.marks</a:t>
            </a:r>
            <a:r>
              <a:rPr dirty="0"/>
              <a:t> that rejects marks below 0 or above 100.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5. Explain in your own words the difference between encapsulation and abstraction.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2111" y="1067386"/>
            <a:ext cx="9688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11448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rPr dirty="0"/>
              <a:t>1. Create a </a:t>
            </a:r>
            <a:r>
              <a:rPr dirty="0" err="1"/>
              <a:t>BankAccount</a:t>
            </a:r>
            <a:r>
              <a:rPr dirty="0"/>
              <a:t> class with private __balance. Implement deposit() and withdraw().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2. Add a read-only @property called balance.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3. Modify withdraw() so that a withdrawal cannot exceed the current balance.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4. Add a private-</a:t>
            </a:r>
            <a:r>
              <a:rPr dirty="0" err="1"/>
              <a:t>ish</a:t>
            </a:r>
            <a:r>
              <a:rPr dirty="0"/>
              <a:t> __pin and a </a:t>
            </a:r>
            <a:r>
              <a:rPr dirty="0" err="1"/>
              <a:t>verify_pin</a:t>
            </a:r>
            <a:r>
              <a:rPr dirty="0"/>
              <a:t>() method.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5. Allow withdrawal only when the correct PIN is supplied.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6. Explain which parts of your </a:t>
            </a:r>
            <a:r>
              <a:rPr dirty="0" err="1"/>
              <a:t>BankAccount</a:t>
            </a:r>
            <a:r>
              <a:rPr dirty="0"/>
              <a:t> class form the public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5733" y="1143000"/>
            <a:ext cx="10506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Tasks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74546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rPr dirty="0"/>
              <a:t>1. Build a complete ATM-style </a:t>
            </a:r>
            <a:r>
              <a:rPr dirty="0" err="1"/>
              <a:t>BankAccount</a:t>
            </a:r>
            <a:r>
              <a:rPr dirty="0"/>
              <a:t> program using encapsulation.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2. Include deposit, withdrawal, balance checking, and PIN verification.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3. Use @property for balance and at least one setter for validated data.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4. Add clear error messages for invalid amounts and incorrect PINs.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5. Do not allow direct modification of __balance through the normal class interface.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6. Bonus: add a transaction history list and a method that displays recent transactions.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0" y="1141241"/>
            <a:ext cx="168424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00923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rPr dirty="0"/>
              <a:t>1. Why is __balance preferable to a public balance attribute in this example?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2. Is a double underscore the same thing as encryption? Explain.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3. What is the purpose of @property?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4. When would a setter be useful?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5. What is the difference between an interface and an implementation?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6. How does abstraction make a class easier to use?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7. Why should real applications not store PINs as plain-text strings?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0904" y="1051560"/>
            <a:ext cx="17623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Final </a:t>
            </a:r>
            <a:r>
              <a:rPr lang="en-US" dirty="0"/>
              <a:t>Tasks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069709"/>
            <a:ext cx="106070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/>
            </a:pPr>
            <a:r>
              <a:rPr dirty="0"/>
              <a:t>1. Design a </a:t>
            </a:r>
            <a:r>
              <a:rPr dirty="0" err="1"/>
              <a:t>SecureBank</a:t>
            </a:r>
            <a:r>
              <a:rPr dirty="0"/>
              <a:t> class using encapsulation and data abstraction.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2. Requirements: private balance, controlled deposit and withdrawal, PIN verification, @property balance getter, input validation, and a clear public interface.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3. Submit: Python source code, sample output, and a short explanation of where encapsulation and abstraction are used.</a:t>
            </a:r>
          </a:p>
          <a:p>
            <a:pPr>
              <a:spcAft>
                <a:spcPts val="1300"/>
              </a:spcAft>
              <a:defRPr sz="1800"/>
            </a:pPr>
            <a:r>
              <a:rPr dirty="0"/>
              <a:t>4. Extension: describe at least two ways a real banking application would improve security beyond Python's private naming convention.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283</TotalTime>
  <Words>3812</Words>
  <Application>Microsoft Office PowerPoint</Application>
  <PresentationFormat>Widescreen</PresentationFormat>
  <Paragraphs>404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Consolas</vt:lpstr>
      <vt:lpstr>Nunito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Abstract Base Class</vt:lpstr>
      <vt:lpstr>PowerPoint Presentation</vt:lpstr>
      <vt:lpstr>Components of Abstraction</vt:lpstr>
      <vt:lpstr>Components of Abstraction</vt:lpstr>
      <vt:lpstr>Components of Abstraction</vt:lpstr>
      <vt:lpstr>Components of Abstraction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magdalene Gloria</dc:creator>
  <cp:keywords/>
  <dc:description>generated using python-pptx</dc:description>
  <cp:lastModifiedBy>PMYLS</cp:lastModifiedBy>
  <cp:revision>18</cp:revision>
  <dcterms:created xsi:type="dcterms:W3CDTF">2013-01-27T09:14:16Z</dcterms:created>
  <dcterms:modified xsi:type="dcterms:W3CDTF">2026-09-03T06:29:40Z</dcterms:modified>
  <cp:category/>
</cp:coreProperties>
</file>