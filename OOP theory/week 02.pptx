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7" r:id="rId21"/>
    <p:sldId id="276" r:id="rId22"/>
    <p:sldId id="278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6151B-71F6-4094-83E6-9B4099F279BC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B1A16-F293-4590-B50A-7F0874788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3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B1A16-F293-4590-B50A-7F08747882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22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B1A16-F293-4590-B50A-7F08747882F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59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B1A16-F293-4590-B50A-7F08747882F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B1A16-F293-4590-B50A-7F08747882F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92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B1A16-F293-4590-B50A-7F08747882F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7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1656-ED7D-B8B4-88A5-FD8DDC3A0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07CFE-97F1-DEBC-FE89-27D216034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AF33F-2BCC-9F02-E48E-C3F3EEF9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F961D-F354-99DB-E1EB-BFFB9CFF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4D0AE-21BE-05BD-134A-D5428DA3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FE84B-5BA6-FEA5-21FF-5B618530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3023B-8C44-BA6B-D4E8-35224E3A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0494D-31C3-DA4A-2E75-8F81F500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267F-4E5A-2FF7-3261-8C371393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F3C6F-DFEC-0AF1-A619-16554747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1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0ADB-D1CA-F3C1-7DC0-C6322D195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0576B-4A46-2845-E1B0-8D7615C07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9F1F9-DF48-8C89-5B51-BB18A43E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3DBC5-21A8-717C-F3BB-8FB95367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E33C3-3F58-835B-3FF9-C7D3F77F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E70A3-430E-EDB6-FBF1-4E9A5E5F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9CD29-DF9E-72C0-EABD-FCFB90E5F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C8F4A-9132-91CA-FDF4-8601092DD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40DFE-CF9C-C22E-DFDD-DB014D18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C1C87-F822-BBB5-92D1-50B11084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D783D-934E-172B-E416-B6E6E0BC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0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ADDD8-F466-C580-5A74-FEED7DA6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4A108-906F-7501-4097-459EEDC1B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D9432-1E46-1EF7-47C7-31D41CEF8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ED3B2-ADDD-5FDB-5E63-5BFA5206E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3A47A-65E3-BEF2-C351-5F9083F71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1E4B3E-B739-0F33-4E5B-E5F548F9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CAF20-F17D-A328-BB89-391EEF73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20E98-5E00-480D-41BC-E0DC6C0B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1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6255-F0EF-61D2-F112-A17D5C44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1C49A-8362-D517-50D3-C17774E7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784A3-181F-DD76-2AB2-F09E569C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53D13-1736-DD3A-A28D-5DFDC78D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0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C90A1-EDC4-E458-5852-71DB1C13F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D244C-C072-D284-A18E-BB109C7DC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EAE2D-FCEC-0167-B936-07797267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9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BB61-E93F-F184-BF9B-33E82C2D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E48D0-5D2B-182F-6DE6-DC6F113D6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92AFA-0AD4-36CD-365B-E03B09865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8EC57-2B17-1EAE-CC29-90143F08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D94BF-7F9A-E30F-0D16-88057767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55F44-95E3-45F3-C051-F968FC2A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2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FEC4-6C0C-D980-3BD0-1BFE82FD5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9EA4BB-514A-1C80-9CDC-4CC026C42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ADFBD-5B6B-F9A3-65F4-F3A2E3388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89862-E262-8334-6C6F-2CA3EEF3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E1362-341C-DE22-F4F7-30F44FC8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1F175-2AE2-1FC6-0EE9-FA0BE8FF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24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B2F9-F85C-9AD4-899B-0EAD0B77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45AD9-5CE1-5310-0D46-BD720E886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FF7C5-3CFB-2444-C834-C03F0A33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E250B-076D-330E-7BF0-951C7670C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6562-3BD9-EA49-42BD-DABAC29A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B48D7-417C-98A3-3E43-D5E7EA4C2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9CCD3-431D-F7E8-6B38-4594AC42E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66529-0E6C-5D8B-A5AD-57570BF9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B4AEA-15F6-0890-8DD5-F5B94EE3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D22C7-2595-B99E-955F-1996E156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B8854-F116-C5CC-033F-007E2DB0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0D1EF-C422-7A68-BCEF-5AC269A03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FECD-6244-03B8-0F19-84CA369AF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90E67-74A0-4D78-A4BB-E3ECF112C3C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A5862-0E86-2F1F-1BB1-1285562A8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814B-333A-EE47-D45E-D34105859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183B5-5BBA-4C10-A2E8-12C61BC4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2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7A7F7C-9F55-578C-A03B-568D4AE0B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095829"/>
              </p:ext>
            </p:extLst>
          </p:nvPr>
        </p:nvGraphicFramePr>
        <p:xfrm>
          <a:off x="197875" y="1749569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796932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27360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World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5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091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 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BankAccount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50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867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5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6384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90D3DCC-C3B3-753D-1427-F227F5AA8DFF}"/>
              </a:ext>
            </a:extLst>
          </p:cNvPr>
          <p:cNvSpPr txBox="1"/>
          <p:nvPr/>
        </p:nvSpPr>
        <p:spPr>
          <a:xfrm>
            <a:off x="93407" y="118353"/>
            <a:ext cx="111682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Object-Oriented Programming?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programming approach where we organize a program around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just functions and variables.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represents something from the real world.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BCB5C-7B7D-EC09-CE21-3FAE223C605D}"/>
              </a:ext>
            </a:extLst>
          </p:cNvPr>
          <p:cNvSpPr txBox="1"/>
          <p:nvPr/>
        </p:nvSpPr>
        <p:spPr>
          <a:xfrm>
            <a:off x="197875" y="4129959"/>
            <a:ext cx="60984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idea: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entity → Object → Data + 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has: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4B727-9508-06E4-0B47-81C6E129E1CA}"/>
              </a:ext>
            </a:extLst>
          </p:cNvPr>
          <p:cNvSpPr txBox="1"/>
          <p:nvPr/>
        </p:nvSpPr>
        <p:spPr>
          <a:xfrm>
            <a:off x="3046771" y="4975180"/>
            <a:ext cx="6098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/>
              <a:t>And can: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Place an order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Cancel an order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Make payment</a:t>
            </a:r>
          </a:p>
        </p:txBody>
      </p:sp>
    </p:spTree>
    <p:extLst>
      <p:ext uri="{BB962C8B-B14F-4D97-AF65-F5344CB8AC3E}">
        <p14:creationId xmlns:p14="http://schemas.microsoft.com/office/powerpoint/2010/main" val="329704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865E9D-ECF3-A931-2077-DA8E974E500D}"/>
              </a:ext>
            </a:extLst>
          </p:cNvPr>
          <p:cNvSpPr txBox="1"/>
          <p:nvPr/>
        </p:nvSpPr>
        <p:spPr>
          <a:xfrm>
            <a:off x="350274" y="104158"/>
            <a:ext cx="112272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Classes and Objects?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an online store has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customers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OOP, we might create many separate variables: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3502A-DA06-19DA-A3E6-0EBF63716FB9}"/>
              </a:ext>
            </a:extLst>
          </p:cNvPr>
          <p:cNvSpPr txBox="1"/>
          <p:nvPr/>
        </p:nvSpPr>
        <p:spPr>
          <a:xfrm>
            <a:off x="350274" y="1440566"/>
            <a:ext cx="609845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customer1_name = "Ali"</a:t>
            </a:r>
          </a:p>
          <a:p>
            <a:r>
              <a:rPr lang="en-US" dirty="0">
                <a:solidFill>
                  <a:srgbClr val="FF0000"/>
                </a:solidFill>
              </a:rPr>
              <a:t>customer1_email = "ali@gmail.com"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customer2_name = "Ahmed"</a:t>
            </a:r>
          </a:p>
          <a:p>
            <a:r>
              <a:rPr lang="en-US" dirty="0">
                <a:solidFill>
                  <a:srgbClr val="FF0000"/>
                </a:solidFill>
              </a:rPr>
              <a:t>customer2_email = "ahmed@gmail.com"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BC346-97EB-ACC7-1B7F-8E209D0789C7}"/>
              </a:ext>
            </a:extLst>
          </p:cNvPr>
          <p:cNvSpPr txBox="1"/>
          <p:nvPr/>
        </p:nvSpPr>
        <p:spPr>
          <a:xfrm>
            <a:off x="350274" y="3065120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becomes difficult to manage.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we can create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873331-AF0C-A832-8E14-0B88695532DC}"/>
              </a:ext>
            </a:extLst>
          </p:cNvPr>
          <p:cNvSpPr txBox="1"/>
          <p:nvPr/>
        </p:nvSpPr>
        <p:spPr>
          <a:xfrm>
            <a:off x="350274" y="3858677"/>
            <a:ext cx="609845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 Customer:</a:t>
            </a:r>
          </a:p>
          <a:p>
            <a:r>
              <a:rPr lang="en-US" dirty="0">
                <a:solidFill>
                  <a:srgbClr val="FF0000"/>
                </a:solidFill>
              </a:rPr>
              <a:t>    pass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0DB30-C086-2A44-7C93-12437CA4B93C}"/>
              </a:ext>
            </a:extLst>
          </p:cNvPr>
          <p:cNvSpPr txBox="1"/>
          <p:nvPr/>
        </p:nvSpPr>
        <p:spPr>
          <a:xfrm>
            <a:off x="350274" y="4652234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create many customer objects: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D7515-A92F-57F2-D647-FAA1329D0A76}"/>
              </a:ext>
            </a:extLst>
          </p:cNvPr>
          <p:cNvSpPr txBox="1"/>
          <p:nvPr/>
        </p:nvSpPr>
        <p:spPr>
          <a:xfrm>
            <a:off x="350274" y="5168792"/>
            <a:ext cx="60984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customer1 = Customer()</a:t>
            </a:r>
          </a:p>
          <a:p>
            <a:r>
              <a:rPr lang="en-US" dirty="0">
                <a:solidFill>
                  <a:srgbClr val="FF0000"/>
                </a:solidFill>
              </a:rPr>
              <a:t>customer2 = Customer()</a:t>
            </a:r>
          </a:p>
          <a:p>
            <a:r>
              <a:rPr lang="en-US" dirty="0">
                <a:solidFill>
                  <a:srgbClr val="FF0000"/>
                </a:solidFill>
              </a:rPr>
              <a:t>customer3 = Customer()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1BC9DE-2372-B25D-0FEA-06AAC5B834C4}"/>
              </a:ext>
            </a:extLst>
          </p:cNvPr>
          <p:cNvSpPr txBox="1"/>
          <p:nvPr/>
        </p:nvSpPr>
        <p:spPr>
          <a:xfrm>
            <a:off x="1574390" y="6177963"/>
            <a:ext cx="6098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advantage: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can be used to create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665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F6BE42-D870-F705-5623-CB2B084669A5}"/>
              </a:ext>
            </a:extLst>
          </p:cNvPr>
          <p:cNvSpPr txBox="1"/>
          <p:nvPr/>
        </p:nvSpPr>
        <p:spPr>
          <a:xfrm>
            <a:off x="365021" y="566678"/>
            <a:ext cx="104013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Class?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is a blueprint or template for creating objects.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about a building blueprint.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blueprint describes: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rooms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blueprint itself is not the actual house.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00189-33FD-3AD9-D31C-442304065284}"/>
              </a:ext>
            </a:extLst>
          </p:cNvPr>
          <p:cNvSpPr txBox="1"/>
          <p:nvPr/>
        </p:nvSpPr>
        <p:spPr>
          <a:xfrm>
            <a:off x="483009" y="3601516"/>
            <a:ext cx="60984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Similarly: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1A4F8-A075-8DD4-7B87-6E9E150CE435}"/>
              </a:ext>
            </a:extLst>
          </p:cNvPr>
          <p:cNvSpPr txBox="1"/>
          <p:nvPr/>
        </p:nvSpPr>
        <p:spPr>
          <a:xfrm>
            <a:off x="483009" y="4697362"/>
            <a:ext cx="6098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blueprint.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are created from this blueprint.</a:t>
            </a:r>
          </a:p>
        </p:txBody>
      </p:sp>
    </p:spTree>
    <p:extLst>
      <p:ext uri="{BB962C8B-B14F-4D97-AF65-F5344CB8AC3E}">
        <p14:creationId xmlns:p14="http://schemas.microsoft.com/office/powerpoint/2010/main" val="83615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A981AE-1220-41FF-8F00-E069BC72E5E3}"/>
              </a:ext>
            </a:extLst>
          </p:cNvPr>
          <p:cNvSpPr txBox="1"/>
          <p:nvPr/>
        </p:nvSpPr>
        <p:spPr>
          <a:xfrm>
            <a:off x="365022" y="420439"/>
            <a:ext cx="998834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Simple Class in Python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uses the class keyword.</a:t>
            </a:r>
          </a:p>
          <a:p>
            <a:pPr rtl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</a:t>
            </a:r>
          </a:p>
          <a:p>
            <a:pPr rtl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pass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→ tells Python we are creating a class.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→ name of the class.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→ means there is currently no implementation. 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 object:</a:t>
            </a:r>
          </a:p>
          <a:p>
            <a:pPr rtl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Customer()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rtl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customer1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customer1 is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of the Customer 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771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10F67D-07F8-CF39-5CDD-5C04C65D42A5}"/>
              </a:ext>
            </a:extLst>
          </p:cNvPr>
          <p:cNvSpPr txBox="1"/>
          <p:nvPr/>
        </p:nvSpPr>
        <p:spPr>
          <a:xfrm>
            <a:off x="542003" y="197346"/>
            <a:ext cx="60984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Multiple Objects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can create many objects.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pass</a:t>
            </a:r>
          </a:p>
          <a:p>
            <a:pPr rtl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Customer()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customer2 = Customer()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customer3 = Customer()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have:</a:t>
            </a: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Class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|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┌────┼────┐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↓    ↓    ↓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C1   C2   C3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object is independent.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Example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can use one Customer class to represent: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Hamza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Ayesha </a:t>
            </a:r>
          </a:p>
        </p:txBody>
      </p:sp>
    </p:spTree>
    <p:extLst>
      <p:ext uri="{BB962C8B-B14F-4D97-AF65-F5344CB8AC3E}">
        <p14:creationId xmlns:p14="http://schemas.microsoft.com/office/powerpoint/2010/main" val="322263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882EAB-3E40-6384-6B03-8EB65FA14D57}"/>
              </a:ext>
            </a:extLst>
          </p:cNvPr>
          <p:cNvSpPr txBox="1"/>
          <p:nvPr/>
        </p:nvSpPr>
        <p:spPr>
          <a:xfrm>
            <a:off x="247036" y="345508"/>
            <a:ext cx="609845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Attributes?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are the data or characteristics of an object.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customer: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employee: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3C2C-18CF-8982-611B-6A0B88A2B5C0}"/>
              </a:ext>
            </a:extLst>
          </p:cNvPr>
          <p:cNvSpPr txBox="1"/>
          <p:nvPr/>
        </p:nvSpPr>
        <p:spPr>
          <a:xfrm>
            <a:off x="3904636" y="1859339"/>
            <a:ext cx="60984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Python:</a:t>
            </a:r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</a:t>
            </a:r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pass</a:t>
            </a:r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Customer()</a:t>
            </a:r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customer1.name = "Ali"</a:t>
            </a:r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customer1.email = "ali@gmail.com"</a:t>
            </a:r>
          </a:p>
          <a:p>
            <a:pPr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the object contains data.</a:t>
            </a:r>
          </a:p>
        </p:txBody>
      </p:sp>
    </p:spTree>
    <p:extLst>
      <p:ext uri="{BB962C8B-B14F-4D97-AF65-F5344CB8AC3E}">
        <p14:creationId xmlns:p14="http://schemas.microsoft.com/office/powerpoint/2010/main" val="317190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02AE76-B232-EA42-1C2F-BF71BECA5735}"/>
              </a:ext>
            </a:extLst>
          </p:cNvPr>
          <p:cNvSpPr txBox="1"/>
          <p:nvPr/>
        </p:nvSpPr>
        <p:spPr>
          <a:xfrm>
            <a:off x="718984" y="335845"/>
            <a:ext cx="609845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Object Attributes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(.) operator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create attributes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</a:t>
            </a:r>
          </a:p>
          <a:p>
            <a:pPr rtl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pass</a:t>
            </a:r>
          </a:p>
          <a:p>
            <a:pPr rtl="0">
              <a:buNone/>
            </a:pPr>
            <a:endParaRPr 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Customer()</a:t>
            </a:r>
          </a:p>
          <a:p>
            <a:pPr rtl="0">
              <a:buNone/>
            </a:pPr>
            <a:endParaRPr 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customer1.name = "Ali"</a:t>
            </a:r>
          </a:p>
          <a:p>
            <a:pPr rtl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customer1.city = "Karachi"</a:t>
            </a:r>
          </a:p>
          <a:p>
            <a:pPr rtl="0">
              <a:buNone/>
            </a:pPr>
            <a:endParaRPr 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print(customer1.name)</a:t>
            </a:r>
          </a:p>
          <a:p>
            <a:pPr rtl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print(customer1.city)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Karachi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customer1.name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the name attribute of the customer1 object.</a:t>
            </a:r>
          </a:p>
        </p:txBody>
      </p:sp>
    </p:spTree>
    <p:extLst>
      <p:ext uri="{BB962C8B-B14F-4D97-AF65-F5344CB8AC3E}">
        <p14:creationId xmlns:p14="http://schemas.microsoft.com/office/powerpoint/2010/main" val="8198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7BC4D2-6717-D446-1C8C-3488390D5122}"/>
              </a:ext>
            </a:extLst>
          </p:cNvPr>
          <p:cNvSpPr txBox="1"/>
          <p:nvPr/>
        </p:nvSpPr>
        <p:spPr>
          <a:xfrm>
            <a:off x="409267" y="408910"/>
            <a:ext cx="80120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Objects, Different Data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class can contain different information for different objects.</a:t>
            </a:r>
          </a:p>
          <a:p>
            <a:pPr rtl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pass</a:t>
            </a:r>
          </a:p>
          <a:p>
            <a:pPr rtl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Customer()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customer2 = Customer()</a:t>
            </a:r>
          </a:p>
          <a:p>
            <a:pPr rtl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customer1.name = "Ali"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customer1.city = "Karachi"</a:t>
            </a:r>
          </a:p>
          <a:p>
            <a:pPr rtl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customer2.name = "Ahmed"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customer2.city = "Lahore"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99B84-34C7-D965-1D25-FED46B913BEB}"/>
              </a:ext>
            </a:extLst>
          </p:cNvPr>
          <p:cNvSpPr txBox="1"/>
          <p:nvPr/>
        </p:nvSpPr>
        <p:spPr>
          <a:xfrm>
            <a:off x="542003" y="4852586"/>
            <a:ext cx="60984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print(customer1.name)</a:t>
            </a:r>
          </a:p>
          <a:p>
            <a:pPr rtl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print(customer2.name)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</a:t>
            </a:r>
          </a:p>
        </p:txBody>
      </p:sp>
    </p:spTree>
    <p:extLst>
      <p:ext uri="{BB962C8B-B14F-4D97-AF65-F5344CB8AC3E}">
        <p14:creationId xmlns:p14="http://schemas.microsoft.com/office/powerpoint/2010/main" val="138702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8473" y="170440"/>
            <a:ext cx="28671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Constructor and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8248" y="882874"/>
            <a:ext cx="4364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Assigning Attributes Manually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7604" y="176705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Customer()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customer1.name = "Ali"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customer1.email = "ali@gmail.com"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customer1.city = "Karachi"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7604" y="1324966"/>
            <a:ext cx="1159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473" y="3441395"/>
            <a:ext cx="11168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customer, we have to write the attributes manually.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inconvenient.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a special method called: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473" y="437706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473" y="4908001"/>
            <a:ext cx="113489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to initialize an object's data when the object is created.</a:t>
            </a:r>
          </a:p>
        </p:txBody>
      </p:sp>
    </p:spTree>
    <p:extLst>
      <p:ext uri="{BB962C8B-B14F-4D97-AF65-F5344CB8AC3E}">
        <p14:creationId xmlns:p14="http://schemas.microsoft.com/office/powerpoint/2010/main" val="75301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99293"/>
            <a:ext cx="2300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__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__()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204186" y="92547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   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__(self, name, email):       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self.name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name       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self.email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97" y="2297982"/>
            <a:ext cx="2328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create an object: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97" y="2839495"/>
            <a:ext cx="8847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Customer("Ali", "ali@gmail.com")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06532" y="3370756"/>
            <a:ext cx="59569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automatically calls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values are stored inside the object.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186" y="40735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print(customer1.name)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print(customer1.email)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04186" y="4710258"/>
            <a:ext cx="145584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ali@gmail.com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16204" y="1573472"/>
            <a:ext cx="6178294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function/method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 is a special method that runs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when an object is created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refers to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object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//name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parameter that will receive the customer's name.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//email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parameter that will receive the customer's email.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the code belonging to this method starts on the next indented lines.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92263" y="358363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customer1 = Customer("Ali", "ali@gmail.com") </a:t>
            </a:r>
            <a:endParaRPr lang="en-US" dirty="0" smtClean="0"/>
          </a:p>
          <a:p>
            <a:r>
              <a:rPr lang="en-US" dirty="0" smtClean="0"/>
              <a:t>customer2 </a:t>
            </a:r>
            <a:r>
              <a:rPr lang="en-US" dirty="0"/>
              <a:t>= Customer("Sara", "sara@gmail.com") customer3 = Customer("Ahmed", "ahmed@gmail.com")</a:t>
            </a:r>
          </a:p>
        </p:txBody>
      </p:sp>
    </p:spTree>
    <p:extLst>
      <p:ext uri="{BB962C8B-B14F-4D97-AF65-F5344CB8AC3E}">
        <p14:creationId xmlns:p14="http://schemas.microsoft.com/office/powerpoint/2010/main" val="266786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1964" y="154905"/>
            <a:ext cx="22990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9496" y="689532"/>
            <a:ext cx="573497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 refers to the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object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__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__(self, name):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self.name =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we write: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Customer("Ali")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stores: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customer1.name = "Ali"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we write: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customer2 = Customer("Ahmed")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stores: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customer2.name = "Ahmed"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idea: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 allows each object to maintain its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 data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44582"/>
            <a:ext cx="12192000" cy="194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4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197" y="217048"/>
            <a:ext cx="22701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Method?</a:t>
            </a:r>
          </a:p>
        </p:txBody>
      </p:sp>
      <p:sp>
        <p:nvSpPr>
          <p:cNvPr id="3" name="Rectangle 2"/>
          <p:cNvSpPr/>
          <p:nvPr/>
        </p:nvSpPr>
        <p:spPr>
          <a:xfrm>
            <a:off x="242655" y="617158"/>
            <a:ext cx="714356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a function defined inside a class.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represent actions that an object can perform.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order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payment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profile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order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655" y="314092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Customer:   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say_hello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(self):       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("Welcome to our store!")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655" y="4064256"/>
            <a:ext cx="24432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 = Customer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customer1.say_hello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7" y="4798782"/>
            <a:ext cx="11842812" cy="174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5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327" y="217048"/>
            <a:ext cx="3664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With Attributes and Methods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0" y="1712716"/>
            <a:ext cx="12108350" cy="22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1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2660"/>
            <a:ext cx="3486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Example: Bank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779" y="87571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bank account has: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holder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9459" y="269885"/>
            <a:ext cx="6096000" cy="62324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1050" dirty="0">
                <a:solidFill>
                  <a:srgbClr val="FF7B72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Constructor: runs automatically when a new </a:t>
            </a:r>
            <a:r>
              <a:rPr lang="en-US" sz="1050" dirty="0" err="1">
                <a:solidFill>
                  <a:srgbClr val="8B949E"/>
                </a:solidFill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 object is created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FF7B72"/>
                </a:solidFill>
                <a:latin typeface="Consolas" panose="020B0609020204030204" pitchFamily="49" charset="0"/>
              </a:rPr>
              <a:t>def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US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en-US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holder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FFA657"/>
                </a:solidFill>
                <a:latin typeface="Consolas" panose="020B0609020204030204" pitchFamily="49" charset="0"/>
              </a:rPr>
              <a:t>account_number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holder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holder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                 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Stores the account holder's name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account_number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FFA657"/>
                </a:solidFill>
                <a:latin typeface="Consolas" panose="020B0609020204030204" pitchFamily="49" charset="0"/>
              </a:rPr>
              <a:t>account_number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 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Stores the unique account number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               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Stores the starting balance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FF7B72"/>
                </a:solidFill>
                <a:latin typeface="Consolas" panose="020B0609020204030204" pitchFamily="49" charset="0"/>
              </a:rPr>
              <a:t>def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deposit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Reject invalid (zero or negative) deposit amounts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"Deposit amount must be positive."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 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Add the deposited amount to the balance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FF7B72"/>
                </a:solidFill>
                <a:latin typeface="Consolas" panose="020B0609020204030204" pitchFamily="49" charset="0"/>
              </a:rPr>
              <a:t>def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withdraw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Reject invalid (zero or negative) withdrawal amounts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"Withdrawal amount must be positive."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Reject withdrawal if it exceeds the current balance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"Insufficient balance."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-=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A657"/>
                </a:solidFill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 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Deduct the withdrawn amount from the balance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FF7B72"/>
                </a:solidFill>
                <a:latin typeface="Consolas" panose="020B0609020204030204" pitchFamily="49" charset="0"/>
              </a:rPr>
              <a:t>def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D2A8FF"/>
                </a:solidFill>
                <a:latin typeface="Consolas" panose="020B0609020204030204" pitchFamily="49" charset="0"/>
              </a:rPr>
              <a:t>show_balance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Print account details and current balance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FF7B72"/>
                </a:solidFill>
                <a:latin typeface="Consolas" panose="020B0609020204030204" pitchFamily="49" charset="0"/>
              </a:rPr>
              <a:t>f</a:t>
            </a:r>
            <a:r>
              <a:rPr lang="en-US" sz="1050" dirty="0" err="1">
                <a:solidFill>
                  <a:srgbClr val="A5D6FF"/>
                </a:solidFill>
                <a:latin typeface="Consolas" panose="020B0609020204030204" pitchFamily="49" charset="0"/>
              </a:rPr>
              <a:t>"Account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 Holder: </a:t>
            </a:r>
            <a:r>
              <a:rPr lang="en-US" sz="1050" dirty="0">
                <a:solidFill>
                  <a:srgbClr val="FF7B72"/>
                </a:solidFill>
                <a:latin typeface="Consolas" panose="020B0609020204030204" pitchFamily="49" charset="0"/>
              </a:rPr>
              <a:t>{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holder</a:t>
            </a:r>
            <a:r>
              <a:rPr lang="en-US" sz="1050" dirty="0">
                <a:solidFill>
                  <a:srgbClr val="FF7B72"/>
                </a:solidFill>
                <a:latin typeface="Consolas" panose="020B0609020204030204" pitchFamily="49" charset="0"/>
              </a:rPr>
              <a:t>}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FF7B72"/>
                </a:solidFill>
                <a:latin typeface="Consolas" panose="020B0609020204030204" pitchFamily="49" charset="0"/>
              </a:rPr>
              <a:t>f</a:t>
            </a:r>
            <a:r>
              <a:rPr lang="en-US" sz="1050" dirty="0" err="1">
                <a:solidFill>
                  <a:srgbClr val="A5D6FF"/>
                </a:solidFill>
                <a:latin typeface="Consolas" panose="020B0609020204030204" pitchFamily="49" charset="0"/>
              </a:rPr>
              <a:t>"Account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 Number: </a:t>
            </a:r>
            <a:r>
              <a:rPr lang="en-US" sz="1050" dirty="0">
                <a:solidFill>
                  <a:srgbClr val="FF7B72"/>
                </a:solidFill>
                <a:latin typeface="Consolas" panose="020B0609020204030204" pitchFamily="49" charset="0"/>
              </a:rPr>
              <a:t>{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account_number</a:t>
            </a:r>
            <a:r>
              <a:rPr lang="en-US" sz="1050" dirty="0">
                <a:solidFill>
                  <a:srgbClr val="FF7B72"/>
                </a:solidFill>
                <a:latin typeface="Consolas" panose="020B0609020204030204" pitchFamily="49" charset="0"/>
              </a:rPr>
              <a:t>}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"Balance:"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self</a:t>
            </a:r>
            <a:r>
              <a:rPr lang="en-US" sz="105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 err="1">
                <a:solidFill>
                  <a:srgbClr val="C9D1D9"/>
                </a:solidFill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Create a new </a:t>
            </a:r>
            <a:r>
              <a:rPr lang="en-US" sz="1050" dirty="0" err="1">
                <a:solidFill>
                  <a:srgbClr val="8B949E"/>
                </a:solidFill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 object for Ali with an initial balance of 50000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account1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"Ali"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A5D6FF"/>
                </a:solidFill>
                <a:latin typeface="Consolas" panose="020B0609020204030204" pitchFamily="49" charset="0"/>
              </a:rPr>
              <a:t>"AC12345"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nsolas" panose="020B0609020204030204" pitchFamily="49" charset="0"/>
              </a:rPr>
              <a:t>50000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account1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deposit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nsolas" panose="020B0609020204030204" pitchFamily="49" charset="0"/>
              </a:rPr>
              <a:t>10000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Deposit 10000 into the account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account1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withdraw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nsolas" panose="020B0609020204030204" pitchFamily="49" charset="0"/>
              </a:rPr>
              <a:t>5000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)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Withdraw 5000 from the account</a:t>
            </a:r>
            <a:endParaRPr lang="en-US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C9D1D9"/>
                </a:solidFill>
                <a:latin typeface="Consolas" panose="020B0609020204030204" pitchFamily="49" charset="0"/>
              </a:rPr>
              <a:t>account1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sz="1050" dirty="0">
                <a:solidFill>
                  <a:srgbClr val="D2A8FF"/>
                </a:solidFill>
                <a:latin typeface="Consolas" panose="020B0609020204030204" pitchFamily="49" charset="0"/>
              </a:rPr>
              <a:t>show_balance</a:t>
            </a:r>
            <a:r>
              <a:rPr 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()   </a:t>
            </a:r>
            <a:r>
              <a:rPr lang="en-US" sz="1050" dirty="0">
                <a:solidFill>
                  <a:srgbClr val="8B949E"/>
                </a:solidFill>
                <a:latin typeface="Consolas" panose="020B0609020204030204" pitchFamily="49" charset="0"/>
              </a:rPr>
              <a:t># Display the final account details and balance</a:t>
            </a: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6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7043" y="389189"/>
            <a:ext cx="117777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e-commerce company (think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-style) needs to keep track of customer data. Instead of using separate variables for every customer (customer1_name, customer2_name, etc.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doesn't scale), they need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represent any customer.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That's exactly what a class is: a template/blueprint. An object is one actual customer built from that template.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7043" y="2045848"/>
            <a:ext cx="3008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the Customer 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043" y="2415180"/>
            <a:ext cx="6096000" cy="41549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1600" dirty="0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Constructor: runs automatically when a new Customer object is created</a:t>
            </a:r>
            <a:endParaRPr lang="en-US" sz="16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Unique ID for this customer</a:t>
            </a:r>
            <a:endParaRPr lang="en-US" sz="16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       </a:t>
            </a:r>
            <a:r>
              <a:rPr lang="en-US" sz="16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Customer's name</a:t>
            </a:r>
            <a:endParaRPr lang="en-US" sz="16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     </a:t>
            </a:r>
            <a:r>
              <a:rPr lang="en-US" sz="16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Customer's email address</a:t>
            </a:r>
            <a:endParaRPr lang="en-US" sz="16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       </a:t>
            </a:r>
            <a:r>
              <a:rPr lang="en-US" sz="16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City the customer lives in</a:t>
            </a:r>
            <a:endParaRPr lang="en-US" sz="16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show_profile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Prints this customer's details — fulfills the "View profile" requirement</a:t>
            </a:r>
            <a:endParaRPr lang="en-US" sz="16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16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b="0" dirty="0">
              <a:solidFill>
                <a:srgbClr val="BBBEB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92536" y="2338734"/>
            <a:ext cx="5163845" cy="34163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8B949E"/>
                </a:solidFill>
                <a:latin typeface="Consolas" panose="020B0609020204030204" pitchFamily="49" charset="0"/>
              </a:rPr>
              <a:t># Create a Customer object (an actual customer built from the Customer blueprint)</a:t>
            </a:r>
            <a:endParaRPr lang="en-US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9D1D9"/>
                </a:solidFill>
                <a:latin typeface="Consolas" panose="020B0609020204030204" pitchFamily="49" charset="0"/>
              </a:rPr>
              <a:t>customer1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Customer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101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5D6FF"/>
                </a:solidFill>
                <a:latin typeface="Consolas" panose="020B0609020204030204" pitchFamily="49" charset="0"/>
              </a:rPr>
              <a:t>"Ali"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5D6FF"/>
                </a:solidFill>
                <a:latin typeface="Consolas" panose="020B0609020204030204" pitchFamily="49" charset="0"/>
              </a:rPr>
              <a:t>"ali@gmail.com"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5D6FF"/>
                </a:solidFill>
                <a:latin typeface="Consolas" panose="020B0609020204030204" pitchFamily="49" charset="0"/>
              </a:rPr>
              <a:t>"Karachi"</a:t>
            </a:r>
            <a:endParaRPr lang="en-US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9D1D9"/>
                </a:solidFill>
                <a:latin typeface="Consolas" panose="020B0609020204030204" pitchFamily="49" charset="0"/>
              </a:rPr>
              <a:t>customer1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D2A8FF"/>
                </a:solidFill>
                <a:latin typeface="Consolas" panose="020B0609020204030204" pitchFamily="49" charset="0"/>
              </a:rPr>
              <a:t>show_profile</a:t>
            </a:r>
            <a:r>
              <a:rPr lang="en-US" dirty="0">
                <a:solidFill>
                  <a:srgbClr val="BBBEBF"/>
                </a:solidFill>
                <a:latin typeface="Consolas" panose="020B0609020204030204" pitchFamily="49" charset="0"/>
              </a:rPr>
              <a:t>()  </a:t>
            </a:r>
            <a:r>
              <a:rPr lang="en-US" dirty="0">
                <a:solidFill>
                  <a:srgbClr val="8B949E"/>
                </a:solidFill>
                <a:latin typeface="Consolas" panose="020B0609020204030204" pitchFamily="49" charset="0"/>
              </a:rPr>
              <a:t># Display Ali's profile details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86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37149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8474" y="822288"/>
            <a:ext cx="5868140" cy="50783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Each object below is created from the SAME class,</a:t>
            </a:r>
            <a:endParaRPr lang="en-US" sz="12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but holds its own separate, independent data</a:t>
            </a:r>
            <a:endParaRPr lang="en-US" sz="12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customer1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"Ali"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"ali@gmail.com"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"Karachi"</a:t>
            </a:r>
            <a:endParaRPr lang="en-US" sz="12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customer2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"Sara"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"sara@gmail.com"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"Lahore"</a:t>
            </a:r>
            <a:endParaRPr lang="en-US" sz="12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customer3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103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"Ahmed"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"ahmed@gmail.com"</a:t>
            </a:r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"Islamabad"</a:t>
            </a:r>
            <a:endParaRPr lang="en-US" sz="12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Note: customer1, customer2, and customer3 are independent objects.</a:t>
            </a:r>
            <a:endParaRPr lang="en-US" sz="12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Changing customer2's email, for example, will NOT affect customer1 or customer3.</a:t>
            </a:r>
            <a:endParaRPr lang="en-US" sz="1200" b="0" dirty="0">
              <a:solidFill>
                <a:srgbClr val="BBBEB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23860" y="191439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Benefit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designing a separate program for every customer: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→ thousands of customer objects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maintain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expand </a:t>
            </a:r>
          </a:p>
        </p:txBody>
      </p:sp>
    </p:spTree>
    <p:extLst>
      <p:ext uri="{BB962C8B-B14F-4D97-AF65-F5344CB8AC3E}">
        <p14:creationId xmlns:p14="http://schemas.microsoft.com/office/powerpoint/2010/main" val="379456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9288" y="488636"/>
            <a:ext cx="52437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Scenario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store (think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 warehouse system) needs to track products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are, how much they cost, and how many are left in stock. Every time a sale happens, stock needs to go down automatically. This is a natural fit for a class, since every product shares the same structure (ID, name, price, stock) but has different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8755" y="163860"/>
            <a:ext cx="5963712" cy="66941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Constructor: runs automatically when a new Product object is created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100" dirty="0" err="1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100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dirty="0" err="1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Unique ID for this product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     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Name of the product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   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Price of the product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   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Current quantity available in stock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Reduces stock when a sale happens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"quantity" = number of units sold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-=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Update stock after the sale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show_product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Displays the product's current information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"Price:"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100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"Stock:"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Create a Product object for a laptop with ID 501, price 120000, and starting stock of 20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501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"Laptop"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120000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100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Customer purchases 3 laptops -&gt; stock is reduced by 3 (20 - 3 = 17)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Display the laptop's updated information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lang="en-US" sz="1100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show_product</a:t>
            </a:r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Expected Output: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Laptop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Price: 120000</a:t>
            </a:r>
            <a:endParaRPr lang="en-US" sz="1100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Stock: 17</a:t>
            </a:r>
            <a:endParaRPr lang="en-US" sz="1100" b="0" dirty="0">
              <a:solidFill>
                <a:srgbClr val="BBBEB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3878" y="296908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can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Point-of-sale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management</a:t>
            </a:r>
          </a:p>
        </p:txBody>
      </p:sp>
    </p:spTree>
    <p:extLst>
      <p:ext uri="{BB962C8B-B14F-4D97-AF65-F5344CB8AC3E}">
        <p14:creationId xmlns:p14="http://schemas.microsoft.com/office/powerpoint/2010/main" val="129854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769" y="585926"/>
            <a:ext cx="10058400" cy="591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9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4413" y="92761"/>
            <a:ext cx="3249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8811" y="1085153"/>
            <a:ext cx="697784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__(self,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marks):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____________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self.name = ____________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self.marks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____________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show_result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(self):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print("ID:", ____________)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print("Name:", ____________)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print("Marks:", ____________)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an object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Student(10, 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HALID",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student1.____________()   # call the method to display result</a:t>
            </a:r>
          </a:p>
        </p:txBody>
      </p:sp>
    </p:spTree>
    <p:extLst>
      <p:ext uri="{BB962C8B-B14F-4D97-AF65-F5344CB8AC3E}">
        <p14:creationId xmlns:p14="http://schemas.microsoft.com/office/powerpoint/2010/main" val="305725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4413" y="92761"/>
            <a:ext cx="32560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98811" y="1085153"/>
            <a:ext cx="697784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__(self,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marks):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self.name = name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self.marks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marks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show_result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(self):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print("ID:",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print("Name:", self.name)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print("Marks:",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self.marks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an object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Student(10, 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HALID",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student1.show_result()   # call the method to display result</a:t>
            </a:r>
          </a:p>
        </p:txBody>
      </p:sp>
    </p:spTree>
    <p:extLst>
      <p:ext uri="{BB962C8B-B14F-4D97-AF65-F5344CB8AC3E}">
        <p14:creationId xmlns:p14="http://schemas.microsoft.com/office/powerpoint/2010/main" val="103132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95417" y="387477"/>
            <a:ext cx="9815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65755" y="992871"/>
            <a:ext cx="6096000" cy="34163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 err="1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give_bonus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9C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endParaRPr lang="en-US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emp1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"Sara"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40000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emp1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give_bonus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5000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emp1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0" dirty="0">
              <a:solidFill>
                <a:srgbClr val="BBBEB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08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95417" y="387477"/>
            <a:ext cx="9815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Bug (Solution 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1031926"/>
            <a:ext cx="6096000" cy="34163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 err="1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rgbClr val="DCD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 </a:t>
            </a:r>
            <a:r>
              <a:rPr lang="en-US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fixed: was missing "self."</a:t>
            </a:r>
            <a:endParaRPr lang="en-US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FF7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give_bonus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 </a:t>
            </a:r>
            <a:r>
              <a:rPr lang="en-US" dirty="0">
                <a:solidFill>
                  <a:srgbClr val="8B94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fixed: missing "self" parameter and missing colon ":"</a:t>
            </a:r>
            <a:endParaRPr lang="en-US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A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endParaRPr lang="en-US" dirty="0">
              <a:solidFill>
                <a:srgbClr val="BBBE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emp1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A5D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"Sara"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40000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emp1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give_bonus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5000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rgbClr val="D2A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emp1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C9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dirty="0">
                <a:solidFill>
                  <a:srgbClr val="BBBE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0" dirty="0">
              <a:solidFill>
                <a:srgbClr val="BBBEB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1409" y="1261163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3 bugs that were fixed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should be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self.name = 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self., it's just a local variable that disappears once __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 finishes — it never actually gets stored on the object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give_bonus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(amount)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should be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give_bonus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(self, amount)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method inside a class needs self as its first parameter, so Python knows which object's data to update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give_bonus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(amount)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missing colon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end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function/method definition line must end with a colon, or Python throws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SyntaxError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16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39697" y="115656"/>
            <a:ext cx="1170076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What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Learned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blueprint that defines what attributes and methods every object of that type will have, without holding any real data itself.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actual instance created from a class, with its own independent copy of the attributes (e.g. customer1 created from the Customer class).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 of data stored inside an object, set through the constructor (e.g. name, price, balance).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defined inside a class that lets an object perform an action or change its own data (e.g. deposit(), sell(),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show_profile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method that runs automatically the moment an object is created, used to set its starting attribute values.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"this specific object," letting Python know which object's data to read or update when multiple objects exist.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51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3049</Words>
  <Application>Microsoft Office PowerPoint</Application>
  <PresentationFormat>Widescreen</PresentationFormat>
  <Paragraphs>446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Consolas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K259012 Muhammad Khalid</dc:creator>
  <cp:lastModifiedBy>magdalene Gloria</cp:lastModifiedBy>
  <cp:revision>23</cp:revision>
  <dcterms:created xsi:type="dcterms:W3CDTF">2026-08-18T18:07:16Z</dcterms:created>
  <dcterms:modified xsi:type="dcterms:W3CDTF">2026-08-31T06:10:57Z</dcterms:modified>
</cp:coreProperties>
</file>