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handoutMasterIdLst>
    <p:handoutMasterId r:id="rId31"/>
  </p:handoutMasterIdLst>
  <p:sldIdLst>
    <p:sldId id="288" r:id="rId5"/>
    <p:sldId id="273" r:id="rId6"/>
    <p:sldId id="275" r:id="rId7"/>
    <p:sldId id="292" r:id="rId8"/>
    <p:sldId id="259" r:id="rId9"/>
    <p:sldId id="282" r:id="rId10"/>
    <p:sldId id="309" r:id="rId11"/>
    <p:sldId id="300" r:id="rId12"/>
    <p:sldId id="319" r:id="rId13"/>
    <p:sldId id="307" r:id="rId14"/>
    <p:sldId id="324" r:id="rId15"/>
    <p:sldId id="290" r:id="rId16"/>
    <p:sldId id="281" r:id="rId17"/>
    <p:sldId id="320" r:id="rId18"/>
    <p:sldId id="321" r:id="rId19"/>
    <p:sldId id="322" r:id="rId20"/>
    <p:sldId id="325" r:id="rId21"/>
    <p:sldId id="323" r:id="rId22"/>
    <p:sldId id="326" r:id="rId23"/>
    <p:sldId id="327" r:id="rId24"/>
    <p:sldId id="328" r:id="rId25"/>
    <p:sldId id="329" r:id="rId26"/>
    <p:sldId id="330" r:id="rId27"/>
    <p:sldId id="331" r:id="rId28"/>
    <p:sldId id="27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94" autoAdjust="0"/>
  </p:normalViewPr>
  <p:slideViewPr>
    <p:cSldViewPr snapToGrid="0">
      <p:cViewPr varScale="1">
        <p:scale>
          <a:sx n="61" d="100"/>
          <a:sy n="61" d="100"/>
        </p:scale>
        <p:origin x="1098"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8/20/2026</a:t>
            </a:fld>
            <a:endParaRPr lang="en-US" dirty="0"/>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9CA527-F925-414F-B4F4-8F4244CDDC80}" type="datetimeFigureOut">
              <a:rPr lang="en-US" smtClean="0"/>
              <a:t>8/20/2026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7E2AA-278D-0B48-A5DE-00B1FC5BDAF9}" type="slidenum">
              <a:rPr lang="en-US" smtClean="0"/>
              <a:t>‹#›</a:t>
            </a:fld>
            <a:endParaRPr lang="en-US" dirty="0"/>
          </a:p>
        </p:txBody>
      </p:sp>
    </p:spTree>
    <p:extLst>
      <p:ext uri="{BB962C8B-B14F-4D97-AF65-F5344CB8AC3E}">
        <p14:creationId xmlns:p14="http://schemas.microsoft.com/office/powerpoint/2010/main" val="4266559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37E2AA-278D-0B48-A5DE-00B1FC5BDAF9}" type="slidenum">
              <a:rPr lang="en-US" smtClean="0"/>
              <a:t>5</a:t>
            </a:fld>
            <a:endParaRPr lang="en-US" dirty="0"/>
          </a:p>
        </p:txBody>
      </p:sp>
    </p:spTree>
    <p:extLst>
      <p:ext uri="{BB962C8B-B14F-4D97-AF65-F5344CB8AC3E}">
        <p14:creationId xmlns:p14="http://schemas.microsoft.com/office/powerpoint/2010/main" val="157227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 "Ali"</a:t>
            </a:r>
          </a:p>
          <a:p>
            <a:r>
              <a:rPr lang="en-US" dirty="0" err="1"/>
              <a:t>account_number</a:t>
            </a:r>
            <a:r>
              <a:rPr lang="en-US" dirty="0"/>
              <a:t> = "ACC101"</a:t>
            </a:r>
          </a:p>
          <a:p>
            <a:r>
              <a:rPr lang="en-US" dirty="0"/>
              <a:t>balance = 10000</a:t>
            </a:r>
          </a:p>
          <a:p>
            <a:endParaRPr lang="en-US" dirty="0"/>
          </a:p>
          <a:p>
            <a:r>
              <a:rPr lang="en-US" dirty="0"/>
              <a:t>def deposit(balance, amount):</a:t>
            </a:r>
          </a:p>
          <a:p>
            <a:r>
              <a:rPr lang="en-US" dirty="0"/>
              <a:t>    return balance + amount</a:t>
            </a:r>
          </a:p>
          <a:p>
            <a:endParaRPr lang="en-US" dirty="0"/>
          </a:p>
          <a:p>
            <a:r>
              <a:rPr lang="en-US" dirty="0"/>
              <a:t>def withdraw(balance, amount):</a:t>
            </a:r>
          </a:p>
          <a:p>
            <a:r>
              <a:rPr lang="en-US" dirty="0"/>
              <a:t>    if amount &lt;= balance:</a:t>
            </a:r>
          </a:p>
          <a:p>
            <a:r>
              <a:rPr lang="en-US" dirty="0"/>
              <a:t>        return balance - amount</a:t>
            </a:r>
          </a:p>
          <a:p>
            <a:r>
              <a:rPr lang="en-US" dirty="0"/>
              <a:t>    else:</a:t>
            </a:r>
          </a:p>
          <a:p>
            <a:r>
              <a:rPr lang="en-US" dirty="0"/>
              <a:t>        print("Insufficient balance")</a:t>
            </a:r>
          </a:p>
          <a:p>
            <a:r>
              <a:rPr lang="en-US" dirty="0"/>
              <a:t>        return balance</a:t>
            </a:r>
          </a:p>
          <a:p>
            <a:endParaRPr lang="en-US" dirty="0"/>
          </a:p>
          <a:p>
            <a:r>
              <a:rPr lang="en-US" dirty="0"/>
              <a:t>balance = deposit(balance, 5000)</a:t>
            </a:r>
          </a:p>
          <a:p>
            <a:r>
              <a:rPr lang="en-US" dirty="0"/>
              <a:t>balance = withdraw(balance, 2000)</a:t>
            </a:r>
          </a:p>
        </p:txBody>
      </p:sp>
      <p:sp>
        <p:nvSpPr>
          <p:cNvPr id="4" name="Slide Number Placeholder 3"/>
          <p:cNvSpPr>
            <a:spLocks noGrp="1"/>
          </p:cNvSpPr>
          <p:nvPr>
            <p:ph type="sldNum" sz="quarter" idx="5"/>
          </p:nvPr>
        </p:nvSpPr>
        <p:spPr/>
        <p:txBody>
          <a:bodyPr/>
          <a:lstStyle/>
          <a:p>
            <a:fld id="{6937E2AA-278D-0B48-A5DE-00B1FC5BDAF9}" type="slidenum">
              <a:rPr lang="en-US" smtClean="0"/>
              <a:t>14</a:t>
            </a:fld>
            <a:endParaRPr lang="en-US" dirty="0"/>
          </a:p>
        </p:txBody>
      </p:sp>
    </p:spTree>
    <p:extLst>
      <p:ext uri="{BB962C8B-B14F-4D97-AF65-F5344CB8AC3E}">
        <p14:creationId xmlns:p14="http://schemas.microsoft.com/office/powerpoint/2010/main" val="32756374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37E2AA-278D-0B48-A5DE-00B1FC5BDAF9}" type="slidenum">
              <a:rPr lang="en-US" smtClean="0"/>
              <a:t>16</a:t>
            </a:fld>
            <a:endParaRPr lang="en-US" dirty="0"/>
          </a:p>
        </p:txBody>
      </p:sp>
    </p:spTree>
    <p:extLst>
      <p:ext uri="{BB962C8B-B14F-4D97-AF65-F5344CB8AC3E}">
        <p14:creationId xmlns:p14="http://schemas.microsoft.com/office/powerpoint/2010/main" val="3046725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1ACF8-AA99-6B32-C651-4C7160077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FE58CB-B454-9245-D1E3-70A1D54BFF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85F9A3-4C6A-127E-C552-FEEB7AD9E8A3}"/>
              </a:ext>
            </a:extLst>
          </p:cNvPr>
          <p:cNvSpPr>
            <a:spLocks noGrp="1"/>
          </p:cNvSpPr>
          <p:nvPr>
            <p:ph type="body" idx="1"/>
          </p:nvPr>
        </p:nvSpPr>
        <p:spPr/>
        <p:txBody>
          <a:bodyPr/>
          <a:lstStyle/>
          <a:p>
            <a:r>
              <a:rPr lang="en-US" dirty="0"/>
              <a:t>class </a:t>
            </a:r>
            <a:r>
              <a:rPr lang="en-US" dirty="0" err="1"/>
              <a:t>BankAccount</a:t>
            </a:r>
            <a:r>
              <a:rPr lang="en-US" dirty="0"/>
              <a:t>:</a:t>
            </a:r>
          </a:p>
          <a:p>
            <a:endParaRPr lang="en-US" dirty="0"/>
          </a:p>
          <a:p>
            <a:r>
              <a:rPr lang="en-US" dirty="0"/>
              <a:t>    def __</a:t>
            </a:r>
            <a:r>
              <a:rPr lang="en-US" dirty="0" err="1"/>
              <a:t>init</a:t>
            </a:r>
            <a:r>
              <a:rPr lang="en-US" dirty="0"/>
              <a:t>__(self, owner, </a:t>
            </a:r>
            <a:r>
              <a:rPr lang="en-US" dirty="0" err="1"/>
              <a:t>account_number</a:t>
            </a:r>
            <a:r>
              <a:rPr lang="en-US" dirty="0"/>
              <a:t>, balance):</a:t>
            </a:r>
          </a:p>
          <a:p>
            <a:r>
              <a:rPr lang="en-US" dirty="0"/>
              <a:t>        </a:t>
            </a:r>
            <a:r>
              <a:rPr lang="en-US" dirty="0" err="1"/>
              <a:t>self.owner</a:t>
            </a:r>
            <a:r>
              <a:rPr lang="en-US" dirty="0"/>
              <a:t> = owner</a:t>
            </a:r>
          </a:p>
          <a:p>
            <a:r>
              <a:rPr lang="en-US" dirty="0"/>
              <a:t>        </a:t>
            </a:r>
            <a:r>
              <a:rPr lang="en-US" dirty="0" err="1"/>
              <a:t>self.account_number</a:t>
            </a:r>
            <a:r>
              <a:rPr lang="en-US" dirty="0"/>
              <a:t> = </a:t>
            </a:r>
            <a:r>
              <a:rPr lang="en-US" dirty="0" err="1"/>
              <a:t>account_number</a:t>
            </a:r>
            <a:endParaRPr lang="en-US" dirty="0"/>
          </a:p>
          <a:p>
            <a:r>
              <a:rPr lang="en-US" dirty="0"/>
              <a:t>        </a:t>
            </a:r>
            <a:r>
              <a:rPr lang="en-US" dirty="0" err="1"/>
              <a:t>self.balance</a:t>
            </a:r>
            <a:r>
              <a:rPr lang="en-US" dirty="0"/>
              <a:t> = balance</a:t>
            </a:r>
          </a:p>
          <a:p>
            <a:endParaRPr lang="en-US" dirty="0"/>
          </a:p>
          <a:p>
            <a:r>
              <a:rPr lang="en-US" dirty="0"/>
              <a:t>    def deposit(self, amount):</a:t>
            </a:r>
          </a:p>
          <a:p>
            <a:r>
              <a:rPr lang="en-US" dirty="0"/>
              <a:t>        </a:t>
            </a:r>
            <a:r>
              <a:rPr lang="en-US" dirty="0" err="1"/>
              <a:t>self.balance</a:t>
            </a:r>
            <a:r>
              <a:rPr lang="en-US" dirty="0"/>
              <a:t> += amount</a:t>
            </a:r>
          </a:p>
          <a:p>
            <a:r>
              <a:rPr lang="en-US" dirty="0"/>
              <a:t>        print("Amount deposited successfully.")</a:t>
            </a:r>
          </a:p>
          <a:p>
            <a:endParaRPr lang="en-US" dirty="0"/>
          </a:p>
          <a:p>
            <a:r>
              <a:rPr lang="en-US" dirty="0"/>
              <a:t>    def withdraw(self, amount):</a:t>
            </a:r>
          </a:p>
          <a:p>
            <a:r>
              <a:rPr lang="en-US" dirty="0"/>
              <a:t>        if amount &lt;= </a:t>
            </a:r>
            <a:r>
              <a:rPr lang="en-US" dirty="0" err="1"/>
              <a:t>self.balance</a:t>
            </a:r>
            <a:r>
              <a:rPr lang="en-US" dirty="0"/>
              <a:t>:</a:t>
            </a:r>
          </a:p>
          <a:p>
            <a:r>
              <a:rPr lang="en-US" dirty="0"/>
              <a:t>            </a:t>
            </a:r>
            <a:r>
              <a:rPr lang="en-US" dirty="0" err="1"/>
              <a:t>self.balance</a:t>
            </a:r>
            <a:r>
              <a:rPr lang="en-US" dirty="0"/>
              <a:t> -= amount</a:t>
            </a:r>
          </a:p>
          <a:p>
            <a:r>
              <a:rPr lang="en-US" dirty="0"/>
              <a:t>            print("Amount withdrawn successfully.")</a:t>
            </a:r>
          </a:p>
          <a:p>
            <a:r>
              <a:rPr lang="en-US" dirty="0"/>
              <a:t>        else:</a:t>
            </a:r>
          </a:p>
          <a:p>
            <a:r>
              <a:rPr lang="en-US" dirty="0"/>
              <a:t>            print("Insufficient balance.")</a:t>
            </a:r>
          </a:p>
          <a:p>
            <a:endParaRPr lang="en-US" dirty="0"/>
          </a:p>
          <a:p>
            <a:r>
              <a:rPr lang="en-US" dirty="0"/>
              <a:t>    def </a:t>
            </a:r>
            <a:r>
              <a:rPr lang="en-US" dirty="0" err="1"/>
              <a:t>check_balance</a:t>
            </a:r>
            <a:r>
              <a:rPr lang="en-US" dirty="0"/>
              <a:t>(self):</a:t>
            </a:r>
          </a:p>
          <a:p>
            <a:r>
              <a:rPr lang="en-US" dirty="0"/>
              <a:t>        print("Current balance:", </a:t>
            </a:r>
            <a:r>
              <a:rPr lang="en-US" dirty="0" err="1"/>
              <a:t>self.balance</a:t>
            </a:r>
            <a:r>
              <a:rPr lang="en-US" dirty="0"/>
              <a:t>)</a:t>
            </a:r>
          </a:p>
          <a:p>
            <a:endParaRPr lang="en-US" dirty="0"/>
          </a:p>
          <a:p>
            <a:r>
              <a:rPr lang="en-US" dirty="0"/>
              <a:t>    def </a:t>
            </a:r>
            <a:r>
              <a:rPr lang="en-US" dirty="0" err="1"/>
              <a:t>display_customer</a:t>
            </a:r>
            <a:r>
              <a:rPr lang="en-US" dirty="0"/>
              <a:t>(self):</a:t>
            </a:r>
          </a:p>
          <a:p>
            <a:r>
              <a:rPr lang="en-US" dirty="0"/>
              <a:t>        print("Owner:", </a:t>
            </a:r>
            <a:r>
              <a:rPr lang="en-US" dirty="0" err="1"/>
              <a:t>self.owner</a:t>
            </a:r>
            <a:r>
              <a:rPr lang="en-US" dirty="0"/>
              <a:t>)</a:t>
            </a:r>
          </a:p>
          <a:p>
            <a:r>
              <a:rPr lang="en-US" dirty="0"/>
              <a:t>        print("Account Number:", </a:t>
            </a:r>
            <a:r>
              <a:rPr lang="en-US" dirty="0" err="1"/>
              <a:t>self.account_number</a:t>
            </a:r>
            <a:r>
              <a:rPr lang="en-US" dirty="0"/>
              <a:t>)</a:t>
            </a:r>
          </a:p>
          <a:p>
            <a:r>
              <a:rPr lang="en-US" dirty="0"/>
              <a:t>        print("Balance:", </a:t>
            </a:r>
            <a:r>
              <a:rPr lang="en-US" dirty="0" err="1"/>
              <a:t>self.balance</a:t>
            </a:r>
            <a:r>
              <a:rPr lang="en-US" dirty="0"/>
              <a:t>)</a:t>
            </a:r>
          </a:p>
          <a:p>
            <a:endParaRPr lang="en-US" dirty="0"/>
          </a:p>
          <a:p>
            <a:endParaRPr lang="en-US" dirty="0"/>
          </a:p>
          <a:p>
            <a:r>
              <a:rPr lang="en-US" dirty="0"/>
              <a:t>account1 = </a:t>
            </a:r>
            <a:r>
              <a:rPr lang="en-US" dirty="0" err="1"/>
              <a:t>BankAccount</a:t>
            </a:r>
            <a:r>
              <a:rPr lang="en-US" dirty="0"/>
              <a:t>("Ali", "ACC101", 10000)</a:t>
            </a:r>
          </a:p>
          <a:p>
            <a:endParaRPr lang="en-US" dirty="0"/>
          </a:p>
          <a:p>
            <a:r>
              <a:rPr lang="en-US" dirty="0"/>
              <a:t>account1.deposit(5000)</a:t>
            </a:r>
          </a:p>
          <a:p>
            <a:r>
              <a:rPr lang="en-US" dirty="0"/>
              <a:t>account1.withdraw(2000)</a:t>
            </a:r>
          </a:p>
          <a:p>
            <a:endParaRPr lang="en-US" dirty="0"/>
          </a:p>
          <a:p>
            <a:r>
              <a:rPr lang="en-US" dirty="0"/>
              <a:t>account1.display_customer()</a:t>
            </a:r>
          </a:p>
        </p:txBody>
      </p:sp>
      <p:sp>
        <p:nvSpPr>
          <p:cNvPr id="4" name="Slide Number Placeholder 3">
            <a:extLst>
              <a:ext uri="{FF2B5EF4-FFF2-40B4-BE49-F238E27FC236}">
                <a16:creationId xmlns:a16="http://schemas.microsoft.com/office/drawing/2014/main" id="{4D6D033E-6070-358E-12CF-E6227ED4BF3B}"/>
              </a:ext>
            </a:extLst>
          </p:cNvPr>
          <p:cNvSpPr>
            <a:spLocks noGrp="1"/>
          </p:cNvSpPr>
          <p:nvPr>
            <p:ph type="sldNum" sz="quarter" idx="5"/>
          </p:nvPr>
        </p:nvSpPr>
        <p:spPr/>
        <p:txBody>
          <a:bodyPr/>
          <a:lstStyle/>
          <a:p>
            <a:fld id="{6937E2AA-278D-0B48-A5DE-00B1FC5BDAF9}" type="slidenum">
              <a:rPr lang="en-US" smtClean="0"/>
              <a:t>18</a:t>
            </a:fld>
            <a:endParaRPr lang="en-US" dirty="0"/>
          </a:p>
        </p:txBody>
      </p:sp>
    </p:spTree>
    <p:extLst>
      <p:ext uri="{BB962C8B-B14F-4D97-AF65-F5344CB8AC3E}">
        <p14:creationId xmlns:p14="http://schemas.microsoft.com/office/powerpoint/2010/main" val="11820791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D56268A4-B555-72BE-6160-318763ECAA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7" name="Rectangle 6">
            <a:extLst>
              <a:ext uri="{FF2B5EF4-FFF2-40B4-BE49-F238E27FC236}">
                <a16:creationId xmlns:a16="http://schemas.microsoft.com/office/drawing/2014/main" id="{12D44DBA-D665-923B-A38C-C68A9C039EA9}"/>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400"/>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7" name="Picture Placeholder 38">
            <a:extLst>
              <a:ext uri="{FF2B5EF4-FFF2-40B4-BE49-F238E27FC236}">
                <a16:creationId xmlns:a16="http://schemas.microsoft.com/office/drawing/2014/main" id="{31550E6E-10D6-E75A-F6B1-8800DAC2CBFB}"/>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7802" b="7802"/>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73038" y="1457865"/>
            <a:ext cx="3200400" cy="4580626"/>
          </a:xfrm>
        </p:spPr>
        <p:txBody>
          <a:bodyPr anchor="t">
            <a:noAutofit/>
          </a:bodyPr>
          <a:lstStyle>
            <a:lvl1pPr algn="ctr">
              <a:defRPr sz="3600"/>
            </a:lvl1p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4796287" y="1457864"/>
            <a:ext cx="4986068" cy="4580627"/>
          </a:xfrm>
        </p:spPr>
        <p:txBody>
          <a:bodyPr tIns="45720" anchor="t" anchorCtr="0">
            <a:normAutofit/>
          </a:bodyPr>
          <a:lstStyle>
            <a:lvl1pPr marL="0" indent="0">
              <a:lnSpc>
                <a:spcPct val="150000"/>
              </a:lnSpc>
              <a:spcBef>
                <a:spcPts val="1000"/>
              </a:spcBef>
              <a:spcAft>
                <a:spcPts val="1200"/>
              </a:spcAft>
              <a:buNone/>
              <a:defRPr sz="2400"/>
            </a:lvl1pPr>
            <a:lvl2pPr>
              <a:lnSpc>
                <a:spcPct val="150000"/>
              </a:lnSpc>
              <a:spcBef>
                <a:spcPts val="1000"/>
              </a:spcBef>
              <a:spcAft>
                <a:spcPts val="1200"/>
              </a:spcAft>
              <a:defRPr sz="2000"/>
            </a:lvl2pPr>
            <a:lvl3pPr>
              <a:lnSpc>
                <a:spcPct val="150000"/>
              </a:lnSpc>
              <a:spcBef>
                <a:spcPts val="1000"/>
              </a:spcBef>
              <a:spcAft>
                <a:spcPts val="1200"/>
              </a:spcAft>
              <a:defRPr sz="1800"/>
            </a:lvl3pPr>
            <a:lvl4pPr>
              <a:lnSpc>
                <a:spcPct val="150000"/>
              </a:lnSpc>
              <a:spcBef>
                <a:spcPts val="1000"/>
              </a:spcBef>
              <a:spcAft>
                <a:spcPts val="1200"/>
              </a:spcAft>
              <a:defRPr sz="1600"/>
            </a:lvl4pPr>
            <a:lvl5pPr>
              <a:lnSpc>
                <a:spcPct val="150000"/>
              </a:lnSpc>
              <a:spcBef>
                <a:spcPts val="1000"/>
              </a:spcBef>
              <a:spcAft>
                <a:spcPts val="1200"/>
              </a:spcAft>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8/20/2026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14388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spTree>
      <p:nvGrpSpPr>
        <p:cNvPr id="1" name=""/>
        <p:cNvGrpSpPr/>
        <p:nvPr/>
      </p:nvGrpSpPr>
      <p:grpSpPr>
        <a:xfrm>
          <a:off x="0" y="0"/>
          <a:ext cx="0" cy="0"/>
          <a:chOff x="0" y="0"/>
          <a:chExt cx="0" cy="0"/>
        </a:xfrm>
      </p:grpSpPr>
      <p:pic>
        <p:nvPicPr>
          <p:cNvPr id="7" name="Picture Placeholder 8">
            <a:extLst>
              <a:ext uri="{FF2B5EF4-FFF2-40B4-BE49-F238E27FC236}">
                <a16:creationId xmlns:a16="http://schemas.microsoft.com/office/drawing/2014/main" id="{61F88592-24FD-96EC-ADB3-C0B7682DF9A5}"/>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918259" y="798653"/>
            <a:ext cx="5166167" cy="5289630"/>
          </a:xfrm>
          <a:solidFill>
            <a:schemeClr val="bg1">
              <a:alpha val="95000"/>
            </a:schemeClr>
          </a:solidFill>
        </p:spPr>
        <p:txBody>
          <a:bodyPr lIns="274320" rIns="274320" anchor="ctr">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6084424" y="787077"/>
            <a:ext cx="5166167" cy="5289631"/>
          </a:xfrm>
          <a:solidFill>
            <a:schemeClr val="bg1">
              <a:alpha val="95000"/>
            </a:schemeClr>
          </a:solidFill>
        </p:spPr>
        <p:txBody>
          <a:bodyPr>
            <a:noAutofit/>
          </a:bodyPr>
          <a:lstStyle>
            <a:lvl1pPr marL="342900" indent="-342900" algn="ctr">
              <a:buFont typeface="Arial" panose="020B0604020202020204" pitchFamily="34" charset="0"/>
              <a:buChar char="•"/>
              <a:defRPr sz="20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8/20/2026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298420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pic>
        <p:nvPicPr>
          <p:cNvPr id="8" name="Picture Placeholder 13">
            <a:extLst>
              <a:ext uri="{FF2B5EF4-FFF2-40B4-BE49-F238E27FC236}">
                <a16:creationId xmlns:a16="http://schemas.microsoft.com/office/drawing/2014/main" id="{BD017017-3234-8C24-B9FC-80FB1120D156}"/>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Rectangle 10">
            <a:extLst>
              <a:ext uri="{FF2B5EF4-FFF2-40B4-BE49-F238E27FC236}">
                <a16:creationId xmlns:a16="http://schemas.microsoft.com/office/drawing/2014/main" id="{CC226FA8-C264-7189-EEA0-5264009074FF}"/>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296135" y="1124887"/>
            <a:ext cx="4480560" cy="2352356"/>
          </a:xfrm>
        </p:spPr>
        <p:txBody>
          <a:bodyPr anchor="b">
            <a:noAutofit/>
          </a:bodyPr>
          <a:lstStyle>
            <a:lvl1pPr algn="l">
              <a:defRPr sz="36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296135" y="3571197"/>
            <a:ext cx="4476967" cy="2123547"/>
          </a:xfrm>
        </p:spPr>
        <p:txBody>
          <a:bodyPr>
            <a:no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1329545" y="1148037"/>
            <a:ext cx="4365199" cy="4546707"/>
          </a:xfrm>
        </p:spPr>
        <p:txBody>
          <a:bodyPr>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8/20/2026</a:t>
            </a:fld>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24186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pic>
        <p:nvPicPr>
          <p:cNvPr id="7" name="Picture Placeholder 17">
            <a:extLst>
              <a:ext uri="{FF2B5EF4-FFF2-40B4-BE49-F238E27FC236}">
                <a16:creationId xmlns:a16="http://schemas.microsoft.com/office/drawing/2014/main" id="{28B211FD-99D2-B373-669F-6E0F8E5B336F}"/>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8" name="Rectangle 7">
            <a:extLst>
              <a:ext uri="{FF2B5EF4-FFF2-40B4-BE49-F238E27FC236}">
                <a16:creationId xmlns:a16="http://schemas.microsoft.com/office/drawing/2014/main" id="{C4079EDA-1B98-E3C1-23AD-7FB6F39FE268}"/>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616598" y="995425"/>
            <a:ext cx="8958805" cy="1077230"/>
          </a:xfrm>
        </p:spPr>
        <p:txBody>
          <a:bodyPr anchor="b" anchorCtr="0">
            <a:noAutofit/>
          </a:bodyPr>
          <a:lstStyle>
            <a:lvl1pPr algn="ctr">
              <a:defRPr sz="3600"/>
            </a:lvl1pPr>
          </a:lstStyle>
          <a:p>
            <a:r>
              <a:rPr lang="en-US" dirty="0"/>
              <a:t>Click to add title</a:t>
            </a:r>
          </a:p>
        </p:txBody>
      </p:sp>
      <p:sp>
        <p:nvSpPr>
          <p:cNvPr id="9" name="Content Placeholder 2">
            <a:extLst>
              <a:ext uri="{FF2B5EF4-FFF2-40B4-BE49-F238E27FC236}">
                <a16:creationId xmlns:a16="http://schemas.microsoft.com/office/drawing/2014/main" id="{76BDAEBE-3A0C-BBCD-A1F0-E1F1E07000E1}"/>
              </a:ext>
            </a:extLst>
          </p:cNvPr>
          <p:cNvSpPr>
            <a:spLocks noGrp="1"/>
          </p:cNvSpPr>
          <p:nvPr>
            <p:ph sz="half" idx="14" hasCustomPrompt="1"/>
          </p:nvPr>
        </p:nvSpPr>
        <p:spPr>
          <a:xfrm>
            <a:off x="1616599" y="2257061"/>
            <a:ext cx="8958804" cy="3541853"/>
          </a:xfrm>
        </p:spPr>
        <p:txBody>
          <a:bodyPr>
            <a:normAutofit/>
          </a:bodyPr>
          <a:lstStyle>
            <a:lvl1pPr marL="0" indent="0">
              <a:spcBef>
                <a:spcPts val="1000"/>
              </a:spcBef>
              <a:spcAft>
                <a:spcPts val="1000"/>
              </a:spcAft>
              <a:buNone/>
              <a:defRPr sz="1800"/>
            </a:lvl1pPr>
            <a:lvl2pPr marL="228600">
              <a:spcBef>
                <a:spcPts val="600"/>
              </a:spcBef>
              <a:spcAft>
                <a:spcPts val="600"/>
              </a:spcAft>
              <a:defRPr sz="1800"/>
            </a:lvl2pPr>
            <a:lvl3pPr marL="685800">
              <a:spcBef>
                <a:spcPts val="600"/>
              </a:spcBef>
              <a:spcAft>
                <a:spcPts val="600"/>
              </a:spcAft>
              <a:defRPr sz="1800"/>
            </a:lvl3pPr>
            <a:lvl4pPr marL="1143000">
              <a:spcBef>
                <a:spcPts val="600"/>
              </a:spcBef>
              <a:spcAft>
                <a:spcPts val="600"/>
              </a:spcAft>
              <a:defRPr sz="1800"/>
            </a:lvl4pPr>
            <a:lvl5pPr marL="16002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8/20/2026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587894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pic>
        <p:nvPicPr>
          <p:cNvPr id="4" name="Picture Placeholder 5">
            <a:extLst>
              <a:ext uri="{FF2B5EF4-FFF2-40B4-BE49-F238E27FC236}">
                <a16:creationId xmlns:a16="http://schemas.microsoft.com/office/drawing/2014/main" id="{236F3DDC-7FF8-F6A3-16EA-A01E7F79536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524" y="0"/>
            <a:ext cx="12188952" cy="6858000"/>
          </a:xfrm>
          <a:prstGeom prst="rect">
            <a:avLst/>
          </a:prstGeom>
        </p:spPr>
      </p:pic>
      <p:sp>
        <p:nvSpPr>
          <p:cNvPr id="9" name="Title 33">
            <a:extLst>
              <a:ext uri="{FF2B5EF4-FFF2-40B4-BE49-F238E27FC236}">
                <a16:creationId xmlns:a16="http://schemas.microsoft.com/office/drawing/2014/main" id="{E728EBB2-9164-AC06-6682-9505D88F9535}"/>
              </a:ext>
              <a:ext uri="{C183D7F6-B498-43B3-948B-1728B52AA6E4}">
                <adec:decorative xmlns:adec="http://schemas.microsoft.com/office/drawing/2017/decorative" val="1"/>
              </a:ext>
            </a:extLst>
          </p:cNvPr>
          <p:cNvSpPr txBox="1">
            <a:spLocks/>
          </p:cNvSpPr>
          <p:nvPr userDrawn="1"/>
        </p:nvSpPr>
        <p:spPr>
          <a:xfrm>
            <a:off x="915924" y="777240"/>
            <a:ext cx="6115497" cy="5303520"/>
          </a:xfrm>
          <a:prstGeom prst="rect">
            <a:avLst/>
          </a:prstGeom>
          <a:solidFill>
            <a:schemeClr val="bg1">
              <a:alpha val="95000"/>
            </a:schemeClr>
          </a:solidFill>
        </p:spPr>
        <p:txBody>
          <a:bodyPr vert="horz" lIns="91440" tIns="45720" rIns="91440" bIns="4572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1416937" y="879674"/>
            <a:ext cx="5377406" cy="2550005"/>
          </a:xfrm>
        </p:spPr>
        <p:txBody>
          <a:bodyPr anchor="b" anchorCtr="0">
            <a:noAutofit/>
          </a:bodyPr>
          <a:lstStyle>
            <a:lvl1pPr>
              <a:defRPr sz="3600"/>
            </a:lvl1pPr>
          </a:lstStyle>
          <a:p>
            <a:r>
              <a:rPr lang="en-US" dirty="0"/>
              <a:t>Click to add title</a:t>
            </a:r>
          </a:p>
        </p:txBody>
      </p:sp>
      <p:sp>
        <p:nvSpPr>
          <p:cNvPr id="13" name="Text Placeholder 12">
            <a:extLst>
              <a:ext uri="{FF2B5EF4-FFF2-40B4-BE49-F238E27FC236}">
                <a16:creationId xmlns:a16="http://schemas.microsoft.com/office/drawing/2014/main" id="{53BA3AA6-E309-C0C7-B2C6-3705384B7067}"/>
              </a:ext>
            </a:extLst>
          </p:cNvPr>
          <p:cNvSpPr>
            <a:spLocks noGrp="1"/>
          </p:cNvSpPr>
          <p:nvPr>
            <p:ph type="body" sz="quarter" idx="13" hasCustomPrompt="1"/>
          </p:nvPr>
        </p:nvSpPr>
        <p:spPr>
          <a:xfrm>
            <a:off x="1417638" y="3576900"/>
            <a:ext cx="4126635" cy="2233613"/>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8/20/2026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45438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pic>
        <p:nvPicPr>
          <p:cNvPr id="8" name="Picture Placeholder 5">
            <a:extLst>
              <a:ext uri="{FF2B5EF4-FFF2-40B4-BE49-F238E27FC236}">
                <a16:creationId xmlns:a16="http://schemas.microsoft.com/office/drawing/2014/main" id="{540E5FCC-3981-FB51-F0ED-B8BAB5C45A2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3BCE2C9E-7BC3-0EB6-EBE4-26EE33A1F2A3}"/>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1269357" y="891251"/>
            <a:ext cx="9653286" cy="1158254"/>
          </a:xfrm>
        </p:spPr>
        <p:txBody>
          <a:bodyPr anchor="b" anchorCtr="0">
            <a:noAutofit/>
          </a:bodyPr>
          <a:lstStyle>
            <a:lvl1pPr algn="ctr">
              <a:defRPr sz="3600"/>
            </a:lvl1pPr>
          </a:lstStyle>
          <a:p>
            <a:r>
              <a:rPr lang="en-US" dirty="0"/>
              <a:t>Click to add title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8/20/2026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0" name="Content Placeholder 2">
            <a:extLst>
              <a:ext uri="{FF2B5EF4-FFF2-40B4-BE49-F238E27FC236}">
                <a16:creationId xmlns:a16="http://schemas.microsoft.com/office/drawing/2014/main" id="{ECB36301-48E6-AF64-5055-0CCA79474EAE}"/>
              </a:ext>
            </a:extLst>
          </p:cNvPr>
          <p:cNvSpPr>
            <a:spLocks noGrp="1"/>
          </p:cNvSpPr>
          <p:nvPr>
            <p:ph sz="half" idx="13" hasCustomPrompt="1"/>
          </p:nvPr>
        </p:nvSpPr>
        <p:spPr>
          <a:xfrm>
            <a:off x="1400540" y="2257062"/>
            <a:ext cx="4062711" cy="3541853"/>
          </a:xfrm>
        </p:spPr>
        <p:txBody>
          <a:bodyPr>
            <a:normAutofit/>
          </a:bodyPr>
          <a:lstStyle>
            <a:lvl1pPr marL="0" indent="0">
              <a:spcBef>
                <a:spcPts val="600"/>
              </a:spcBef>
              <a:spcAft>
                <a:spcPts val="600"/>
              </a:spcAft>
              <a:buNone/>
              <a:defRPr sz="1800"/>
            </a:lvl1pPr>
            <a:lvl2pPr marL="228600">
              <a:spcBef>
                <a:spcPts val="600"/>
              </a:spcBef>
              <a:spcAft>
                <a:spcPts val="600"/>
              </a:spcAft>
              <a:defRPr sz="1800"/>
            </a:lvl2pPr>
            <a:lvl3pPr marL="685800">
              <a:spcBef>
                <a:spcPts val="600"/>
              </a:spcBef>
              <a:spcAft>
                <a:spcPts val="600"/>
              </a:spcAft>
              <a:defRPr sz="1800"/>
            </a:lvl3pPr>
            <a:lvl4pPr marL="1143000">
              <a:spcBef>
                <a:spcPts val="600"/>
              </a:spcBef>
              <a:spcAft>
                <a:spcPts val="600"/>
              </a:spcAft>
              <a:defRPr sz="1800"/>
            </a:lvl4pPr>
            <a:lvl5pPr marL="16002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5F973906-E48D-CA3F-3E96-205D2E688DC5}"/>
              </a:ext>
            </a:extLst>
          </p:cNvPr>
          <p:cNvSpPr>
            <a:spLocks noGrp="1"/>
          </p:cNvSpPr>
          <p:nvPr>
            <p:ph sz="half" idx="14" hasCustomPrompt="1"/>
          </p:nvPr>
        </p:nvSpPr>
        <p:spPr>
          <a:xfrm>
            <a:off x="6588311" y="2257061"/>
            <a:ext cx="4203151" cy="3541853"/>
          </a:xfrm>
        </p:spPr>
        <p:txBody>
          <a:bodyPr>
            <a:normAutofit/>
          </a:bodyPr>
          <a:lstStyle>
            <a:lvl1pPr marL="0" indent="0">
              <a:spcBef>
                <a:spcPts val="600"/>
              </a:spcBef>
              <a:spcAft>
                <a:spcPts val="600"/>
              </a:spcAft>
              <a:buNone/>
              <a:defRPr sz="1800"/>
            </a:lvl1pPr>
            <a:lvl2pPr marL="228600">
              <a:spcBef>
                <a:spcPts val="600"/>
              </a:spcBef>
              <a:spcAft>
                <a:spcPts val="600"/>
              </a:spcAft>
              <a:defRPr sz="1800"/>
            </a:lvl2pPr>
            <a:lvl3pPr marL="685800">
              <a:spcBef>
                <a:spcPts val="600"/>
              </a:spcBef>
              <a:spcAft>
                <a:spcPts val="600"/>
              </a:spcAft>
              <a:defRPr sz="1800"/>
            </a:lvl3pPr>
            <a:lvl4pPr marL="1143000">
              <a:spcBef>
                <a:spcPts val="600"/>
              </a:spcBef>
              <a:spcAft>
                <a:spcPts val="600"/>
              </a:spcAft>
              <a:defRPr sz="1800"/>
            </a:lvl4pPr>
            <a:lvl5pPr marL="16002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5290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pic>
        <p:nvPicPr>
          <p:cNvPr id="8" name="Picture Placeholder 44">
            <a:extLst>
              <a:ext uri="{FF2B5EF4-FFF2-40B4-BE49-F238E27FC236}">
                <a16:creationId xmlns:a16="http://schemas.microsoft.com/office/drawing/2014/main" id="{07AB38AA-85DC-3DF3-4ED4-B78FB670FFA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8F2DD44F-3200-BF06-94F9-C6A07EAD76B9}"/>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92361" y="777240"/>
            <a:ext cx="10007278" cy="1283843"/>
          </a:xfrm>
        </p:spPr>
        <p:txBody>
          <a:bodyPr anchor="b" anchorCtr="0">
            <a:noAutofit/>
          </a:bodyPr>
          <a:lstStyle>
            <a:lvl1pPr algn="ct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47029" y="2261313"/>
            <a:ext cx="3275746" cy="3653350"/>
          </a:xfrm>
        </p:spPr>
        <p:txBody>
          <a:bodyPr>
            <a:normAutofit/>
          </a:bodyPr>
          <a:lstStyle>
            <a:lvl1pPr marL="0" indent="0">
              <a:lnSpc>
                <a:spcPct val="100000"/>
              </a:lnSpc>
              <a:spcBef>
                <a:spcPts val="1000"/>
              </a:spcBef>
              <a:spcAft>
                <a:spcPts val="600"/>
              </a:spcAft>
              <a:buNone/>
              <a:defRPr sz="1800"/>
            </a:lvl1pPr>
            <a:lvl2pPr marL="228600" indent="0">
              <a:lnSpc>
                <a:spcPct val="100000"/>
              </a:lnSpc>
              <a:spcBef>
                <a:spcPts val="1000"/>
              </a:spcBef>
              <a:spcAft>
                <a:spcPts val="600"/>
              </a:spcAft>
              <a:buNone/>
              <a:defRPr sz="1800"/>
            </a:lvl2pPr>
            <a:lvl3pPr marL="914400" indent="0">
              <a:lnSpc>
                <a:spcPct val="100000"/>
              </a:lnSpc>
              <a:spcBef>
                <a:spcPts val="1000"/>
              </a:spcBef>
              <a:spcAft>
                <a:spcPts val="600"/>
              </a:spcAft>
              <a:buNone/>
              <a:defRPr sz="1800"/>
            </a:lvl3pPr>
            <a:lvl4pPr marL="1143000" indent="0">
              <a:lnSpc>
                <a:spcPct val="100000"/>
              </a:lnSpc>
              <a:spcBef>
                <a:spcPts val="1000"/>
              </a:spcBef>
              <a:spcAft>
                <a:spcPts val="600"/>
              </a:spcAft>
              <a:buNone/>
              <a:defRPr sz="1800"/>
            </a:lvl4pPr>
            <a:lvl5pPr marL="1600200" indent="0">
              <a:lnSpc>
                <a:spcPct val="100000"/>
              </a:lnSpc>
              <a:spcBef>
                <a:spcPts val="1000"/>
              </a:spcBef>
              <a:spcAft>
                <a:spcPts val="600"/>
              </a:spcAft>
              <a:buNone/>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8/20/2026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0" name="Content Placeholder 2">
            <a:extLst>
              <a:ext uri="{FF2B5EF4-FFF2-40B4-BE49-F238E27FC236}">
                <a16:creationId xmlns:a16="http://schemas.microsoft.com/office/drawing/2014/main" id="{C2AA9CA0-D45C-FE27-D4E4-DD219364E4FB}"/>
              </a:ext>
            </a:extLst>
          </p:cNvPr>
          <p:cNvSpPr>
            <a:spLocks noGrp="1"/>
          </p:cNvSpPr>
          <p:nvPr>
            <p:ph sz="half" idx="13" hasCustomPrompt="1"/>
          </p:nvPr>
        </p:nvSpPr>
        <p:spPr>
          <a:xfrm>
            <a:off x="5150734" y="2261313"/>
            <a:ext cx="5594236" cy="3653350"/>
          </a:xfrm>
        </p:spPr>
        <p:txBody>
          <a:bodyPr>
            <a:normAutofit/>
          </a:bodyPr>
          <a:lstStyle>
            <a:lvl1pPr marL="0" indent="0">
              <a:spcBef>
                <a:spcPts val="600"/>
              </a:spcBef>
              <a:spcAft>
                <a:spcPts val="600"/>
              </a:spcAft>
              <a:buNone/>
              <a:defRPr sz="1800"/>
            </a:lvl1pPr>
            <a:lvl2pPr marL="228600">
              <a:spcBef>
                <a:spcPts val="600"/>
              </a:spcBef>
              <a:spcAft>
                <a:spcPts val="600"/>
              </a:spcAft>
              <a:defRPr sz="1800"/>
            </a:lvl2pPr>
            <a:lvl3pPr marL="685800">
              <a:spcBef>
                <a:spcPts val="600"/>
              </a:spcBef>
              <a:spcAft>
                <a:spcPts val="600"/>
              </a:spcAft>
              <a:defRPr sz="1800"/>
            </a:lvl3pPr>
            <a:lvl4pPr marL="1143000">
              <a:spcBef>
                <a:spcPts val="600"/>
              </a:spcBef>
              <a:spcAft>
                <a:spcPts val="600"/>
              </a:spcAft>
              <a:defRPr sz="1800"/>
            </a:lvl4pPr>
            <a:lvl5pPr marL="16002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7852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pic>
        <p:nvPicPr>
          <p:cNvPr id="7" name="Picture Placeholder 8">
            <a:extLst>
              <a:ext uri="{FF2B5EF4-FFF2-40B4-BE49-F238E27FC236}">
                <a16:creationId xmlns:a16="http://schemas.microsoft.com/office/drawing/2014/main" id="{F1219773-33FA-E4F9-4EAE-0764613F6213}"/>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92817C37-9292-1CF3-6529-DEF7174273E0}"/>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061275" y="1134320"/>
            <a:ext cx="4803494" cy="1956122"/>
          </a:xfrm>
        </p:spPr>
        <p:txBody>
          <a:bodyPr anchor="b">
            <a:noAutofit/>
          </a:bodyPr>
          <a:lstStyle>
            <a:lvl1pPr algn="l">
              <a:defRPr sz="36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061275" y="3418271"/>
            <a:ext cx="4803494" cy="2305409"/>
          </a:xfrm>
        </p:spPr>
        <p:txBody>
          <a:bodyPr>
            <a:noAutofit/>
          </a:bodyPr>
          <a:lstStyle>
            <a:lvl1pPr marL="0" indent="0" algn="l">
              <a:spcAft>
                <a:spcPts val="1000"/>
              </a:spcAft>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
        <p:nvSpPr>
          <p:cNvPr id="12" name="Picture Placeholder 11">
            <a:extLst>
              <a:ext uri="{FF2B5EF4-FFF2-40B4-BE49-F238E27FC236}">
                <a16:creationId xmlns:a16="http://schemas.microsoft.com/office/drawing/2014/main" id="{E5D7B0DF-23EB-406B-9FAA-0182626A919B}"/>
              </a:ext>
            </a:extLst>
          </p:cNvPr>
          <p:cNvSpPr>
            <a:spLocks noGrp="1"/>
          </p:cNvSpPr>
          <p:nvPr>
            <p:ph type="pic" sz="quarter" idx="13"/>
          </p:nvPr>
        </p:nvSpPr>
        <p:spPr>
          <a:xfrm>
            <a:off x="1308563" y="1146638"/>
            <a:ext cx="4389120" cy="4572000"/>
          </a:xfrm>
        </p:spPr>
        <p:txBody>
          <a:bodyPr>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8/20/2026</a:t>
            </a:fld>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563727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pic>
        <p:nvPicPr>
          <p:cNvPr id="4" name="Picture Placeholder 64">
            <a:extLst>
              <a:ext uri="{FF2B5EF4-FFF2-40B4-BE49-F238E27FC236}">
                <a16:creationId xmlns:a16="http://schemas.microsoft.com/office/drawing/2014/main" id="{7C62E1FE-8CAE-1FE1-6A91-DFE7F1D87083}"/>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266219"/>
            <a:ext cx="10389243" cy="1424470"/>
          </a:xfrm>
        </p:spPr>
        <p:txBody>
          <a:bodyPr anchor="ctr" anchorCtr="0">
            <a:noAutofit/>
          </a:bodyPr>
          <a:lstStyle>
            <a:lvl1pP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779325"/>
            <a:ext cx="3490732" cy="4297680"/>
          </a:xfrm>
        </p:spPr>
        <p:txBody>
          <a:bodyPr tIns="274320">
            <a:normAutofit/>
          </a:bodyPr>
          <a:lstStyle>
            <a:lvl1pPr marL="0" indent="0">
              <a:spcBef>
                <a:spcPts val="1000"/>
              </a:spcBef>
              <a:spcAft>
                <a:spcPts val="1000"/>
              </a:spcAft>
              <a:buNone/>
              <a:defRPr sz="1800"/>
            </a:lvl1pPr>
            <a:lvl2pPr marL="228600" indent="0">
              <a:spcBef>
                <a:spcPts val="1000"/>
              </a:spcBef>
              <a:spcAft>
                <a:spcPts val="1000"/>
              </a:spcAft>
              <a:buNone/>
              <a:defRPr sz="1800"/>
            </a:lvl2pPr>
            <a:lvl3pPr marL="685800" indent="0">
              <a:spcBef>
                <a:spcPts val="1000"/>
              </a:spcBef>
              <a:spcAft>
                <a:spcPts val="1000"/>
              </a:spcAft>
              <a:buNone/>
              <a:defRPr sz="1800"/>
            </a:lvl3pPr>
            <a:lvl4pPr marL="1143000" indent="0">
              <a:spcBef>
                <a:spcPts val="1000"/>
              </a:spcBef>
              <a:spcAft>
                <a:spcPts val="1000"/>
              </a:spcAft>
              <a:buNone/>
              <a:defRPr sz="1800"/>
            </a:lvl4pPr>
            <a:lvl5pPr marL="1600200" indent="0">
              <a:spcBef>
                <a:spcPts val="1000"/>
              </a:spcBef>
              <a:spcAft>
                <a:spcPts val="1000"/>
              </a:spcAft>
              <a:buNone/>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502552" y="1779325"/>
            <a:ext cx="6724891" cy="4297680"/>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8/20/2026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0815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3">
    <p:spTree>
      <p:nvGrpSpPr>
        <p:cNvPr id="1" name=""/>
        <p:cNvGrpSpPr/>
        <p:nvPr/>
      </p:nvGrpSpPr>
      <p:grpSpPr>
        <a:xfrm>
          <a:off x="0" y="0"/>
          <a:ext cx="0" cy="0"/>
          <a:chOff x="0" y="0"/>
          <a:chExt cx="0" cy="0"/>
        </a:xfrm>
      </p:grpSpPr>
      <p:pic>
        <p:nvPicPr>
          <p:cNvPr id="8" name="Picture Placeholder 17">
            <a:extLst>
              <a:ext uri="{FF2B5EF4-FFF2-40B4-BE49-F238E27FC236}">
                <a16:creationId xmlns:a16="http://schemas.microsoft.com/office/drawing/2014/main" id="{32B61A96-5F36-8895-B920-FC12FD76DC53}"/>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9" name="Rectangle 8">
            <a:extLst>
              <a:ext uri="{FF2B5EF4-FFF2-40B4-BE49-F238E27FC236}">
                <a16:creationId xmlns:a16="http://schemas.microsoft.com/office/drawing/2014/main" id="{8774BC39-6D56-474E-28BE-99260516AB0C}"/>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73070" y="914400"/>
            <a:ext cx="10045861" cy="1146680"/>
          </a:xfrm>
        </p:spPr>
        <p:txBody>
          <a:bodyPr anchor="b" anchorCtr="0">
            <a:noAutofit/>
          </a:bodyPr>
          <a:lstStyle>
            <a:lvl1pPr algn="ct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23687" y="2288614"/>
            <a:ext cx="5382228" cy="3475578"/>
          </a:xfrm>
        </p:spPr>
        <p:txBody>
          <a:bodyPr>
            <a:normAutofit/>
          </a:bodyPr>
          <a:lstStyle>
            <a:lvl1pPr marL="0" indent="0">
              <a:spcBef>
                <a:spcPts val="1000"/>
              </a:spcBef>
              <a:spcAft>
                <a:spcPts val="0"/>
              </a:spcAft>
              <a:buNone/>
              <a:defRPr sz="1800"/>
            </a:lvl1pPr>
            <a:lvl2pPr marL="685800">
              <a:spcBef>
                <a:spcPts val="600"/>
              </a:spcBef>
              <a:spcAft>
                <a:spcPts val="600"/>
              </a:spcAft>
              <a:defRPr sz="1800"/>
            </a:lvl2pPr>
            <a:lvl3pPr marL="1143000">
              <a:spcBef>
                <a:spcPts val="600"/>
              </a:spcBef>
              <a:spcAft>
                <a:spcPts val="600"/>
              </a:spcAft>
              <a:defRPr sz="1800"/>
            </a:lvl3pPr>
            <a:lvl4pPr marL="1600200">
              <a:spcBef>
                <a:spcPts val="600"/>
              </a:spcBef>
              <a:spcAft>
                <a:spcPts val="600"/>
              </a:spcAft>
              <a:defRPr sz="1800"/>
            </a:lvl4pPr>
            <a:lvl5pPr marL="2057400">
              <a:spcBef>
                <a:spcPts val="60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451790" y="2288614"/>
            <a:ext cx="3108960" cy="3475578"/>
          </a:xfrm>
        </p:spPr>
        <p:txBody>
          <a:bodyPr tIns="91440">
            <a:normAutofit/>
          </a:bodyPr>
          <a:lstStyle>
            <a:lvl1pPr marL="0" indent="0">
              <a:lnSpc>
                <a:spcPct val="150000"/>
              </a:lnSpc>
              <a:spcBef>
                <a:spcPts val="1000"/>
              </a:spcBef>
              <a:spcAft>
                <a:spcPts val="600"/>
              </a:spcAft>
              <a:buNone/>
              <a:defRPr sz="1800"/>
            </a:lvl1pPr>
            <a:lvl2pPr marL="228600" indent="0">
              <a:lnSpc>
                <a:spcPct val="100000"/>
              </a:lnSpc>
              <a:spcBef>
                <a:spcPts val="1000"/>
              </a:spcBef>
              <a:spcAft>
                <a:spcPts val="600"/>
              </a:spcAft>
              <a:buNone/>
              <a:defRPr sz="1800"/>
            </a:lvl2pPr>
            <a:lvl3pPr marL="685800" indent="0">
              <a:lnSpc>
                <a:spcPct val="100000"/>
              </a:lnSpc>
              <a:spcBef>
                <a:spcPts val="1000"/>
              </a:spcBef>
              <a:spcAft>
                <a:spcPts val="600"/>
              </a:spcAft>
              <a:buNone/>
              <a:defRPr sz="1800"/>
            </a:lvl3pPr>
            <a:lvl4pPr marL="1143000" indent="0">
              <a:lnSpc>
                <a:spcPct val="100000"/>
              </a:lnSpc>
              <a:spcBef>
                <a:spcPts val="1000"/>
              </a:spcBef>
              <a:spcAft>
                <a:spcPts val="600"/>
              </a:spcAft>
              <a:buNone/>
              <a:defRPr sz="1800"/>
            </a:lvl4pPr>
            <a:lvl5pPr marL="1600200" indent="0">
              <a:lnSpc>
                <a:spcPct val="100000"/>
              </a:lnSpc>
              <a:spcBef>
                <a:spcPts val="1000"/>
              </a:spcBef>
              <a:spcAft>
                <a:spcPts val="600"/>
              </a:spcAft>
              <a:buNone/>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8/20/2026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7703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Picture Placeholder 64">
            <a:extLst>
              <a:ext uri="{FF2B5EF4-FFF2-40B4-BE49-F238E27FC236}">
                <a16:creationId xmlns:a16="http://schemas.microsoft.com/office/drawing/2014/main" id="{55E792AE-CF37-9DD8-2703-49480775F029}"/>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133629"/>
            <a:ext cx="10515600" cy="1325563"/>
          </a:xfrm>
        </p:spPr>
        <p:txBody>
          <a:bodyPr anchor="b" anchorCtr="0">
            <a:noAutofit/>
          </a:bodyPr>
          <a:lstStyle>
            <a:lvl1pPr>
              <a:defRPr sz="36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914400" y="1779325"/>
            <a:ext cx="10361676" cy="4297680"/>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8/20/2026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626099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7" name="Picture Placeholder 13">
            <a:extLst>
              <a:ext uri="{FF2B5EF4-FFF2-40B4-BE49-F238E27FC236}">
                <a16:creationId xmlns:a16="http://schemas.microsoft.com/office/drawing/2014/main" id="{A1BB4149-7987-3EF4-952D-2271B4DD8AB1}"/>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07B335AD-7A4B-841B-52BC-8FF32D99D749}"/>
              </a:ext>
              <a:ext uri="{C183D7F6-B498-43B3-948B-1728B52AA6E4}">
                <adec:decorative xmlns:adec="http://schemas.microsoft.com/office/drawing/2017/decorative" val="1"/>
              </a:ext>
            </a:extLst>
          </p:cNvPr>
          <p:cNvSpPr/>
          <p:nvPr userDrawn="1"/>
        </p:nvSpPr>
        <p:spPr>
          <a:xfrm>
            <a:off x="3799368" y="0"/>
            <a:ext cx="4593265"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4143375" y="92597"/>
            <a:ext cx="3905250" cy="3032567"/>
          </a:xfrm>
        </p:spPr>
        <p:txBody>
          <a:bodyPr anchor="b">
            <a:noAutofit/>
          </a:bodyPr>
          <a:lstStyle>
            <a:lvl1pPr algn="ctr">
              <a:defRPr/>
            </a:lvl1pPr>
          </a:lstStyle>
          <a:p>
            <a:r>
              <a:rPr lang="en-US" dirty="0"/>
              <a:t>Click to add title</a:t>
            </a:r>
          </a:p>
        </p:txBody>
      </p:sp>
      <p:sp>
        <p:nvSpPr>
          <p:cNvPr id="10" name="Text Placeholder 9">
            <a:extLst>
              <a:ext uri="{FF2B5EF4-FFF2-40B4-BE49-F238E27FC236}">
                <a16:creationId xmlns:a16="http://schemas.microsoft.com/office/drawing/2014/main" id="{A13E19FD-68BB-0F8D-21CF-9E48B806073F}"/>
              </a:ext>
            </a:extLst>
          </p:cNvPr>
          <p:cNvSpPr>
            <a:spLocks noGrp="1"/>
          </p:cNvSpPr>
          <p:nvPr>
            <p:ph type="body" sz="quarter" idx="10" hasCustomPrompt="1"/>
          </p:nvPr>
        </p:nvSpPr>
        <p:spPr>
          <a:xfrm>
            <a:off x="4143375" y="4004321"/>
            <a:ext cx="3905250" cy="2743200"/>
          </a:xfrm>
        </p:spPr>
        <p:txBody>
          <a:bodyPr>
            <a:normAutofit/>
          </a:bodyPr>
          <a:lstStyle>
            <a:lvl1pPr marL="0" indent="0" algn="ctr">
              <a:buNone/>
              <a:defRPr sz="18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8/20/2026</a:t>
            </a:fld>
            <a:endParaRPr lang="en-US" dirty="0"/>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59" r:id="rId4"/>
    <p:sldLayoutId id="2147483650" r:id="rId5"/>
    <p:sldLayoutId id="2147483652" r:id="rId6"/>
    <p:sldLayoutId id="2147483662" r:id="rId7"/>
    <p:sldLayoutId id="2147483663" r:id="rId8"/>
    <p:sldLayoutId id="2147483649" r:id="rId9"/>
    <p:sldLayoutId id="2147483666" r:id="rId10"/>
    <p:sldLayoutId id="2147483664" r:id="rId11"/>
    <p:sldLayoutId id="2147483665" r:id="rId12"/>
    <p:sldLayoutId id="2147483661"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ctrTitle"/>
          </p:nvPr>
        </p:nvSpPr>
        <p:spPr>
          <a:xfrm>
            <a:off x="1524000" y="2286000"/>
            <a:ext cx="9144000" cy="2286000"/>
          </a:xfrm>
          <a:noFill/>
        </p:spPr>
        <p:txBody>
          <a:bodyPr>
            <a:noAutofit/>
          </a:bodyPr>
          <a:lstStyle/>
          <a:p>
            <a:r>
              <a:rPr lang="en-US" dirty="0"/>
              <a:t>Object Oriented Programming</a:t>
            </a:r>
          </a:p>
        </p:txBody>
      </p:sp>
    </p:spTree>
    <p:extLst>
      <p:ext uri="{BB962C8B-B14F-4D97-AF65-F5344CB8AC3E}">
        <p14:creationId xmlns:p14="http://schemas.microsoft.com/office/powerpoint/2010/main" val="208302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4226305" y="518065"/>
            <a:ext cx="3200400" cy="785802"/>
          </a:xfrm>
          <a:noFill/>
        </p:spPr>
        <p:txBody>
          <a:bodyPr anchor="t">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465667" y="1457864"/>
            <a:ext cx="9316688" cy="4580627"/>
          </a:xfrm>
          <a:noFill/>
        </p:spPr>
        <p:txBody>
          <a:bodyPr anchor="t">
            <a:normAutofit/>
          </a:bodyPr>
          <a:lstStyle/>
          <a:p>
            <a:r>
              <a:rPr lang="en-US" b="1" dirty="0">
                <a:effectLst>
                  <a:outerShdw blurRad="38100" dist="38100" dir="2700000" algn="tl">
                    <a:srgbClr val="000000">
                      <a:alpha val="43137"/>
                    </a:srgbClr>
                  </a:outerShdw>
                </a:effectLst>
              </a:rPr>
              <a:t>Python for Business: Automating, Analyzing &amp; Making Smarter Decisions</a:t>
            </a:r>
          </a:p>
          <a:p>
            <a:pPr marL="342900" indent="-342900">
              <a:buFont typeface="Arial" panose="020B0604020202020204" pitchFamily="34" charset="0"/>
              <a:buChar char="•"/>
            </a:pPr>
            <a:r>
              <a:rPr lang="en-US" sz="2000" dirty="0"/>
              <a:t>Introduction to OOP </a:t>
            </a:r>
          </a:p>
          <a:p>
            <a:pPr marL="342900" indent="-342900">
              <a:buFont typeface="Arial" panose="020B0604020202020204" pitchFamily="34" charset="0"/>
              <a:buChar char="•"/>
            </a:pPr>
            <a:r>
              <a:rPr lang="en-US" sz="2000" dirty="0"/>
              <a:t>Importance of OOP in fintech.</a:t>
            </a:r>
          </a:p>
          <a:p>
            <a:pPr marL="342900" indent="-342900">
              <a:buFont typeface="Arial" panose="020B0604020202020204" pitchFamily="34" charset="0"/>
              <a:buChar char="•"/>
            </a:pPr>
            <a:r>
              <a:rPr lang="en-US" sz="2000" dirty="0"/>
              <a:t>Installation and setup of Jupyter Notebook</a:t>
            </a:r>
          </a:p>
          <a:p>
            <a:pPr marL="342900" indent="-342900">
              <a:buFont typeface="Arial" panose="020B0604020202020204" pitchFamily="34" charset="0"/>
              <a:buChar char="•"/>
            </a:pPr>
            <a:r>
              <a:rPr lang="en-US" sz="2000"/>
              <a:t>Starting Python and OOP </a:t>
            </a: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2070817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564298" y="592175"/>
            <a:ext cx="5166167" cy="5289630"/>
          </a:xfrm>
          <a:solidFill>
            <a:schemeClr val="bg1">
              <a:alpha val="95000"/>
            </a:schemeClr>
          </a:solidFill>
        </p:spPr>
        <p:txBody>
          <a:bodyPr anchor="ctr"/>
          <a:lstStyle/>
          <a:p>
            <a:r>
              <a:rPr lang="en-US" dirty="0"/>
              <a:t>Let’s get to know Each other 😉</a:t>
            </a:r>
          </a:p>
        </p:txBody>
      </p:sp>
      <p:sp>
        <p:nvSpPr>
          <p:cNvPr id="2" name="Picture Placeholder 1"/>
          <p:cNvSpPr>
            <a:spLocks noGrp="1"/>
          </p:cNvSpPr>
          <p:nvPr>
            <p:ph type="pic" sz="quarter" idx="13"/>
          </p:nvPr>
        </p:nvSpPr>
        <p:spPr/>
        <p:txBody>
          <a:bodyPr/>
          <a:lstStyle/>
          <a:p>
            <a:endParaRPr lang="en-US"/>
          </a:p>
        </p:txBody>
      </p:sp>
      <p:pic>
        <p:nvPicPr>
          <p:cNvPr id="4098" name="Picture 2" descr="Questions To Ask To Get To Know Someo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4424" y="775502"/>
            <a:ext cx="5166167" cy="5301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45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09490-FEE3-F417-5627-CFA91AD89FB7}"/>
            </a:ext>
          </a:extLst>
        </p:cNvPr>
        <p:cNvGrpSpPr/>
        <p:nvPr/>
      </p:nvGrpSpPr>
      <p:grpSpPr>
        <a:xfrm>
          <a:off x="0" y="0"/>
          <a:ext cx="0" cy="0"/>
          <a:chOff x="0" y="0"/>
          <a:chExt cx="0" cy="0"/>
        </a:xfrm>
      </p:grpSpPr>
      <p:sp>
        <p:nvSpPr>
          <p:cNvPr id="2" name="Rectangle 1"/>
          <p:cNvSpPr>
            <a:spLocks noChangeArrowheads="1"/>
          </p:cNvSpPr>
          <p:nvPr/>
        </p:nvSpPr>
        <p:spPr bwMode="auto">
          <a:xfrm rot="10800000" flipV="1">
            <a:off x="4997669" y="2015992"/>
            <a:ext cx="719433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“Welcome Back — Let’s Start Where We Left Off”</a:t>
            </a:r>
          </a:p>
          <a:p>
            <a:endParaRPr lang="en-US" sz="2400" dirty="0"/>
          </a:p>
          <a:p>
            <a:pPr marL="342900" lvl="0" indent="-342900">
              <a:buFont typeface="Arial" panose="020B0604020202020204" pitchFamily="34" charset="0"/>
              <a:buChar char="•"/>
            </a:pPr>
            <a:r>
              <a:rPr lang="en-US" sz="2400" b="1" dirty="0"/>
              <a:t>Name + one good thing you remember from last semester</a:t>
            </a:r>
            <a:r>
              <a:rPr lang="en-US" sz="2400" dirty="0"/>
              <a:t> </a:t>
            </a:r>
          </a:p>
          <a:p>
            <a:pPr marL="342900" lvl="0" indent="-342900">
              <a:buFont typeface="Arial" panose="020B0604020202020204" pitchFamily="34" charset="0"/>
              <a:buChar char="•"/>
            </a:pPr>
            <a:r>
              <a:rPr lang="en-US" sz="2400" b="1" dirty="0"/>
              <a:t>One thing you’re interested in outside academics</a:t>
            </a:r>
            <a:r>
              <a:rPr lang="en-US" sz="2400" dirty="0"/>
              <a:t> </a:t>
            </a:r>
          </a:p>
          <a:p>
            <a:pPr marL="342900" lvl="0" indent="-342900">
              <a:buFont typeface="Arial" panose="020B0604020202020204" pitchFamily="34" charset="0"/>
              <a:buChar char="•"/>
            </a:pPr>
            <a:r>
              <a:rPr lang="en-US" sz="2400" b="1" dirty="0"/>
              <a:t>One thing you want to learn/master this semester</a:t>
            </a:r>
            <a:r>
              <a:rPr lang="en-US" sz="2400" dirty="0"/>
              <a:t> </a:t>
            </a:r>
          </a:p>
          <a:p>
            <a:pPr marL="342900" lvl="0" indent="-342900">
              <a:buFont typeface="Arial" panose="020B0604020202020204" pitchFamily="34" charset="0"/>
              <a:buChar char="•"/>
            </a:pPr>
            <a:r>
              <a:rPr lang="en-US" sz="2400" b="1" dirty="0"/>
              <a:t>What should I do as your instructor to make this semester better?</a:t>
            </a:r>
            <a:endParaRPr lang="en-US" sz="2400" dirty="0"/>
          </a:p>
        </p:txBody>
      </p:sp>
      <p:sp>
        <p:nvSpPr>
          <p:cNvPr id="4" name="Title 3"/>
          <p:cNvSpPr>
            <a:spLocks noGrp="1"/>
          </p:cNvSpPr>
          <p:nvPr>
            <p:ph type="title"/>
          </p:nvPr>
        </p:nvSpPr>
        <p:spPr>
          <a:xfrm>
            <a:off x="1670744" y="8187267"/>
            <a:ext cx="6170410" cy="9092072"/>
          </a:xfrm>
        </p:spPr>
        <p:txBody>
          <a:bodyPr/>
          <a:lstStyle/>
          <a:p>
            <a:endParaRPr lang="en-US" dirty="0"/>
          </a:p>
        </p:txBody>
      </p:sp>
      <p:pic>
        <p:nvPicPr>
          <p:cNvPr id="3077" name="Picture 5" descr="Question in Job Interview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134" y="1063096"/>
            <a:ext cx="4175818" cy="5134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539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ubtitle 10">
            <a:extLst>
              <a:ext uri="{FF2B5EF4-FFF2-40B4-BE49-F238E27FC236}">
                <a16:creationId xmlns:a16="http://schemas.microsoft.com/office/drawing/2014/main" id="{F4583933-95EE-13B0-55ED-7B10E3D3867E}"/>
              </a:ext>
            </a:extLst>
          </p:cNvPr>
          <p:cNvSpPr>
            <a:spLocks noGrp="1"/>
          </p:cNvSpPr>
          <p:nvPr>
            <p:ph type="subTitle" idx="1"/>
          </p:nvPr>
        </p:nvSpPr>
        <p:spPr>
          <a:xfrm>
            <a:off x="6304602" y="2927731"/>
            <a:ext cx="4476967" cy="2123547"/>
          </a:xfrm>
        </p:spPr>
        <p:txBody>
          <a:bodyPr/>
          <a:lstStyle/>
          <a:p>
            <a:r>
              <a:rPr lang="en-US" dirty="0"/>
              <a:t>1.1 : What is OOP?</a:t>
            </a:r>
          </a:p>
        </p:txBody>
      </p:sp>
      <p:pic>
        <p:nvPicPr>
          <p:cNvPr id="1026" name="Picture 2" descr="47,400+ Confused Funny Stock Photos, Pictures &amp; Royalty-Free ...">
            <a:extLst>
              <a:ext uri="{FF2B5EF4-FFF2-40B4-BE49-F238E27FC236}">
                <a16:creationId xmlns:a16="http://schemas.microsoft.com/office/drawing/2014/main" id="{69354A79-DCFB-DBE7-7F41-CBF1B39121CB}"/>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14163" r="14163"/>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8037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B1659D6E-75B3-4478-71B4-14F05A533A68}"/>
              </a:ext>
            </a:extLst>
          </p:cNvPr>
          <p:cNvSpPr>
            <a:spLocks noGrp="1" noChangeArrowheads="1"/>
          </p:cNvSpPr>
          <p:nvPr>
            <p:ph sz="half" idx="14"/>
          </p:nvPr>
        </p:nvSpPr>
        <p:spPr bwMode="auto">
          <a:xfrm>
            <a:off x="1616075" y="1613909"/>
            <a:ext cx="9086759" cy="3396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b="1" dirty="0"/>
              <a:t>OOP stands for Object-Oriented Programming.</a:t>
            </a:r>
          </a:p>
          <a:p>
            <a:endParaRPr lang="en-US" sz="2800" b="1" dirty="0"/>
          </a:p>
          <a:p>
            <a:pPr marL="285750" indent="-285750">
              <a:buFont typeface="Arial" panose="020B0604020202020204" pitchFamily="34" charset="0"/>
              <a:buChar char="•"/>
            </a:pPr>
            <a:r>
              <a:rPr lang="en-US" dirty="0"/>
              <a:t>Object-Oriented Programming is a way of writing programs by </a:t>
            </a:r>
            <a:r>
              <a:rPr lang="en-US" b="1" dirty="0"/>
              <a:t>modeling real-world entities as objects</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Python is an object-oriented language, allowing you to structure your code </a:t>
            </a:r>
          </a:p>
          <a:p>
            <a:pPr marL="285750" indent="-285750">
              <a:buFont typeface="Arial" panose="020B0604020202020204" pitchFamily="34" charset="0"/>
              <a:buChar char="•"/>
            </a:pPr>
            <a:r>
              <a:rPr lang="en-US" dirty="0"/>
              <a:t>using classes and objects for better organization and reusability.</a:t>
            </a:r>
          </a:p>
        </p:txBody>
      </p:sp>
    </p:spTree>
    <p:extLst>
      <p:ext uri="{BB962C8B-B14F-4D97-AF65-F5344CB8AC3E}">
        <p14:creationId xmlns:p14="http://schemas.microsoft.com/office/powerpoint/2010/main" val="1667462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OPS(Object Oriented Programming ...">
            <a:extLst>
              <a:ext uri="{FF2B5EF4-FFF2-40B4-BE49-F238E27FC236}">
                <a16:creationId xmlns:a16="http://schemas.microsoft.com/office/drawing/2014/main" id="{50F7AA86-C003-8EDB-35A1-D5971619AD20}"/>
              </a:ext>
            </a:extLst>
          </p:cNvPr>
          <p:cNvPicPr>
            <a:picLocks noGrp="1" noChangeAspect="1" noChangeArrowheads="1"/>
          </p:cNvPicPr>
          <p:nvPr>
            <p:ph sz="half" idx="14"/>
          </p:nvPr>
        </p:nvPicPr>
        <p:blipFill>
          <a:blip r:embed="rId2">
            <a:extLst>
              <a:ext uri="{28A0092B-C50C-407E-A947-70E740481C1C}">
                <a14:useLocalDpi xmlns:a14="http://schemas.microsoft.com/office/drawing/2010/main" val="0"/>
              </a:ext>
            </a:extLst>
          </a:blip>
          <a:srcRect/>
          <a:stretch>
            <a:fillRect/>
          </a:stretch>
        </p:blipFill>
        <p:spPr bwMode="auto">
          <a:xfrm>
            <a:off x="2526890" y="1253614"/>
            <a:ext cx="7138219" cy="4091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5783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B1659D6E-75B3-4478-71B4-14F05A533A68}"/>
              </a:ext>
            </a:extLst>
          </p:cNvPr>
          <p:cNvSpPr>
            <a:spLocks noGrp="1" noChangeArrowheads="1"/>
          </p:cNvSpPr>
          <p:nvPr>
            <p:ph sz="half" idx="14"/>
          </p:nvPr>
        </p:nvSpPr>
        <p:spPr bwMode="auto">
          <a:xfrm>
            <a:off x="1837301" y="1768582"/>
            <a:ext cx="8486570" cy="3618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pPr>
            <a:r>
              <a:rPr lang="en-US" altLang="en-US" sz="2800" b="1" dirty="0">
                <a:latin typeface="Arial" panose="020B0604020202020204" pitchFamily="34" charset="0"/>
              </a:rPr>
              <a:t>1.2</a:t>
            </a:r>
          </a:p>
          <a:p>
            <a:pPr lvl="0" eaLnBrk="0" fontAlgn="base" hangingPunct="0">
              <a:lnSpc>
                <a:spcPct val="100000"/>
              </a:lnSpc>
              <a:spcBef>
                <a:spcPct val="0"/>
              </a:spcBef>
              <a:spcAft>
                <a:spcPct val="0"/>
              </a:spcAft>
              <a:buFontTx/>
              <a:buChar char="•"/>
            </a:pPr>
            <a:r>
              <a:rPr lang="en-US" sz="2800" b="1" dirty="0"/>
              <a:t>IMPORTANCE OF OOP </a:t>
            </a:r>
          </a:p>
          <a:p>
            <a:pPr lvl="0" eaLnBrk="0" fontAlgn="base" hangingPunct="0">
              <a:lnSpc>
                <a:spcPct val="100000"/>
              </a:lnSpc>
              <a:spcBef>
                <a:spcPct val="0"/>
              </a:spcBef>
              <a:spcAft>
                <a:spcPct val="0"/>
              </a:spcAft>
              <a:buFontTx/>
              <a:buChar char="•"/>
            </a:pPr>
            <a:endParaRPr lang="en-US" b="1" dirty="0"/>
          </a:p>
          <a:p>
            <a:pPr marL="285750" indent="-285750">
              <a:buFont typeface="Arial" panose="020B0604020202020204" pitchFamily="34" charset="0"/>
              <a:buChar char="•"/>
            </a:pPr>
            <a:r>
              <a:rPr lang="en-US" dirty="0"/>
              <a:t>Provides a clear structure to programs</a:t>
            </a:r>
          </a:p>
          <a:p>
            <a:pPr marL="285750" indent="-285750">
              <a:buFont typeface="Arial" panose="020B0604020202020204" pitchFamily="34" charset="0"/>
              <a:buChar char="•"/>
            </a:pPr>
            <a:r>
              <a:rPr lang="en-US" dirty="0"/>
              <a:t>Makes code easier to maintain, reuse, and debug</a:t>
            </a:r>
          </a:p>
          <a:p>
            <a:pPr marL="285750" indent="-285750">
              <a:buFont typeface="Arial" panose="020B0604020202020204" pitchFamily="34" charset="0"/>
              <a:buChar char="•"/>
            </a:pPr>
            <a:r>
              <a:rPr lang="en-US" dirty="0"/>
              <a:t>Helps keep your code DRY (</a:t>
            </a:r>
            <a:r>
              <a:rPr lang="en-US" b="1" dirty="0"/>
              <a:t>Don't Repeat Yourself</a:t>
            </a:r>
            <a:r>
              <a:rPr lang="en-US" dirty="0"/>
              <a:t>)</a:t>
            </a:r>
          </a:p>
          <a:p>
            <a:pPr marL="285750" indent="-285750">
              <a:buFont typeface="Arial" panose="020B0604020202020204" pitchFamily="34" charset="0"/>
              <a:buChar char="•"/>
            </a:pPr>
            <a:r>
              <a:rPr lang="en-US" dirty="0"/>
              <a:t>Allows you to build reusable applications with less code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8168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Object Oriented Programming (OOP ...">
            <a:extLst>
              <a:ext uri="{FF2B5EF4-FFF2-40B4-BE49-F238E27FC236}">
                <a16:creationId xmlns:a16="http://schemas.microsoft.com/office/drawing/2014/main" id="{DA4F0A87-34EA-8A63-1479-4414E1A84073}"/>
              </a:ext>
            </a:extLst>
          </p:cNvPr>
          <p:cNvPicPr>
            <a:picLocks noGrp="1" noChangeAspect="1" noChangeArrowheads="1"/>
          </p:cNvPicPr>
          <p:nvPr>
            <p:ph sz="half" idx="14"/>
          </p:nvPr>
        </p:nvPicPr>
        <p:blipFill>
          <a:blip r:embed="rId2">
            <a:extLst>
              <a:ext uri="{28A0092B-C50C-407E-A947-70E740481C1C}">
                <a14:useLocalDpi xmlns:a14="http://schemas.microsoft.com/office/drawing/2010/main" val="0"/>
              </a:ext>
            </a:extLst>
          </a:blip>
          <a:srcRect/>
          <a:stretch>
            <a:fillRect/>
          </a:stretch>
        </p:blipFill>
        <p:spPr bwMode="auto">
          <a:xfrm>
            <a:off x="2015208" y="1745369"/>
            <a:ext cx="8161583" cy="3121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450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F3ACE-0183-3512-B63F-C8B7F0EC4F46}"/>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08FECA3-D47E-14C2-1B79-F6C406D9CFE7}"/>
              </a:ext>
            </a:extLst>
          </p:cNvPr>
          <p:cNvGraphicFramePr>
            <a:graphicFrameLocks noGrp="1"/>
          </p:cNvGraphicFramePr>
          <p:nvPr>
            <p:ph sz="half" idx="14"/>
            <p:extLst>
              <p:ext uri="{D42A27DB-BD31-4B8C-83A1-F6EECF244321}">
                <p14:modId xmlns:p14="http://schemas.microsoft.com/office/powerpoint/2010/main" val="1388815288"/>
              </p:ext>
            </p:extLst>
          </p:nvPr>
        </p:nvGraphicFramePr>
        <p:xfrm>
          <a:off x="1616075" y="2257425"/>
          <a:ext cx="8959850" cy="731520"/>
        </p:xfrm>
        <a:graphic>
          <a:graphicData uri="http://schemas.openxmlformats.org/drawingml/2006/table">
            <a:tbl>
              <a:tblPr firstRow="1" bandRow="1">
                <a:tableStyleId>{912C8C85-51F0-491E-9774-3900AFEF0FD7}</a:tableStyleId>
              </a:tblPr>
              <a:tblGrid>
                <a:gridCol w="4479925">
                  <a:extLst>
                    <a:ext uri="{9D8B030D-6E8A-4147-A177-3AD203B41FA5}">
                      <a16:colId xmlns:a16="http://schemas.microsoft.com/office/drawing/2014/main" val="1722348524"/>
                    </a:ext>
                  </a:extLst>
                </a:gridCol>
                <a:gridCol w="4479925">
                  <a:extLst>
                    <a:ext uri="{9D8B030D-6E8A-4147-A177-3AD203B41FA5}">
                      <a16:colId xmlns:a16="http://schemas.microsoft.com/office/drawing/2014/main" val="1310103047"/>
                    </a:ext>
                  </a:extLst>
                </a:gridCol>
              </a:tblGrid>
              <a:tr h="183894">
                <a:tc>
                  <a:txBody>
                    <a:bodyPr/>
                    <a:lstStyle/>
                    <a:p>
                      <a:r>
                        <a:rPr lang="en-US" dirty="0"/>
                        <a:t>CLASS</a:t>
                      </a:r>
                    </a:p>
                  </a:txBody>
                  <a:tcPr/>
                </a:tc>
                <a:tc>
                  <a:txBody>
                    <a:bodyPr/>
                    <a:lstStyle/>
                    <a:p>
                      <a:r>
                        <a:rPr lang="en-US" dirty="0"/>
                        <a:t>OBJECT </a:t>
                      </a:r>
                    </a:p>
                  </a:txBody>
                  <a:tcPr/>
                </a:tc>
                <a:extLst>
                  <a:ext uri="{0D108BD9-81ED-4DB2-BD59-A6C34878D82A}">
                    <a16:rowId xmlns:a16="http://schemas.microsoft.com/office/drawing/2014/main" val="1987472098"/>
                  </a:ext>
                </a:extLst>
              </a:tr>
              <a:tr h="183894">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22600018"/>
                  </a:ext>
                </a:extLst>
              </a:tr>
            </a:tbl>
          </a:graphicData>
        </a:graphic>
      </p:graphicFrame>
      <p:sp>
        <p:nvSpPr>
          <p:cNvPr id="4" name="TextBox 3">
            <a:extLst>
              <a:ext uri="{FF2B5EF4-FFF2-40B4-BE49-F238E27FC236}">
                <a16:creationId xmlns:a16="http://schemas.microsoft.com/office/drawing/2014/main" id="{E7556965-4A21-8437-5C39-D657C62A8DA8}"/>
              </a:ext>
            </a:extLst>
          </p:cNvPr>
          <p:cNvSpPr txBox="1"/>
          <p:nvPr/>
        </p:nvSpPr>
        <p:spPr>
          <a:xfrm>
            <a:off x="1616074" y="3429000"/>
            <a:ext cx="9135499" cy="830997"/>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000000"/>
                </a:solidFill>
                <a:effectLst/>
                <a:latin typeface="Segoe UI" panose="020B0502040204020203" pitchFamily="34" charset="0"/>
              </a:rPr>
              <a:t>A class defines what an object should look like, and an object is created based on that class.</a:t>
            </a:r>
            <a:endParaRPr lang="en-US" sz="2400" dirty="0"/>
          </a:p>
        </p:txBody>
      </p:sp>
      <p:pic>
        <p:nvPicPr>
          <p:cNvPr id="7" name="Picture 6">
            <a:extLst>
              <a:ext uri="{FF2B5EF4-FFF2-40B4-BE49-F238E27FC236}">
                <a16:creationId xmlns:a16="http://schemas.microsoft.com/office/drawing/2014/main" id="{566234B9-8DA0-7878-3F0A-B66F53D44451}"/>
              </a:ext>
            </a:extLst>
          </p:cNvPr>
          <p:cNvPicPr>
            <a:picLocks noChangeAspect="1"/>
          </p:cNvPicPr>
          <p:nvPr/>
        </p:nvPicPr>
        <p:blipFill>
          <a:blip r:embed="rId2"/>
          <a:stretch>
            <a:fillRect/>
          </a:stretch>
        </p:blipFill>
        <p:spPr>
          <a:xfrm>
            <a:off x="1616074" y="4475438"/>
            <a:ext cx="6878997" cy="1181265"/>
          </a:xfrm>
          <a:prstGeom prst="rect">
            <a:avLst/>
          </a:prstGeom>
        </p:spPr>
      </p:pic>
    </p:spTree>
    <p:extLst>
      <p:ext uri="{BB962C8B-B14F-4D97-AF65-F5344CB8AC3E}">
        <p14:creationId xmlns:p14="http://schemas.microsoft.com/office/powerpoint/2010/main" val="4191464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hat is Class in Java? - Objects and Classes in Java {Explained}">
            <a:extLst>
              <a:ext uri="{FF2B5EF4-FFF2-40B4-BE49-F238E27FC236}">
                <a16:creationId xmlns:a16="http://schemas.microsoft.com/office/drawing/2014/main" id="{22E11758-55F6-7784-341F-8668237F186D}"/>
              </a:ext>
            </a:extLst>
          </p:cNvPr>
          <p:cNvPicPr>
            <a:picLocks noChangeAspect="1"/>
          </p:cNvPicPr>
          <p:nvPr/>
        </p:nvPicPr>
        <p:blipFill>
          <a:blip r:embed="rId2"/>
          <a:stretch>
            <a:fillRect/>
          </a:stretch>
        </p:blipFill>
        <p:spPr>
          <a:xfrm>
            <a:off x="0" y="0"/>
            <a:ext cx="11738015" cy="6858000"/>
          </a:xfrm>
          <a:prstGeom prst="rect">
            <a:avLst/>
          </a:prstGeom>
        </p:spPr>
      </p:pic>
    </p:spTree>
    <p:extLst>
      <p:ext uri="{BB962C8B-B14F-4D97-AF65-F5344CB8AC3E}">
        <p14:creationId xmlns:p14="http://schemas.microsoft.com/office/powerpoint/2010/main" val="2460378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2E036-67C2-B2DC-A149-1BF48378C2F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F4F8898-940C-A9B9-2C14-C8ED5949F201}"/>
              </a:ext>
            </a:extLst>
          </p:cNvPr>
          <p:cNvSpPr txBox="1"/>
          <p:nvPr/>
        </p:nvSpPr>
        <p:spPr>
          <a:xfrm>
            <a:off x="931334" y="962998"/>
            <a:ext cx="10346266" cy="646331"/>
          </a:xfrm>
          <a:prstGeom prst="rect">
            <a:avLst/>
          </a:prstGeom>
          <a:noFill/>
        </p:spPr>
        <p:txBody>
          <a:bodyPr wrap="square" rtlCol="0">
            <a:spAutoFit/>
          </a:bodyPr>
          <a:lstStyle/>
          <a:p>
            <a:r>
              <a:rPr lang="en-US" sz="3600" b="1" dirty="0">
                <a:latin typeface="ADLaM Display" panose="02010000000000000000" pitchFamily="2" charset="0"/>
                <a:ea typeface="ADLaM Display" panose="02010000000000000000" pitchFamily="2" charset="0"/>
                <a:cs typeface="ADLaM Display" panose="02010000000000000000" pitchFamily="2" charset="0"/>
              </a:rPr>
              <a:t>1.3  I</a:t>
            </a:r>
            <a:r>
              <a:rPr lang="en-US" sz="3600" b="1" dirty="0"/>
              <a:t>mportance of OOP in FinTech</a:t>
            </a:r>
            <a:endParaRPr lang="en-US" b="1" dirty="0"/>
          </a:p>
        </p:txBody>
      </p:sp>
      <p:sp>
        <p:nvSpPr>
          <p:cNvPr id="2" name="Rectangle 1">
            <a:extLst>
              <a:ext uri="{FF2B5EF4-FFF2-40B4-BE49-F238E27FC236}">
                <a16:creationId xmlns:a16="http://schemas.microsoft.com/office/drawing/2014/main" id="{4F6F5CD0-1ECA-AB2C-3FB2-34C12C40E8D2}"/>
              </a:ext>
            </a:extLst>
          </p:cNvPr>
          <p:cNvSpPr>
            <a:spLocks noChangeArrowheads="1"/>
          </p:cNvSpPr>
          <p:nvPr/>
        </p:nvSpPr>
        <p:spPr bwMode="auto">
          <a:xfrm>
            <a:off x="1882069" y="2130086"/>
            <a:ext cx="5951758" cy="2597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Banking software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Wallet apps (</a:t>
            </a:r>
            <a:r>
              <a:rPr kumimoji="0" lang="en-US" altLang="en-US" sz="2800" b="0" i="0" u="none" strike="noStrike" cap="none" normalizeH="0" baseline="0" dirty="0" err="1">
                <a:ln>
                  <a:noFill/>
                </a:ln>
                <a:solidFill>
                  <a:schemeClr val="tx1"/>
                </a:solidFill>
                <a:effectLst/>
                <a:latin typeface="Arial" panose="020B0604020202020204" pitchFamily="34" charset="0"/>
              </a:rPr>
              <a:t>Easypaisa</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JazzCash</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Trading systems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Payment gateways</a:t>
            </a:r>
          </a:p>
        </p:txBody>
      </p:sp>
    </p:spTree>
    <p:extLst>
      <p:ext uri="{BB962C8B-B14F-4D97-AF65-F5344CB8AC3E}">
        <p14:creationId xmlns:p14="http://schemas.microsoft.com/office/powerpoint/2010/main" val="3013520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to install jupyter notebook in windows 10 | Configure Jupyter Notebook  on windows 10 | Python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8599" y="1109134"/>
            <a:ext cx="9177867" cy="4538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595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B6ECE-4408-36E1-D319-697439373F5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4544185-2492-2434-5F16-92C539011C7A}"/>
              </a:ext>
            </a:extLst>
          </p:cNvPr>
          <p:cNvSpPr txBox="1"/>
          <p:nvPr/>
        </p:nvSpPr>
        <p:spPr>
          <a:xfrm>
            <a:off x="931334" y="962998"/>
            <a:ext cx="10346266" cy="646331"/>
          </a:xfrm>
          <a:prstGeom prst="rect">
            <a:avLst/>
          </a:prstGeom>
          <a:noFill/>
        </p:spPr>
        <p:txBody>
          <a:bodyPr wrap="square" rtlCol="0">
            <a:spAutoFit/>
          </a:bodyPr>
          <a:lstStyle/>
          <a:p>
            <a:r>
              <a:rPr lang="en-US" sz="3600" b="1" dirty="0">
                <a:latin typeface="ADLaM Display" panose="02010000000000000000" pitchFamily="2" charset="0"/>
                <a:ea typeface="ADLaM Display" panose="02010000000000000000" pitchFamily="2" charset="0"/>
                <a:cs typeface="ADLaM Display" panose="02010000000000000000" pitchFamily="2" charset="0"/>
              </a:rPr>
              <a:t>1.4                 </a:t>
            </a:r>
            <a:r>
              <a:rPr lang="en-US" sz="3200" b="1" dirty="0"/>
              <a:t>procedural vs. OOP</a:t>
            </a:r>
          </a:p>
        </p:txBody>
      </p:sp>
      <p:sp>
        <p:nvSpPr>
          <p:cNvPr id="4" name="TextBox 3">
            <a:extLst>
              <a:ext uri="{FF2B5EF4-FFF2-40B4-BE49-F238E27FC236}">
                <a16:creationId xmlns:a16="http://schemas.microsoft.com/office/drawing/2014/main" id="{DA60E179-9692-6ADA-1E8C-C65E9028ECFF}"/>
              </a:ext>
            </a:extLst>
          </p:cNvPr>
          <p:cNvSpPr txBox="1"/>
          <p:nvPr/>
        </p:nvSpPr>
        <p:spPr>
          <a:xfrm>
            <a:off x="1454367" y="1767028"/>
            <a:ext cx="9613025" cy="4001095"/>
          </a:xfrm>
          <a:prstGeom prst="rect">
            <a:avLst/>
          </a:prstGeom>
          <a:noFill/>
        </p:spPr>
        <p:txBody>
          <a:bodyPr wrap="square">
            <a:spAutoFit/>
          </a:bodyPr>
          <a:lstStyle/>
          <a:p>
            <a:pPr>
              <a:buNone/>
            </a:pPr>
            <a:r>
              <a:rPr lang="en-US" sz="2000" b="1" dirty="0"/>
              <a:t>Task :  A BANK ACCOUNT MANAGEMENT</a:t>
            </a:r>
          </a:p>
          <a:p>
            <a:pPr>
              <a:buNone/>
            </a:pPr>
            <a:endParaRPr lang="en-US" b="1" dirty="0"/>
          </a:p>
          <a:p>
            <a:pPr>
              <a:buNone/>
            </a:pPr>
            <a:r>
              <a:rPr lang="en-US" dirty="0"/>
              <a:t>A bank wants a simple program to manage customer bank accounts.</a:t>
            </a:r>
          </a:p>
          <a:p>
            <a:pPr>
              <a:buNone/>
            </a:pPr>
            <a:r>
              <a:rPr lang="en-US" dirty="0"/>
              <a:t>The program should store information about a customer's </a:t>
            </a:r>
            <a:r>
              <a:rPr lang="en-US" b="1" dirty="0"/>
              <a:t>name, account number, and balance</a:t>
            </a:r>
            <a:r>
              <a:rPr lang="en-US" dirty="0"/>
              <a:t>.</a:t>
            </a:r>
          </a:p>
          <a:p>
            <a:pPr>
              <a:buNone/>
            </a:pPr>
            <a:r>
              <a:rPr lang="en-US" dirty="0"/>
              <a:t>The program should allow the user to:</a:t>
            </a:r>
          </a:p>
          <a:p>
            <a:pPr>
              <a:buNone/>
            </a:pPr>
            <a:endParaRPr lang="en-US" dirty="0"/>
          </a:p>
          <a:p>
            <a:pPr marL="342900" lvl="0" indent="-342900">
              <a:buFont typeface="+mj-lt"/>
              <a:buAutoNum type="arabicPeriod"/>
            </a:pPr>
            <a:r>
              <a:rPr lang="en-US" dirty="0"/>
              <a:t>Create an account </a:t>
            </a:r>
          </a:p>
          <a:p>
            <a:pPr marL="342900" lvl="0" indent="-342900">
              <a:buFont typeface="+mj-lt"/>
              <a:buAutoNum type="arabicPeriod"/>
            </a:pPr>
            <a:r>
              <a:rPr lang="en-US" dirty="0"/>
              <a:t>Deposit money </a:t>
            </a:r>
          </a:p>
          <a:p>
            <a:pPr marL="342900" lvl="0" indent="-342900">
              <a:buFont typeface="+mj-lt"/>
              <a:buAutoNum type="arabicPeriod"/>
            </a:pPr>
            <a:r>
              <a:rPr lang="en-US" dirty="0"/>
              <a:t>Withdraw money </a:t>
            </a:r>
          </a:p>
          <a:p>
            <a:pPr marL="342900" lvl="0" indent="-342900">
              <a:buFont typeface="+mj-lt"/>
              <a:buAutoNum type="arabicPeriod"/>
            </a:pPr>
            <a:r>
              <a:rPr lang="en-US" dirty="0"/>
              <a:t>Check account balance </a:t>
            </a:r>
          </a:p>
          <a:p>
            <a:pPr marL="342900" lvl="0" indent="-342900">
              <a:buFont typeface="+mj-lt"/>
              <a:buAutoNum type="arabicPeriod"/>
            </a:pPr>
            <a:r>
              <a:rPr lang="en-US" dirty="0"/>
              <a:t>Display customer information</a:t>
            </a:r>
          </a:p>
          <a:p>
            <a:pPr lvl="0"/>
            <a:r>
              <a:rPr lang="en-US" dirty="0"/>
              <a:t> </a:t>
            </a:r>
          </a:p>
          <a:p>
            <a:pPr>
              <a:buNone/>
            </a:pPr>
            <a:r>
              <a:rPr lang="en-US" dirty="0"/>
              <a:t>For withdrawal, the program should check whether the customer has sufficient balance. If the balance is insufficient, display an appropriate message.</a:t>
            </a:r>
          </a:p>
        </p:txBody>
      </p:sp>
    </p:spTree>
    <p:extLst>
      <p:ext uri="{BB962C8B-B14F-4D97-AF65-F5344CB8AC3E}">
        <p14:creationId xmlns:p14="http://schemas.microsoft.com/office/powerpoint/2010/main" val="2866290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7D49E5-C155-CE77-7CF2-103E726C055C}"/>
              </a:ext>
            </a:extLst>
          </p:cNvPr>
          <p:cNvSpPr>
            <a:spLocks noGrp="1"/>
          </p:cNvSpPr>
          <p:nvPr>
            <p:ph sz="half" idx="14"/>
          </p:nvPr>
        </p:nvSpPr>
        <p:spPr>
          <a:xfrm>
            <a:off x="1616599" y="3014419"/>
            <a:ext cx="8958804" cy="3541853"/>
          </a:xfrm>
        </p:spPr>
        <p:txBody>
          <a:bodyPr>
            <a:normAutofit/>
          </a:bodyPr>
          <a:lstStyle/>
          <a:p>
            <a:pPr algn="ctr"/>
            <a:r>
              <a:rPr lang="en-US" sz="4900" b="1" dirty="0"/>
              <a:t>WHAT SEEMS TO BE THE PROBLEM ??</a:t>
            </a:r>
          </a:p>
        </p:txBody>
      </p:sp>
    </p:spTree>
    <p:extLst>
      <p:ext uri="{BB962C8B-B14F-4D97-AF65-F5344CB8AC3E}">
        <p14:creationId xmlns:p14="http://schemas.microsoft.com/office/powerpoint/2010/main" val="3954690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CAA2A-D6D1-7E2E-F6B0-894E85B244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03F0C4-F610-C285-3EBD-50AAFB5AFE37}"/>
              </a:ext>
            </a:extLst>
          </p:cNvPr>
          <p:cNvSpPr>
            <a:spLocks noGrp="1"/>
          </p:cNvSpPr>
          <p:nvPr>
            <p:ph sz="half" idx="14"/>
          </p:nvPr>
        </p:nvSpPr>
        <p:spPr>
          <a:xfrm>
            <a:off x="1458944" y="2005426"/>
            <a:ext cx="8958804" cy="3541853"/>
          </a:xfrm>
        </p:spPr>
        <p:txBody>
          <a:bodyPr>
            <a:normAutofit/>
          </a:bodyPr>
          <a:lstStyle/>
          <a:p>
            <a:pPr marL="914400" indent="-914400">
              <a:buFont typeface="+mj-lt"/>
              <a:buAutoNum type="arabicPeriod"/>
            </a:pPr>
            <a:r>
              <a:rPr lang="en-US" sz="5400" dirty="0"/>
              <a:t>What information does a bank account have?</a:t>
            </a:r>
          </a:p>
          <a:p>
            <a:pPr marL="914400" indent="-914400">
              <a:buFont typeface="+mj-lt"/>
              <a:buAutoNum type="arabicPeriod"/>
            </a:pPr>
            <a:r>
              <a:rPr lang="en-US" sz="5400" dirty="0"/>
              <a:t>What can a bank account do?</a:t>
            </a:r>
          </a:p>
          <a:p>
            <a:pPr algn="ctr"/>
            <a:endParaRPr lang="en-US" sz="4900" b="1" dirty="0"/>
          </a:p>
        </p:txBody>
      </p:sp>
    </p:spTree>
    <p:extLst>
      <p:ext uri="{BB962C8B-B14F-4D97-AF65-F5344CB8AC3E}">
        <p14:creationId xmlns:p14="http://schemas.microsoft.com/office/powerpoint/2010/main" val="80108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7D077-6BDF-2F1A-0964-B697686BA9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5AD44F-2D07-A601-D29E-2DC91F673518}"/>
              </a:ext>
            </a:extLst>
          </p:cNvPr>
          <p:cNvSpPr>
            <a:spLocks noGrp="1"/>
          </p:cNvSpPr>
          <p:nvPr>
            <p:ph sz="half" idx="14"/>
          </p:nvPr>
        </p:nvSpPr>
        <p:spPr>
          <a:xfrm>
            <a:off x="1616598" y="1238886"/>
            <a:ext cx="5257168" cy="4292628"/>
          </a:xfrm>
        </p:spPr>
        <p:txBody>
          <a:bodyPr>
            <a:normAutofit lnSpcReduction="10000"/>
          </a:bodyPr>
          <a:lstStyle/>
          <a:p>
            <a:pPr marL="457200" indent="-457200">
              <a:buFont typeface="Arial" panose="020B0604020202020204" pitchFamily="34" charset="0"/>
              <a:buChar char="•"/>
            </a:pPr>
            <a:r>
              <a:rPr lang="en-US" sz="2600" b="1" dirty="0"/>
              <a:t>Here, the data and functions that operate on the data are handled separately.</a:t>
            </a:r>
          </a:p>
          <a:p>
            <a:pPr marL="285750" indent="-285750">
              <a:buFont typeface="Arial" panose="020B0604020202020204" pitchFamily="34" charset="0"/>
              <a:buChar char="•"/>
            </a:pPr>
            <a:endParaRPr lang="en-US" dirty="0"/>
          </a:p>
          <a:p>
            <a:pPr marL="457200" indent="-457200">
              <a:buFont typeface="Arial" panose="020B0604020202020204" pitchFamily="34" charset="0"/>
              <a:buChar char="•"/>
            </a:pPr>
            <a:r>
              <a:rPr lang="en-US" sz="2800" b="1" dirty="0"/>
              <a:t>Where as , OOP programming paradigm where a program is organized around objects that combine data and behavior and data and functions are bundled together inside a class.</a:t>
            </a:r>
          </a:p>
          <a:p>
            <a:pPr marL="457200" indent="-457200">
              <a:buFont typeface="Arial" panose="020B0604020202020204" pitchFamily="34" charset="0"/>
              <a:buChar char="•"/>
            </a:pPr>
            <a:endParaRPr lang="en-US" sz="2800" b="1" dirty="0"/>
          </a:p>
          <a:p>
            <a:endParaRPr lang="en-US" dirty="0"/>
          </a:p>
        </p:txBody>
      </p:sp>
      <p:pic>
        <p:nvPicPr>
          <p:cNvPr id="2" name="Picture 1">
            <a:extLst>
              <a:ext uri="{FF2B5EF4-FFF2-40B4-BE49-F238E27FC236}">
                <a16:creationId xmlns:a16="http://schemas.microsoft.com/office/drawing/2014/main" id="{75F30517-0DA8-EA2C-8C09-FA3941B015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61814" y="1238886"/>
            <a:ext cx="3613588" cy="4292628"/>
          </a:xfrm>
          <a:prstGeom prst="rect">
            <a:avLst/>
          </a:prstGeom>
        </p:spPr>
      </p:pic>
    </p:spTree>
    <p:extLst>
      <p:ext uri="{BB962C8B-B14F-4D97-AF65-F5344CB8AC3E}">
        <p14:creationId xmlns:p14="http://schemas.microsoft.com/office/powerpoint/2010/main" val="2817847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1D9A5-DC48-EE9A-E88F-ACDD6C68AA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AED32B-3195-AD43-6EF1-BC7A6B337ABF}"/>
              </a:ext>
            </a:extLst>
          </p:cNvPr>
          <p:cNvSpPr>
            <a:spLocks noGrp="1"/>
          </p:cNvSpPr>
          <p:nvPr>
            <p:ph sz="half" idx="14"/>
          </p:nvPr>
        </p:nvSpPr>
        <p:spPr>
          <a:xfrm>
            <a:off x="1458944" y="882870"/>
            <a:ext cx="8958804" cy="5234152"/>
          </a:xfrm>
        </p:spPr>
        <p:txBody>
          <a:bodyPr>
            <a:normAutofit fontScale="92500" lnSpcReduction="20000"/>
          </a:bodyPr>
          <a:lstStyle/>
          <a:p>
            <a:r>
              <a:rPr lang="en-US" sz="4900" b="1" dirty="0" err="1"/>
              <a:t>Oop</a:t>
            </a:r>
            <a:r>
              <a:rPr lang="en-US" sz="4900" b="1" dirty="0"/>
              <a:t> uses classes and Objects.</a:t>
            </a:r>
          </a:p>
          <a:p>
            <a:pPr marL="457200" indent="-457200">
              <a:buFont typeface="+mj-lt"/>
              <a:buAutoNum type="arabicPeriod"/>
            </a:pPr>
            <a:r>
              <a:rPr lang="en-US" sz="2200" b="1" dirty="0"/>
              <a:t>Attributes</a:t>
            </a:r>
          </a:p>
          <a:p>
            <a:pPr marL="342900" indent="-342900">
              <a:buFont typeface="Arial" panose="020B0604020202020204" pitchFamily="34" charset="0"/>
              <a:buChar char="•"/>
            </a:pPr>
            <a:r>
              <a:rPr lang="en-US" sz="2200" b="1" dirty="0"/>
              <a:t>    </a:t>
            </a:r>
            <a:r>
              <a:rPr lang="en-US" sz="2200" dirty="0"/>
              <a:t>owner</a:t>
            </a:r>
          </a:p>
          <a:p>
            <a:pPr marL="342900" indent="-342900">
              <a:buFont typeface="Arial" panose="020B0604020202020204" pitchFamily="34" charset="0"/>
              <a:buChar char="•"/>
            </a:pPr>
            <a:r>
              <a:rPr lang="en-US" sz="2200" dirty="0"/>
              <a:t>    </a:t>
            </a:r>
            <a:r>
              <a:rPr lang="en-US" sz="2200" dirty="0" err="1"/>
              <a:t>account_number</a:t>
            </a:r>
            <a:endParaRPr lang="en-US" sz="2200" dirty="0"/>
          </a:p>
          <a:p>
            <a:pPr marL="342900" indent="-342900">
              <a:buFont typeface="Arial" panose="020B0604020202020204" pitchFamily="34" charset="0"/>
              <a:buChar char="•"/>
            </a:pPr>
            <a:r>
              <a:rPr lang="en-US" sz="2200" dirty="0"/>
              <a:t>     balance</a:t>
            </a:r>
          </a:p>
          <a:p>
            <a:pPr marL="457200" indent="-457200">
              <a:buFont typeface="+mj-lt"/>
              <a:buAutoNum type="arabicPeriod"/>
            </a:pPr>
            <a:r>
              <a:rPr lang="en-US" sz="2200" b="1" dirty="0"/>
              <a:t>Methods</a:t>
            </a:r>
          </a:p>
          <a:p>
            <a:pPr marL="457200" indent="-457200">
              <a:buFont typeface="Arial" panose="020B0604020202020204" pitchFamily="34" charset="0"/>
              <a:buChar char="•"/>
            </a:pPr>
            <a:r>
              <a:rPr lang="en-US" sz="2200" dirty="0"/>
              <a:t>deposit()</a:t>
            </a:r>
          </a:p>
          <a:p>
            <a:pPr marL="457200" indent="-457200">
              <a:buFont typeface="Arial" panose="020B0604020202020204" pitchFamily="34" charset="0"/>
              <a:buChar char="•"/>
            </a:pPr>
            <a:r>
              <a:rPr lang="en-US" sz="2200" dirty="0"/>
              <a:t>withdraw()</a:t>
            </a:r>
          </a:p>
          <a:p>
            <a:pPr marL="457200" indent="-457200">
              <a:buFont typeface="Arial" panose="020B0604020202020204" pitchFamily="34" charset="0"/>
              <a:buChar char="•"/>
            </a:pPr>
            <a:r>
              <a:rPr lang="en-US" sz="2200" dirty="0" err="1"/>
              <a:t>check_balance</a:t>
            </a:r>
            <a:r>
              <a:rPr lang="en-US" sz="2200" dirty="0"/>
              <a:t>()</a:t>
            </a:r>
          </a:p>
          <a:p>
            <a:pPr marL="457200" indent="-457200">
              <a:buFont typeface="Arial" panose="020B0604020202020204" pitchFamily="34" charset="0"/>
              <a:buChar char="•"/>
            </a:pPr>
            <a:r>
              <a:rPr lang="en-US" sz="2200" dirty="0" err="1"/>
              <a:t>display_account</a:t>
            </a:r>
            <a:r>
              <a:rPr lang="en-US" sz="2200" dirty="0"/>
              <a:t>()</a:t>
            </a:r>
          </a:p>
          <a:p>
            <a:pPr marL="457200" indent="-457200">
              <a:buFont typeface="+mj-lt"/>
              <a:buAutoNum type="arabicPeriod"/>
            </a:pPr>
            <a:endParaRPr lang="en-US" sz="2200" b="1" dirty="0"/>
          </a:p>
        </p:txBody>
      </p:sp>
    </p:spTree>
    <p:extLst>
      <p:ext uri="{BB962C8B-B14F-4D97-AF65-F5344CB8AC3E}">
        <p14:creationId xmlns:p14="http://schemas.microsoft.com/office/powerpoint/2010/main" val="1330276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AD581-57F7-44AB-A6C2-EF421D18549E}"/>
              </a:ext>
            </a:extLst>
          </p:cNvPr>
          <p:cNvSpPr>
            <a:spLocks noGrp="1"/>
          </p:cNvSpPr>
          <p:nvPr>
            <p:ph type="title"/>
          </p:nvPr>
        </p:nvSpPr>
        <p:spPr>
          <a:xfrm>
            <a:off x="1616598" y="995425"/>
            <a:ext cx="8958805" cy="612658"/>
          </a:xfrm>
        </p:spPr>
        <p:txBody>
          <a:bodyPr/>
          <a:lstStyle/>
          <a:p>
            <a:r>
              <a:rPr lang="en-US" dirty="0"/>
              <a:t>TASKS</a:t>
            </a:r>
          </a:p>
        </p:txBody>
      </p:sp>
      <p:sp>
        <p:nvSpPr>
          <p:cNvPr id="3" name="Content Placeholder 2">
            <a:extLst>
              <a:ext uri="{FF2B5EF4-FFF2-40B4-BE49-F238E27FC236}">
                <a16:creationId xmlns:a16="http://schemas.microsoft.com/office/drawing/2014/main" id="{3C8DBA21-00BC-D16E-B09D-1A2B92AE0B52}"/>
              </a:ext>
            </a:extLst>
          </p:cNvPr>
          <p:cNvSpPr>
            <a:spLocks noGrp="1"/>
          </p:cNvSpPr>
          <p:nvPr>
            <p:ph sz="half" idx="14"/>
          </p:nvPr>
        </p:nvSpPr>
        <p:spPr>
          <a:xfrm>
            <a:off x="1206695" y="1608083"/>
            <a:ext cx="8958804" cy="4758594"/>
          </a:xfrm>
        </p:spPr>
        <p:txBody>
          <a:bodyPr>
            <a:normAutofit fontScale="25000" lnSpcReduction="20000"/>
          </a:bodyPr>
          <a:lstStyle/>
          <a:p>
            <a:r>
              <a:rPr lang="en-US" sz="5500" b="1" dirty="0"/>
              <a:t>Task 1 A BANK ACCOUNT MANAGEMENT</a:t>
            </a:r>
            <a:endParaRPr lang="en-US" sz="5500" dirty="0"/>
          </a:p>
          <a:p>
            <a:r>
              <a:rPr lang="en-US" sz="5500" dirty="0"/>
              <a:t>A bank wants a simple program to manage customer bank accounts.</a:t>
            </a:r>
          </a:p>
          <a:p>
            <a:r>
              <a:rPr lang="en-US" sz="5500" dirty="0"/>
              <a:t>The program should store information about a customer's </a:t>
            </a:r>
            <a:r>
              <a:rPr lang="en-US" sz="5500" b="1" dirty="0"/>
              <a:t>name, account number, and balance</a:t>
            </a:r>
            <a:r>
              <a:rPr lang="en-US" sz="5500" dirty="0"/>
              <a:t>.</a:t>
            </a:r>
          </a:p>
          <a:p>
            <a:r>
              <a:rPr lang="en-US" sz="5500" b="1" dirty="0"/>
              <a:t>The program should allow the user to:</a:t>
            </a:r>
          </a:p>
          <a:p>
            <a:pPr marL="685800" lvl="0" indent="-685800">
              <a:buFont typeface="Arial" panose="020B0604020202020204" pitchFamily="34" charset="0"/>
              <a:buChar char="•"/>
            </a:pPr>
            <a:r>
              <a:rPr lang="en-US" sz="5500" dirty="0"/>
              <a:t>Create an account </a:t>
            </a:r>
          </a:p>
          <a:p>
            <a:pPr marL="685800" lvl="0" indent="-685800">
              <a:buFont typeface="Arial" panose="020B0604020202020204" pitchFamily="34" charset="0"/>
              <a:buChar char="•"/>
            </a:pPr>
            <a:r>
              <a:rPr lang="en-US" sz="5500" dirty="0"/>
              <a:t>Deposit money </a:t>
            </a:r>
          </a:p>
          <a:p>
            <a:pPr marL="685800" lvl="0" indent="-685800">
              <a:buFont typeface="Arial" panose="020B0604020202020204" pitchFamily="34" charset="0"/>
              <a:buChar char="•"/>
            </a:pPr>
            <a:r>
              <a:rPr lang="en-US" sz="5500" dirty="0"/>
              <a:t>Withdraw money </a:t>
            </a:r>
          </a:p>
          <a:p>
            <a:pPr marL="685800" lvl="0" indent="-685800">
              <a:buFont typeface="Arial" panose="020B0604020202020204" pitchFamily="34" charset="0"/>
              <a:buChar char="•"/>
            </a:pPr>
            <a:r>
              <a:rPr lang="en-US" sz="5500" dirty="0"/>
              <a:t>Check account balance </a:t>
            </a:r>
          </a:p>
          <a:p>
            <a:pPr marL="685800" lvl="0" indent="-685800">
              <a:buFont typeface="Arial" panose="020B0604020202020204" pitchFamily="34" charset="0"/>
              <a:buChar char="•"/>
            </a:pPr>
            <a:r>
              <a:rPr lang="en-US" sz="5500" dirty="0"/>
              <a:t>Display customer information</a:t>
            </a:r>
          </a:p>
          <a:p>
            <a:r>
              <a:rPr lang="en-US" sz="5500" dirty="0"/>
              <a:t> </a:t>
            </a:r>
          </a:p>
          <a:p>
            <a:pPr marL="685800" indent="-685800">
              <a:buFont typeface="Arial" panose="020B0604020202020204" pitchFamily="34" charset="0"/>
              <a:buChar char="•"/>
            </a:pPr>
            <a:r>
              <a:rPr lang="en-US" sz="5500" dirty="0"/>
              <a:t>For withdrawal, the program should check whether the customer has sufficient balance. If the balance is insufficient, display an appropriate message. And Create 10 accounts and show All Accounts Summery in Last</a:t>
            </a:r>
          </a:p>
          <a:p>
            <a:endParaRPr lang="en-US" dirty="0"/>
          </a:p>
        </p:txBody>
      </p:sp>
    </p:spTree>
    <p:extLst>
      <p:ext uri="{BB962C8B-B14F-4D97-AF65-F5344CB8AC3E}">
        <p14:creationId xmlns:p14="http://schemas.microsoft.com/office/powerpoint/2010/main" val="3692961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7D8C3-7C23-60A2-32EE-035446FAA3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3D7FB3-D718-64F6-7876-BB2D443BCE64}"/>
              </a:ext>
            </a:extLst>
          </p:cNvPr>
          <p:cNvSpPr>
            <a:spLocks noGrp="1"/>
          </p:cNvSpPr>
          <p:nvPr>
            <p:ph sz="half" idx="14"/>
          </p:nvPr>
        </p:nvSpPr>
        <p:spPr>
          <a:xfrm>
            <a:off x="1380116" y="1087821"/>
            <a:ext cx="8958804" cy="4682358"/>
          </a:xfrm>
        </p:spPr>
        <p:txBody>
          <a:bodyPr>
            <a:normAutofit fontScale="70000" lnSpcReduction="20000"/>
          </a:bodyPr>
          <a:lstStyle/>
          <a:p>
            <a:r>
              <a:rPr lang="en-US" b="1" dirty="0"/>
              <a:t>Task 2 — Number Analysis</a:t>
            </a:r>
          </a:p>
          <a:p>
            <a:r>
              <a:rPr lang="en-US" b="1" dirty="0"/>
              <a:t>Concepts:</a:t>
            </a:r>
            <a:r>
              <a:rPr lang="en-US" dirty="0"/>
              <a:t> for loop, while loop, conditions</a:t>
            </a:r>
          </a:p>
          <a:p>
            <a:r>
              <a:rPr lang="en-US" dirty="0"/>
              <a:t>Write a Python program that asks the user to enter </a:t>
            </a:r>
            <a:r>
              <a:rPr lang="en-US" b="1" dirty="0"/>
              <a:t>10 numbers</a:t>
            </a:r>
            <a:r>
              <a:rPr lang="en-US" dirty="0"/>
              <a:t>.</a:t>
            </a:r>
          </a:p>
          <a:p>
            <a:r>
              <a:rPr lang="en-US" dirty="0"/>
              <a:t>Your program should:</a:t>
            </a:r>
          </a:p>
          <a:p>
            <a:pPr lvl="0"/>
            <a:r>
              <a:rPr lang="en-US" dirty="0"/>
              <a:t>Store the numbers. </a:t>
            </a:r>
          </a:p>
          <a:p>
            <a:pPr lvl="0"/>
            <a:r>
              <a:rPr lang="en-US" dirty="0"/>
              <a:t>Count how many numbers are positive. </a:t>
            </a:r>
          </a:p>
          <a:p>
            <a:pPr lvl="0"/>
            <a:r>
              <a:rPr lang="en-US" dirty="0"/>
              <a:t>Count how many are negative. </a:t>
            </a:r>
          </a:p>
          <a:p>
            <a:pPr lvl="0"/>
            <a:r>
              <a:rPr lang="en-US" dirty="0"/>
              <a:t>Count how many are zero. </a:t>
            </a:r>
          </a:p>
          <a:p>
            <a:pPr lvl="0"/>
            <a:r>
              <a:rPr lang="en-US" dirty="0"/>
              <a:t>Calculate the sum of all numbers. </a:t>
            </a:r>
          </a:p>
          <a:p>
            <a:pPr lvl="0"/>
            <a:r>
              <a:rPr lang="en-US" dirty="0"/>
              <a:t>Find the largest number. </a:t>
            </a:r>
          </a:p>
          <a:p>
            <a:pPr lvl="0"/>
            <a:r>
              <a:rPr lang="en-US" dirty="0"/>
              <a:t>Find the smallest number. </a:t>
            </a:r>
          </a:p>
          <a:p>
            <a:r>
              <a:rPr lang="en-US" dirty="0"/>
              <a:t>Do not use max() or min().</a:t>
            </a:r>
          </a:p>
        </p:txBody>
      </p:sp>
    </p:spTree>
    <p:extLst>
      <p:ext uri="{BB962C8B-B14F-4D97-AF65-F5344CB8AC3E}">
        <p14:creationId xmlns:p14="http://schemas.microsoft.com/office/powerpoint/2010/main" val="109055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A014A-7E4A-459B-4854-6C17E6BA14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1189BF-2CC1-34B3-DAAD-098485DD67B1}"/>
              </a:ext>
            </a:extLst>
          </p:cNvPr>
          <p:cNvSpPr>
            <a:spLocks noGrp="1"/>
          </p:cNvSpPr>
          <p:nvPr>
            <p:ph sz="half" idx="14"/>
          </p:nvPr>
        </p:nvSpPr>
        <p:spPr>
          <a:xfrm>
            <a:off x="1380116" y="1087821"/>
            <a:ext cx="8958804" cy="4682358"/>
          </a:xfrm>
        </p:spPr>
        <p:txBody>
          <a:bodyPr>
            <a:normAutofit fontScale="92500" lnSpcReduction="10000"/>
          </a:bodyPr>
          <a:lstStyle/>
          <a:p>
            <a:r>
              <a:rPr lang="en-US" b="1" dirty="0"/>
              <a:t>Task 3 — Student Marks List</a:t>
            </a:r>
          </a:p>
          <a:p>
            <a:r>
              <a:rPr lang="en-US" b="1" dirty="0"/>
              <a:t>Concepts:</a:t>
            </a:r>
            <a:r>
              <a:rPr lang="en-US" dirty="0"/>
              <a:t> List, loops, conditions</a:t>
            </a:r>
          </a:p>
          <a:p>
            <a:r>
              <a:rPr lang="en-US" dirty="0"/>
              <a:t>Create a program that asks the user to enter marks of </a:t>
            </a:r>
            <a:r>
              <a:rPr lang="en-US" b="1" dirty="0"/>
              <a:t>10 students</a:t>
            </a:r>
            <a:r>
              <a:rPr lang="en-US" dirty="0"/>
              <a:t> and stores them in a list.</a:t>
            </a:r>
          </a:p>
          <a:p>
            <a:r>
              <a:rPr lang="en-US" dirty="0"/>
              <a:t>The program should display:</a:t>
            </a:r>
          </a:p>
          <a:p>
            <a:pPr lvl="0"/>
            <a:r>
              <a:rPr lang="en-US" dirty="0"/>
              <a:t>All marks </a:t>
            </a:r>
          </a:p>
          <a:p>
            <a:pPr lvl="0"/>
            <a:r>
              <a:rPr lang="en-US" dirty="0"/>
              <a:t>Highest marks </a:t>
            </a:r>
          </a:p>
          <a:p>
            <a:pPr lvl="0"/>
            <a:r>
              <a:rPr lang="en-US" dirty="0"/>
              <a:t>Lowest marks </a:t>
            </a:r>
          </a:p>
          <a:p>
            <a:pPr lvl="0"/>
            <a:r>
              <a:rPr lang="en-US" dirty="0"/>
              <a:t>Average marks </a:t>
            </a:r>
          </a:p>
          <a:p>
            <a:pPr lvl="0"/>
            <a:r>
              <a:rPr lang="en-US" dirty="0"/>
              <a:t>Number of students who passed </a:t>
            </a:r>
          </a:p>
          <a:p>
            <a:pPr lvl="0"/>
            <a:r>
              <a:rPr lang="en-US" dirty="0"/>
              <a:t>Number of students who failed </a:t>
            </a:r>
          </a:p>
        </p:txBody>
      </p:sp>
    </p:spTree>
    <p:extLst>
      <p:ext uri="{BB962C8B-B14F-4D97-AF65-F5344CB8AC3E}">
        <p14:creationId xmlns:p14="http://schemas.microsoft.com/office/powerpoint/2010/main" val="1456668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2D076-DBA1-7ABC-BEE6-17B8119BD4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1E5D54-F6F2-2483-07D5-F52E2F6C301A}"/>
              </a:ext>
            </a:extLst>
          </p:cNvPr>
          <p:cNvSpPr>
            <a:spLocks noGrp="1"/>
          </p:cNvSpPr>
          <p:nvPr>
            <p:ph sz="half" idx="14"/>
          </p:nvPr>
        </p:nvSpPr>
        <p:spPr>
          <a:xfrm>
            <a:off x="1380116" y="1087821"/>
            <a:ext cx="8958804" cy="4682358"/>
          </a:xfrm>
        </p:spPr>
        <p:txBody>
          <a:bodyPr>
            <a:normAutofit fontScale="92500" lnSpcReduction="10000"/>
          </a:bodyPr>
          <a:lstStyle/>
          <a:p>
            <a:r>
              <a:rPr lang="en-US" b="1" dirty="0"/>
              <a:t>Task 4 — Shopping List	</a:t>
            </a:r>
          </a:p>
          <a:p>
            <a:r>
              <a:rPr lang="en-US" b="1" dirty="0"/>
              <a:t>Concepts:</a:t>
            </a:r>
            <a:r>
              <a:rPr lang="en-US" dirty="0"/>
              <a:t> Lists, loops, conditions</a:t>
            </a:r>
          </a:p>
          <a:p>
            <a:r>
              <a:rPr lang="en-US" dirty="0"/>
              <a:t>Create a simple shopping program.</a:t>
            </a:r>
          </a:p>
          <a:p>
            <a:r>
              <a:rPr lang="en-US" dirty="0"/>
              <a:t>The user should enter </a:t>
            </a:r>
            <a:r>
              <a:rPr lang="en-US" b="1" dirty="0"/>
              <a:t>5 products</a:t>
            </a:r>
            <a:r>
              <a:rPr lang="en-US" dirty="0"/>
              <a:t> and their prices.</a:t>
            </a:r>
          </a:p>
          <a:p>
            <a:r>
              <a:rPr lang="en-US" dirty="0"/>
              <a:t>Store the products and prices in lists.</a:t>
            </a:r>
          </a:p>
          <a:p>
            <a:r>
              <a:rPr lang="en-US" dirty="0"/>
              <a:t>Then calculate:	</a:t>
            </a:r>
          </a:p>
          <a:p>
            <a:pPr lvl="0"/>
            <a:r>
              <a:rPr lang="en-US" dirty="0"/>
              <a:t>Total bill </a:t>
            </a:r>
          </a:p>
          <a:p>
            <a:pPr lvl="0"/>
            <a:r>
              <a:rPr lang="en-US" dirty="0"/>
              <a:t>Most expensive product </a:t>
            </a:r>
          </a:p>
          <a:p>
            <a:pPr lvl="0"/>
            <a:r>
              <a:rPr lang="en-US" dirty="0"/>
              <a:t>Cheapest product </a:t>
            </a:r>
          </a:p>
          <a:p>
            <a:pPr lvl="0"/>
            <a:r>
              <a:rPr lang="en-US" dirty="0"/>
              <a:t>Average product price</a:t>
            </a:r>
          </a:p>
        </p:txBody>
      </p:sp>
    </p:spTree>
    <p:extLst>
      <p:ext uri="{BB962C8B-B14F-4D97-AF65-F5344CB8AC3E}">
        <p14:creationId xmlns:p14="http://schemas.microsoft.com/office/powerpoint/2010/main" val="434915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D780B-2C03-EFFE-915B-7BA9E6CD1C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82FF1B-A9FB-47AC-A538-BBC6AA8EA22E}"/>
              </a:ext>
            </a:extLst>
          </p:cNvPr>
          <p:cNvSpPr>
            <a:spLocks noGrp="1"/>
          </p:cNvSpPr>
          <p:nvPr>
            <p:ph sz="half" idx="14"/>
          </p:nvPr>
        </p:nvSpPr>
        <p:spPr>
          <a:xfrm>
            <a:off x="1380116" y="1087821"/>
            <a:ext cx="8958804" cy="4682358"/>
          </a:xfrm>
        </p:spPr>
        <p:txBody>
          <a:bodyPr>
            <a:normAutofit fontScale="92500" lnSpcReduction="10000"/>
          </a:bodyPr>
          <a:lstStyle/>
          <a:p>
            <a:r>
              <a:rPr lang="en-US" b="1" dirty="0"/>
              <a:t>Task 5 — Tuple-Based Student Record</a:t>
            </a:r>
          </a:p>
          <a:p>
            <a:r>
              <a:rPr lang="en-US" b="1" dirty="0"/>
              <a:t>Concepts:</a:t>
            </a:r>
            <a:r>
              <a:rPr lang="en-US" dirty="0"/>
              <a:t> Tuple, list, loops</a:t>
            </a:r>
          </a:p>
          <a:p>
            <a:r>
              <a:rPr lang="en-US" dirty="0"/>
              <a:t>Create student records using tuples.</a:t>
            </a:r>
          </a:p>
          <a:p>
            <a:r>
              <a:rPr lang="en-US" dirty="0"/>
              <a:t>Store these tuples inside a list:</a:t>
            </a:r>
          </a:p>
          <a:p>
            <a:r>
              <a:rPr lang="en-US" dirty="0"/>
              <a:t>Your program should:	</a:t>
            </a:r>
          </a:p>
          <a:p>
            <a:pPr lvl="0"/>
            <a:r>
              <a:rPr lang="en-US" dirty="0"/>
              <a:t>Display all students. </a:t>
            </a:r>
          </a:p>
          <a:p>
            <a:pPr lvl="0"/>
            <a:r>
              <a:rPr lang="en-US" dirty="0"/>
              <a:t>Display only student names. </a:t>
            </a:r>
          </a:p>
          <a:p>
            <a:pPr lvl="0"/>
            <a:r>
              <a:rPr lang="en-US" dirty="0"/>
              <a:t>Display students whose age is greater than 20. </a:t>
            </a:r>
          </a:p>
          <a:p>
            <a:pPr lvl="0"/>
            <a:r>
              <a:rPr lang="en-US" dirty="0"/>
              <a:t>Count the number of students. </a:t>
            </a:r>
          </a:p>
          <a:p>
            <a:r>
              <a:rPr lang="en-US" dirty="0"/>
              <a:t>Search for a student by name. </a:t>
            </a:r>
          </a:p>
        </p:txBody>
      </p:sp>
    </p:spTree>
    <p:extLst>
      <p:ext uri="{BB962C8B-B14F-4D97-AF65-F5344CB8AC3E}">
        <p14:creationId xmlns:p14="http://schemas.microsoft.com/office/powerpoint/2010/main" val="3611520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2391A-1250-2761-1BEC-2A07335B1A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D164D5-A9FC-628E-E7C3-49259FF4E62E}"/>
              </a:ext>
            </a:extLst>
          </p:cNvPr>
          <p:cNvSpPr>
            <a:spLocks noGrp="1"/>
          </p:cNvSpPr>
          <p:nvPr>
            <p:ph sz="half" idx="14"/>
          </p:nvPr>
        </p:nvSpPr>
        <p:spPr>
          <a:xfrm>
            <a:off x="1380116" y="1087821"/>
            <a:ext cx="8958804" cy="4682358"/>
          </a:xfrm>
        </p:spPr>
        <p:txBody>
          <a:bodyPr>
            <a:normAutofit fontScale="92500" lnSpcReduction="20000"/>
          </a:bodyPr>
          <a:lstStyle/>
          <a:p>
            <a:r>
              <a:rPr lang="en-US" b="1" dirty="0"/>
              <a:t>Task 6 — Functions-Based Calculator</a:t>
            </a:r>
          </a:p>
          <a:p>
            <a:r>
              <a:rPr lang="en-US" b="1" dirty="0"/>
              <a:t>Concepts:</a:t>
            </a:r>
            <a:r>
              <a:rPr lang="en-US" dirty="0"/>
              <a:t> Functions, conditions, loops</a:t>
            </a:r>
          </a:p>
          <a:p>
            <a:r>
              <a:rPr lang="en-US" dirty="0"/>
              <a:t>Create a calculator using separate functions:</a:t>
            </a:r>
          </a:p>
          <a:p>
            <a:r>
              <a:rPr lang="en-US" dirty="0"/>
              <a:t>Display a menu:</a:t>
            </a:r>
          </a:p>
          <a:p>
            <a:pPr lvl="0"/>
            <a:r>
              <a:rPr lang="en-US" dirty="0"/>
              <a:t>Addition</a:t>
            </a:r>
          </a:p>
          <a:p>
            <a:pPr lvl="0"/>
            <a:r>
              <a:rPr lang="en-US" dirty="0"/>
              <a:t>Subtraction</a:t>
            </a:r>
          </a:p>
          <a:p>
            <a:pPr lvl="0"/>
            <a:r>
              <a:rPr lang="en-US" dirty="0"/>
              <a:t>Multiplication</a:t>
            </a:r>
          </a:p>
          <a:p>
            <a:pPr lvl="0"/>
            <a:r>
              <a:rPr lang="en-US" dirty="0"/>
              <a:t>Division</a:t>
            </a:r>
          </a:p>
          <a:p>
            <a:pPr lvl="0"/>
            <a:r>
              <a:rPr lang="en-US" dirty="0"/>
              <a:t>Exit</a:t>
            </a:r>
          </a:p>
          <a:p>
            <a:r>
              <a:rPr lang="en-US" dirty="0"/>
              <a:t>The program should continue running until the user selects </a:t>
            </a:r>
            <a:r>
              <a:rPr lang="en-US" b="1" dirty="0"/>
              <a:t>Exit</a:t>
            </a:r>
            <a:r>
              <a:rPr lang="en-US" dirty="0"/>
              <a:t>.</a:t>
            </a:r>
          </a:p>
          <a:p>
            <a:r>
              <a:rPr lang="en-US" dirty="0"/>
              <a:t>Division by zero must be handled.	</a:t>
            </a:r>
          </a:p>
        </p:txBody>
      </p:sp>
    </p:spTree>
    <p:extLst>
      <p:ext uri="{BB962C8B-B14F-4D97-AF65-F5344CB8AC3E}">
        <p14:creationId xmlns:p14="http://schemas.microsoft.com/office/powerpoint/2010/main" val="777308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4143375" y="92597"/>
            <a:ext cx="3905250" cy="3032567"/>
          </a:xfrm>
          <a:noFill/>
        </p:spPr>
        <p:txBody>
          <a:bodyPr anchor="b"/>
          <a:lstStyle/>
          <a:p>
            <a:r>
              <a:rPr lang="en-US" dirty="0"/>
              <a:t>Thank you</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type="body" sz="quarter" idx="10"/>
          </p:nvPr>
        </p:nvSpPr>
        <p:spPr>
          <a:xfrm>
            <a:off x="4143375" y="4004321"/>
            <a:ext cx="3905250" cy="2743200"/>
          </a:xfrm>
          <a:noFill/>
        </p:spPr>
        <p:txBody>
          <a:bodyPr anchor="t">
            <a:normAutofit/>
          </a:bodyPr>
          <a:lstStyle/>
          <a:p>
            <a:r>
              <a:rPr lang="en-US" dirty="0"/>
              <a:t>Shahzaib Shaikh</a:t>
            </a:r>
          </a:p>
          <a:p>
            <a:r>
              <a:rPr lang="en-US" dirty="0"/>
              <a:t>Email: shahzaib.shaikh@nu.edu.pk</a:t>
            </a:r>
          </a:p>
        </p:txBody>
      </p:sp>
    </p:spTree>
    <p:extLst>
      <p:ext uri="{BB962C8B-B14F-4D97-AF65-F5344CB8AC3E}">
        <p14:creationId xmlns:p14="http://schemas.microsoft.com/office/powerpoint/2010/main" val="611567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ustom">
  <a:themeElements>
    <a:clrScheme name="TM10081922">
      <a:dk1>
        <a:srgbClr val="000000"/>
      </a:dk1>
      <a:lt1>
        <a:srgbClr val="FFFFFF"/>
      </a:lt1>
      <a:dk2>
        <a:srgbClr val="435369"/>
      </a:dk2>
      <a:lt2>
        <a:srgbClr val="E7E5E5"/>
      </a:lt2>
      <a:accent1>
        <a:srgbClr val="F2E5D8"/>
      </a:accent1>
      <a:accent2>
        <a:srgbClr val="8C3A27"/>
      </a:accent2>
      <a:accent3>
        <a:srgbClr val="F0C8BC"/>
      </a:accent3>
      <a:accent4>
        <a:srgbClr val="D9A390"/>
      </a:accent4>
      <a:accent5>
        <a:srgbClr val="FFF6F4"/>
      </a:accent5>
      <a:accent6>
        <a:srgbClr val="183F1E"/>
      </a:accent6>
      <a:hlink>
        <a:srgbClr val="467886"/>
      </a:hlink>
      <a:folHlink>
        <a:srgbClr val="96607D"/>
      </a:folHlink>
    </a:clrScheme>
    <a:fontScheme name="Custom 100">
      <a:majorFont>
        <a:latin typeface="Tisa Offc Serif Pro"/>
        <a:ea typeface=""/>
        <a:cs typeface=""/>
      </a:majorFont>
      <a:minorFont>
        <a:latin typeface="Qui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10081922_Win32_SL_V4" id="{CCBED28E-3218-45D8-920F-A2D91CCE8680}" vid="{A1C6549C-A185-4AC8-97B3-DFFFA73555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2D96AF-4C9E-4DD0-A165-CD22BB87D090}">
  <ds:schemaRefs>
    <ds:schemaRef ds:uri="http://schemas.microsoft.com/sharepoint/v3/contenttype/forms"/>
  </ds:schemaRefs>
</ds:datastoreItem>
</file>

<file path=customXml/itemProps2.xml><?xml version="1.0" encoding="utf-8"?>
<ds:datastoreItem xmlns:ds="http://schemas.openxmlformats.org/officeDocument/2006/customXml" ds:itemID="{AA349358-775F-4CF9-9AE6-33A7901637EF}">
  <ds:schemaRefs>
    <ds:schemaRef ds:uri="http://purl.org/dc/elements/1.1/"/>
    <ds:schemaRef ds:uri="http://schemas.microsoft.com/office/2006/metadata/properties"/>
    <ds:schemaRef ds:uri="http://schemas.microsoft.com/office/2006/documentManagement/types"/>
    <ds:schemaRef ds:uri="16c05727-aa75-4e4a-9b5f-8a80a1165891"/>
    <ds:schemaRef ds:uri="http://schemas.microsoft.com/sharepoint/v3"/>
    <ds:schemaRef ds:uri="http://schemas.microsoft.com/office/infopath/2007/PartnerControls"/>
    <ds:schemaRef ds:uri="http://purl.org/dc/terms/"/>
    <ds:schemaRef ds:uri="http://purl.org/dc/dcmitype/"/>
    <ds:schemaRef ds:uri="http://schemas.openxmlformats.org/package/2006/metadata/core-properties"/>
    <ds:schemaRef ds:uri="230e9df3-be65-4c73-a93b-d1236ebd677e"/>
    <ds:schemaRef ds:uri="71af3243-3dd4-4a8d-8c0d-dd76da1f02a5"/>
    <ds:schemaRef ds:uri="http://www.w3.org/XML/1998/namespace"/>
  </ds:schemaRefs>
</ds:datastoreItem>
</file>

<file path=customXml/itemProps3.xml><?xml version="1.0" encoding="utf-8"?>
<ds:datastoreItem xmlns:ds="http://schemas.openxmlformats.org/officeDocument/2006/customXml" ds:itemID="{FAF1DBB7-4BA2-49E3-BEC8-A38406CA5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{55C378B2-8BA6-45E7-A508-EB45D0C255DC}TF96423eb0-8e02-4a99-b83b-bc60d19202d5328e4d86_win32-c07ae754e67e</Template>
  <TotalTime>3217</TotalTime>
  <Words>1065</Words>
  <Application>Microsoft Office PowerPoint</Application>
  <PresentationFormat>Widescreen</PresentationFormat>
  <Paragraphs>187</Paragraphs>
  <Slides>25</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ADLaM Display</vt:lpstr>
      <vt:lpstr>Aptos</vt:lpstr>
      <vt:lpstr>Arial</vt:lpstr>
      <vt:lpstr>Calibri</vt:lpstr>
      <vt:lpstr>Quire Sans Pro Light</vt:lpstr>
      <vt:lpstr>Segoe UI</vt:lpstr>
      <vt:lpstr>Tisa Offc Serif Pro</vt:lpstr>
      <vt:lpstr>Custom</vt:lpstr>
      <vt:lpstr>Object Oriented Programming</vt:lpstr>
      <vt:lpstr>Agenda</vt:lpstr>
      <vt:lpstr>Let’s get to know Each other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TASKS</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for business</dc:title>
  <dc:creator>User</dc:creator>
  <cp:lastModifiedBy>User</cp:lastModifiedBy>
  <cp:revision>38</cp:revision>
  <dcterms:created xsi:type="dcterms:W3CDTF">2026-01-16T21:07:17Z</dcterms:created>
  <dcterms:modified xsi:type="dcterms:W3CDTF">2026-08-20T07:47:31Z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