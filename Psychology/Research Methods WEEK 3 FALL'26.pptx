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4" r:id="rId4"/>
    <p:sldId id="275" r:id="rId5"/>
    <p:sldId id="258" r:id="rId6"/>
    <p:sldId id="277" r:id="rId7"/>
    <p:sldId id="259" r:id="rId8"/>
    <p:sldId id="260" r:id="rId9"/>
    <p:sldId id="281" r:id="rId10"/>
    <p:sldId id="262" r:id="rId11"/>
    <p:sldId id="278" r:id="rId12"/>
    <p:sldId id="298" r:id="rId13"/>
    <p:sldId id="299" r:id="rId14"/>
    <p:sldId id="265" r:id="rId15"/>
    <p:sldId id="279" r:id="rId16"/>
    <p:sldId id="267" r:id="rId17"/>
    <p:sldId id="283" r:id="rId18"/>
    <p:sldId id="286" r:id="rId19"/>
    <p:sldId id="296" r:id="rId20"/>
    <p:sldId id="291" r:id="rId21"/>
    <p:sldId id="292" r:id="rId22"/>
    <p:sldId id="294" r:id="rId23"/>
    <p:sldId id="295" r:id="rId24"/>
    <p:sldId id="268" r:id="rId25"/>
    <p:sldId id="270" r:id="rId26"/>
  </p:sldIdLst>
  <p:sldSz cx="18288000" cy="10287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Kalam Bold" panose="020B0604020202020204" charset="0"/>
      <p:regular r:id="rId31"/>
    </p:embeddedFont>
    <p:embeddedFont>
      <p:font typeface="Literata Bold" panose="020B0604020202020204" charset="0"/>
      <p:regular r:id="rId32"/>
    </p:embeddedFont>
    <p:embeddedFont>
      <p:font typeface="Literata" panose="020B0604020202020204" charset="0"/>
      <p:regular r:id="rId33"/>
    </p:embeddedFont>
    <p:embeddedFont>
      <p:font typeface="AIGDT" panose="020B0604020202020204" charset="2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3" Type="http://schemas.openxmlformats.org/officeDocument/2006/relationships/image" Target="../media/image10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svg"/><Relationship Id="rId12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4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12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14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8.sv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40.svg"/><Relationship Id="rId7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45.svg"/><Relationship Id="rId4" Type="http://schemas.openxmlformats.org/officeDocument/2006/relationships/image" Target="../media/image25.png"/><Relationship Id="rId9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6.svg"/><Relationship Id="rId7" Type="http://schemas.openxmlformats.org/officeDocument/2006/relationships/image" Target="../media/image1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sv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sv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6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40.sv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65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63.sv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77.svg"/><Relationship Id="rId3" Type="http://schemas.openxmlformats.org/officeDocument/2006/relationships/image" Target="../media/image67.svg"/><Relationship Id="rId7" Type="http://schemas.openxmlformats.org/officeDocument/2006/relationships/image" Target="../media/image71.svg"/><Relationship Id="rId12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75.svg"/><Relationship Id="rId5" Type="http://schemas.openxmlformats.org/officeDocument/2006/relationships/image" Target="../media/image69.svg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image" Target="../media/image73.sv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37.png"/><Relationship Id="rId9" Type="http://schemas.openxmlformats.org/officeDocument/2006/relationships/image" Target="../media/image73.svg"/><Relationship Id="rId1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image" Target="../media/image87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image" Target="../media/image87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19" Type="http://schemas.openxmlformats.org/officeDocument/2006/relationships/image" Target="../media/image93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2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sv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37.png"/><Relationship Id="rId9" Type="http://schemas.openxmlformats.org/officeDocument/2006/relationships/image" Target="../media/image7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sv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.svg"/><Relationship Id="rId18" Type="http://schemas.openxmlformats.org/officeDocument/2006/relationships/image" Target="../media/image10.png"/><Relationship Id="rId3" Type="http://schemas.openxmlformats.org/officeDocument/2006/relationships/image" Target="../media/image109.svg"/><Relationship Id="rId21" Type="http://schemas.openxmlformats.org/officeDocument/2006/relationships/image" Target="../media/image24.svg"/><Relationship Id="rId12" Type="http://schemas.openxmlformats.org/officeDocument/2006/relationships/image" Target="../media/image41.png"/><Relationship Id="rId17" Type="http://schemas.openxmlformats.org/officeDocument/2006/relationships/image" Target="../media/image20.svg"/><Relationship Id="rId2" Type="http://schemas.openxmlformats.org/officeDocument/2006/relationships/image" Target="../media/image45.png"/><Relationship Id="rId16" Type="http://schemas.openxmlformats.org/officeDocument/2006/relationships/image" Target="../media/image12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115.svg"/><Relationship Id="rId5" Type="http://schemas.openxmlformats.org/officeDocument/2006/relationships/image" Target="../media/image111.svg"/><Relationship Id="rId15" Type="http://schemas.openxmlformats.org/officeDocument/2006/relationships/image" Target="../media/image117.svg"/><Relationship Id="rId19" Type="http://schemas.openxmlformats.org/officeDocument/2006/relationships/image" Target="../media/image22.svg"/><Relationship Id="rId4" Type="http://schemas.openxmlformats.org/officeDocument/2006/relationships/image" Target="../media/image46.png"/><Relationship Id="rId1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32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049639" flipH="1">
            <a:off x="110017" y="1382196"/>
            <a:ext cx="8821577" cy="7843184"/>
          </a:xfrm>
          <a:custGeom>
            <a:avLst/>
            <a:gdLst/>
            <a:ahLst/>
            <a:cxnLst/>
            <a:rect l="l" t="t" r="r" b="b"/>
            <a:pathLst>
              <a:path w="8821577" h="7843184">
                <a:moveTo>
                  <a:pt x="8821577" y="0"/>
                </a:moveTo>
                <a:lnTo>
                  <a:pt x="0" y="0"/>
                </a:lnTo>
                <a:lnTo>
                  <a:pt x="0" y="7843184"/>
                </a:lnTo>
                <a:lnTo>
                  <a:pt x="8821577" y="7843184"/>
                </a:lnTo>
                <a:lnTo>
                  <a:pt x="88215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31732" y="2006426"/>
            <a:ext cx="6395968" cy="7680748"/>
          </a:xfrm>
          <a:custGeom>
            <a:avLst/>
            <a:gdLst/>
            <a:ahLst/>
            <a:cxnLst/>
            <a:rect l="l" t="t" r="r" b="b"/>
            <a:pathLst>
              <a:path w="6395968" h="7680748">
                <a:moveTo>
                  <a:pt x="0" y="0"/>
                </a:moveTo>
                <a:lnTo>
                  <a:pt x="6395968" y="0"/>
                </a:lnTo>
                <a:lnTo>
                  <a:pt x="6395968" y="7680748"/>
                </a:lnTo>
                <a:lnTo>
                  <a:pt x="0" y="7680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10226719"/>
            <a:ext cx="18288000" cy="47625"/>
            <a:chOff x="0" y="0"/>
            <a:chExt cx="4816593" cy="12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2543"/>
            </a:xfrm>
            <a:custGeom>
              <a:avLst/>
              <a:gdLst/>
              <a:ahLst/>
              <a:cxnLst/>
              <a:rect l="l" t="t" r="r" b="b"/>
              <a:pathLst>
                <a:path w="4816592" h="12543">
                  <a:moveTo>
                    <a:pt x="0" y="0"/>
                  </a:moveTo>
                  <a:lnTo>
                    <a:pt x="4816592" y="0"/>
                  </a:lnTo>
                  <a:lnTo>
                    <a:pt x="4816592" y="12543"/>
                  </a:lnTo>
                  <a:lnTo>
                    <a:pt x="0" y="12543"/>
                  </a:lnTo>
                  <a:close/>
                </a:path>
              </a:pathLst>
            </a:custGeom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4816593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345449" y="5893593"/>
            <a:ext cx="9773678" cy="4495892"/>
          </a:xfrm>
          <a:custGeom>
            <a:avLst/>
            <a:gdLst/>
            <a:ahLst/>
            <a:cxnLst/>
            <a:rect l="l" t="t" r="r" b="b"/>
            <a:pathLst>
              <a:path w="9773678" h="4495892">
                <a:moveTo>
                  <a:pt x="0" y="0"/>
                </a:moveTo>
                <a:lnTo>
                  <a:pt x="9773678" y="0"/>
                </a:lnTo>
                <a:lnTo>
                  <a:pt x="9773678" y="4495891"/>
                </a:lnTo>
                <a:lnTo>
                  <a:pt x="0" y="44958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43998" y="2052292"/>
            <a:ext cx="7590360" cy="3915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0"/>
              </a:lnSpc>
            </a:pPr>
            <a:r>
              <a:rPr lang="en-US" sz="9200" b="1" dirty="0" smtClean="0">
                <a:solidFill>
                  <a:srgbClr val="FFD180"/>
                </a:solidFill>
                <a:latin typeface="Kalam Bold"/>
                <a:ea typeface="Kalam Bold"/>
                <a:cs typeface="Kalam Bold"/>
                <a:sym typeface="Kalam Bold"/>
              </a:rPr>
              <a:t>Research methodology in Psych</a:t>
            </a:r>
            <a:endParaRPr lang="en-US" sz="9200" b="1" dirty="0">
              <a:solidFill>
                <a:srgbClr val="FFD180"/>
              </a:solidFill>
              <a:latin typeface="Kalam Bold"/>
              <a:ea typeface="Kalam Bold"/>
              <a:cs typeface="Kalam Bold"/>
              <a:sym typeface="Kalam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361941" y="6741875"/>
            <a:ext cx="6551056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Aft>
                <a:spcPts val="0"/>
              </a:spcAft>
            </a:pPr>
            <a:r>
              <a:rPr lang="en-US" sz="3100" dirty="0" smtClean="0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+mj-lt"/>
                <a:sym typeface="Gill Sans"/>
              </a:rPr>
              <a:t>BY: AQSA FAYYAZ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  <a:p>
            <a:pPr lvl="0" algn="just">
              <a:spcAft>
                <a:spcPts val="0"/>
              </a:spcAft>
            </a:pPr>
            <a:r>
              <a:rPr lang="en-US" sz="3200" dirty="0">
                <a:solidFill>
                  <a:schemeClr val="bg1"/>
                </a:solidFill>
                <a:latin typeface="+mj-lt"/>
                <a:ea typeface="Gill Sans"/>
                <a:cs typeface="Gill Sans"/>
                <a:sym typeface="Gill Sans"/>
              </a:rPr>
              <a:t>Lecturer </a:t>
            </a:r>
          </a:p>
          <a:p>
            <a:pPr lvl="0" algn="just">
              <a:spcAft>
                <a:spcPts val="0"/>
              </a:spcAft>
            </a:pPr>
            <a:r>
              <a:rPr lang="en-US" sz="3200" dirty="0">
                <a:solidFill>
                  <a:schemeClr val="bg1"/>
                </a:solidFill>
                <a:latin typeface="+mj-lt"/>
                <a:ea typeface="Gill Sans"/>
                <a:cs typeface="Gill Sans"/>
                <a:sym typeface="Gill Sans"/>
              </a:rPr>
              <a:t>(Science and Humanities)</a:t>
            </a:r>
          </a:p>
          <a:p>
            <a:pPr lvl="0" algn="just">
              <a:spcAft>
                <a:spcPts val="0"/>
              </a:spcAft>
            </a:pPr>
            <a:r>
              <a:rPr lang="en-US" sz="3200" dirty="0">
                <a:solidFill>
                  <a:schemeClr val="bg1"/>
                </a:solidFill>
                <a:latin typeface="+mj-lt"/>
                <a:ea typeface="Gill Sans"/>
                <a:cs typeface="Gill Sans"/>
                <a:sym typeface="Gill Sans"/>
              </a:rPr>
              <a:t>FAST - National University of Computer &amp; Emerging Sciences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03504" y="770467"/>
            <a:ext cx="5568696" cy="80491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33237">
            <a:off x="9162796" y="2387552"/>
            <a:ext cx="8761461" cy="8235773"/>
          </a:xfrm>
          <a:custGeom>
            <a:avLst/>
            <a:gdLst/>
            <a:ahLst/>
            <a:cxnLst/>
            <a:rect l="l" t="t" r="r" b="b"/>
            <a:pathLst>
              <a:path w="8761461" h="8235773">
                <a:moveTo>
                  <a:pt x="0" y="0"/>
                </a:moveTo>
                <a:lnTo>
                  <a:pt x="8761461" y="0"/>
                </a:lnTo>
                <a:lnTo>
                  <a:pt x="8761461" y="8235773"/>
                </a:lnTo>
                <a:lnTo>
                  <a:pt x="0" y="8235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22070" y="2836509"/>
            <a:ext cx="5842913" cy="6598772"/>
          </a:xfrm>
          <a:custGeom>
            <a:avLst/>
            <a:gdLst/>
            <a:ahLst/>
            <a:cxnLst/>
            <a:rect l="l" t="t" r="r" b="b"/>
            <a:pathLst>
              <a:path w="5842913" h="6598772">
                <a:moveTo>
                  <a:pt x="0" y="0"/>
                </a:moveTo>
                <a:lnTo>
                  <a:pt x="5842913" y="0"/>
                </a:lnTo>
                <a:lnTo>
                  <a:pt x="5842913" y="6598773"/>
                </a:lnTo>
                <a:lnTo>
                  <a:pt x="0" y="65987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902490">
            <a:off x="10904769" y="8878286"/>
            <a:ext cx="5137339" cy="5291267"/>
          </a:xfrm>
          <a:custGeom>
            <a:avLst/>
            <a:gdLst/>
            <a:ahLst/>
            <a:cxnLst/>
            <a:rect l="l" t="t" r="r" b="b"/>
            <a:pathLst>
              <a:path w="5137339" h="5291267">
                <a:moveTo>
                  <a:pt x="0" y="0"/>
                </a:moveTo>
                <a:lnTo>
                  <a:pt x="5137339" y="0"/>
                </a:lnTo>
                <a:lnTo>
                  <a:pt x="5137339" y="5291267"/>
                </a:lnTo>
                <a:lnTo>
                  <a:pt x="0" y="52912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1145" y="3219171"/>
            <a:ext cx="437749" cy="450865"/>
          </a:xfrm>
          <a:custGeom>
            <a:avLst/>
            <a:gdLst/>
            <a:ahLst/>
            <a:cxnLst/>
            <a:rect l="l" t="t" r="r" b="b"/>
            <a:pathLst>
              <a:path w="437749" h="450865">
                <a:moveTo>
                  <a:pt x="0" y="0"/>
                </a:moveTo>
                <a:lnTo>
                  <a:pt x="437748" y="0"/>
                </a:lnTo>
                <a:lnTo>
                  <a:pt x="437748" y="450864"/>
                </a:lnTo>
                <a:lnTo>
                  <a:pt x="0" y="450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87474" y="3147958"/>
            <a:ext cx="5528471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dirty="0" smtClean="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What is research.</a:t>
            </a:r>
            <a:endParaRPr lang="en-US" sz="3099" dirty="0">
              <a:solidFill>
                <a:srgbClr val="293241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71145" y="818679"/>
            <a:ext cx="14490871" cy="2134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7599" b="1" dirty="0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By the end of this lesson, we’ll be able to:</a:t>
            </a:r>
          </a:p>
        </p:txBody>
      </p:sp>
      <p:sp>
        <p:nvSpPr>
          <p:cNvPr id="8" name="Freeform 8"/>
          <p:cNvSpPr/>
          <p:nvPr/>
        </p:nvSpPr>
        <p:spPr>
          <a:xfrm>
            <a:off x="1571145" y="4555915"/>
            <a:ext cx="437749" cy="450865"/>
          </a:xfrm>
          <a:custGeom>
            <a:avLst/>
            <a:gdLst/>
            <a:ahLst/>
            <a:cxnLst/>
            <a:rect l="l" t="t" r="r" b="b"/>
            <a:pathLst>
              <a:path w="437749" h="450865">
                <a:moveTo>
                  <a:pt x="0" y="0"/>
                </a:moveTo>
                <a:lnTo>
                  <a:pt x="437748" y="0"/>
                </a:lnTo>
                <a:lnTo>
                  <a:pt x="437748" y="450865"/>
                </a:lnTo>
                <a:lnTo>
                  <a:pt x="0" y="4508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87474" y="4463923"/>
            <a:ext cx="5528471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dirty="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Describe the steps involved in the scientific method.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71145" y="5873610"/>
            <a:ext cx="437749" cy="450865"/>
          </a:xfrm>
          <a:custGeom>
            <a:avLst/>
            <a:gdLst/>
            <a:ahLst/>
            <a:cxnLst/>
            <a:rect l="l" t="t" r="r" b="b"/>
            <a:pathLst>
              <a:path w="437749" h="450865">
                <a:moveTo>
                  <a:pt x="0" y="0"/>
                </a:moveTo>
                <a:lnTo>
                  <a:pt x="437748" y="0"/>
                </a:lnTo>
                <a:lnTo>
                  <a:pt x="437748" y="450864"/>
                </a:lnTo>
                <a:lnTo>
                  <a:pt x="0" y="450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87474" y="5778373"/>
            <a:ext cx="5528471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dirty="0" smtClean="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Types of researches, variables, Research methods</a:t>
            </a:r>
            <a:endParaRPr lang="en-US" sz="3099" dirty="0">
              <a:solidFill>
                <a:srgbClr val="293241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sp>
        <p:nvSpPr>
          <p:cNvPr id="12" name="Freeform 10"/>
          <p:cNvSpPr/>
          <p:nvPr/>
        </p:nvSpPr>
        <p:spPr>
          <a:xfrm>
            <a:off x="1571145" y="7188060"/>
            <a:ext cx="437749" cy="450865"/>
          </a:xfrm>
          <a:custGeom>
            <a:avLst/>
            <a:gdLst/>
            <a:ahLst/>
            <a:cxnLst/>
            <a:rect l="l" t="t" r="r" b="b"/>
            <a:pathLst>
              <a:path w="437749" h="450865">
                <a:moveTo>
                  <a:pt x="0" y="0"/>
                </a:moveTo>
                <a:lnTo>
                  <a:pt x="437748" y="0"/>
                </a:lnTo>
                <a:lnTo>
                  <a:pt x="437748" y="450864"/>
                </a:lnTo>
                <a:lnTo>
                  <a:pt x="0" y="450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1"/>
          <p:cNvSpPr txBox="1"/>
          <p:nvPr/>
        </p:nvSpPr>
        <p:spPr>
          <a:xfrm>
            <a:off x="2387474" y="7092823"/>
            <a:ext cx="5528471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dirty="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Apply the scientific method to a specific problem.</a:t>
            </a:r>
          </a:p>
        </p:txBody>
      </p:sp>
      <p:sp>
        <p:nvSpPr>
          <p:cNvPr id="14" name="Freeform 10"/>
          <p:cNvSpPr/>
          <p:nvPr/>
        </p:nvSpPr>
        <p:spPr>
          <a:xfrm>
            <a:off x="1590642" y="8571584"/>
            <a:ext cx="437749" cy="450865"/>
          </a:xfrm>
          <a:custGeom>
            <a:avLst/>
            <a:gdLst/>
            <a:ahLst/>
            <a:cxnLst/>
            <a:rect l="l" t="t" r="r" b="b"/>
            <a:pathLst>
              <a:path w="437749" h="450865">
                <a:moveTo>
                  <a:pt x="0" y="0"/>
                </a:moveTo>
                <a:lnTo>
                  <a:pt x="437748" y="0"/>
                </a:lnTo>
                <a:lnTo>
                  <a:pt x="437748" y="450864"/>
                </a:lnTo>
                <a:lnTo>
                  <a:pt x="0" y="450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1"/>
          <p:cNvSpPr txBox="1"/>
          <p:nvPr/>
        </p:nvSpPr>
        <p:spPr>
          <a:xfrm>
            <a:off x="2406971" y="8476347"/>
            <a:ext cx="5528471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dirty="0" smtClean="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Ethical </a:t>
            </a:r>
            <a:r>
              <a:rPr lang="en-US" sz="3099" dirty="0" smtClean="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considerations.</a:t>
            </a:r>
            <a:endParaRPr lang="en-US" sz="3099" dirty="0">
              <a:solidFill>
                <a:srgbClr val="293241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33400" y="2247900"/>
            <a:ext cx="10591800" cy="1446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83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1200" cap="none" spc="0" normalizeH="0" baseline="0" noProof="0" dirty="0">
                <a:ln>
                  <a:noFill/>
                </a:ln>
                <a:solidFill>
                  <a:srgbClr val="293241"/>
                </a:solidFill>
                <a:effectLst/>
                <a:uLnTx/>
                <a:uFillTx/>
                <a:latin typeface="Kalam Bold"/>
                <a:ea typeface="Kalam Bold"/>
                <a:cs typeface="Kalam Bold"/>
                <a:sym typeface="Kalam Bold"/>
              </a:rPr>
              <a:t>Research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4000" y="4152900"/>
            <a:ext cx="13716000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 smtClean="0">
                <a:solidFill>
                  <a:srgbClr val="FFC000"/>
                </a:solidFill>
                <a:latin typeface="Literata" panose="020B0604020202020204" charset="0"/>
              </a:rPr>
              <a:t>Systematic </a:t>
            </a:r>
            <a:r>
              <a:rPr lang="en-US" altLang="en-US" sz="3600" b="1" dirty="0">
                <a:solidFill>
                  <a:srgbClr val="FFC000"/>
                </a:solidFill>
                <a:latin typeface="Literata" panose="020B0604020202020204" charset="0"/>
              </a:rPr>
              <a:t>Inquiry:</a:t>
            </a:r>
            <a:r>
              <a:rPr lang="en-US" altLang="en-US" sz="3600" dirty="0">
                <a:solidFill>
                  <a:srgbClr val="FFC000"/>
                </a:solidFill>
                <a:latin typeface="Literata" panose="020B0604020202020204" charset="0"/>
              </a:rPr>
              <a:t> </a:t>
            </a:r>
            <a:r>
              <a:rPr lang="en-US" altLang="en-US" sz="3600" dirty="0">
                <a:latin typeface="Literata" panose="020B0604020202020204" charset="0"/>
              </a:rPr>
              <a:t>Research follows a structured approach to collect and analyze information</a:t>
            </a:r>
            <a:r>
              <a:rPr lang="en-US" altLang="en-US" sz="3600" dirty="0" smtClean="0">
                <a:latin typeface="Literata" panose="020B0604020202020204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600" dirty="0">
              <a:latin typeface="Literata" panose="020B060402020202020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solidFill>
                  <a:srgbClr val="FFC000"/>
                </a:solidFill>
                <a:latin typeface="Literata" panose="020B0604020202020204" charset="0"/>
              </a:rPr>
              <a:t>Knowledge Expansion:</a:t>
            </a:r>
            <a:r>
              <a:rPr lang="en-US" altLang="en-US" sz="3600" dirty="0">
                <a:solidFill>
                  <a:srgbClr val="FFC000"/>
                </a:solidFill>
                <a:latin typeface="Literata" panose="020B0604020202020204" charset="0"/>
              </a:rPr>
              <a:t> </a:t>
            </a:r>
            <a:r>
              <a:rPr lang="en-US" altLang="en-US" sz="3600" dirty="0">
                <a:latin typeface="Literata" panose="020B0604020202020204" charset="0"/>
              </a:rPr>
              <a:t>It seeks to generate new insights, confirm existing theories, or explore different areas</a:t>
            </a:r>
            <a:r>
              <a:rPr lang="en-US" altLang="en-US" sz="3600" dirty="0" smtClean="0">
                <a:latin typeface="Literata" panose="020B0604020202020204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600" dirty="0">
              <a:latin typeface="Literata" panose="020B060402020202020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solidFill>
                  <a:srgbClr val="FFC000"/>
                </a:solidFill>
                <a:latin typeface="Literata" panose="020B0604020202020204" charset="0"/>
              </a:rPr>
              <a:t>Problem Solving:</a:t>
            </a:r>
            <a:r>
              <a:rPr lang="en-US" altLang="en-US" sz="3600" dirty="0">
                <a:solidFill>
                  <a:srgbClr val="FFC000"/>
                </a:solidFill>
                <a:latin typeface="Literata" panose="020B0604020202020204" charset="0"/>
              </a:rPr>
              <a:t> </a:t>
            </a:r>
            <a:r>
              <a:rPr lang="en-US" altLang="en-US" sz="3600" dirty="0">
                <a:latin typeface="Literata" panose="020B0604020202020204" charset="0"/>
              </a:rPr>
              <a:t>Research can address specific questions or issues, leading to practical solutions or advancements in a field. </a:t>
            </a:r>
          </a:p>
        </p:txBody>
      </p:sp>
      <p:sp>
        <p:nvSpPr>
          <p:cNvPr id="12" name="Freeform 19"/>
          <p:cNvSpPr/>
          <p:nvPr/>
        </p:nvSpPr>
        <p:spPr>
          <a:xfrm>
            <a:off x="13487400" y="274552"/>
            <a:ext cx="4042564" cy="3791318"/>
          </a:xfrm>
          <a:custGeom>
            <a:avLst/>
            <a:gdLst/>
            <a:ahLst/>
            <a:cxnLst/>
            <a:rect l="l" t="t" r="r" b="b"/>
            <a:pathLst>
              <a:path w="2594764" h="2410772">
                <a:moveTo>
                  <a:pt x="0" y="0"/>
                </a:moveTo>
                <a:lnTo>
                  <a:pt x="2594764" y="0"/>
                </a:lnTo>
                <a:lnTo>
                  <a:pt x="2594764" y="2410772"/>
                </a:lnTo>
                <a:lnTo>
                  <a:pt x="0" y="2410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4932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-228600" y="1409700"/>
            <a:ext cx="111252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83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99" b="1" i="0" u="none" strike="noStrike" kern="1200" cap="none" spc="0" normalizeH="0" baseline="0" noProof="0" dirty="0" smtClean="0">
                <a:ln>
                  <a:noFill/>
                </a:ln>
                <a:solidFill>
                  <a:srgbClr val="293241"/>
                </a:solidFill>
                <a:effectLst/>
                <a:uLnTx/>
                <a:uFillTx/>
                <a:latin typeface="Kalam Bold"/>
                <a:ea typeface="Kalam Bold"/>
                <a:cs typeface="Kalam Bold"/>
                <a:sym typeface="Kalam Bold"/>
              </a:rPr>
              <a:t>Types of Research</a:t>
            </a:r>
            <a:endParaRPr kumimoji="0" lang="en-US" sz="7599" b="1" i="0" u="none" strike="noStrike" kern="1200" cap="none" spc="0" normalizeH="0" baseline="0" noProof="0" dirty="0">
              <a:ln>
                <a:noFill/>
              </a:ln>
              <a:solidFill>
                <a:srgbClr val="293241"/>
              </a:solidFill>
              <a:effectLst/>
              <a:uLnTx/>
              <a:uFillTx/>
              <a:latin typeface="Kalam Bold"/>
              <a:ea typeface="Kalam Bold"/>
              <a:cs typeface="Kalam Bold"/>
              <a:sym typeface="Kalam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3390900"/>
            <a:ext cx="15697200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solidFill>
                  <a:srgbClr val="FFC000"/>
                </a:solidFill>
                <a:latin typeface="Literata" panose="020B0604020202020204" charset="0"/>
                <a:cs typeface="Arial" panose="020B0604020202020204" pitchFamily="34" charset="0"/>
              </a:rPr>
              <a:t>Basic Research:</a:t>
            </a:r>
            <a:r>
              <a:rPr lang="en-US" altLang="en-US" sz="3600" dirty="0">
                <a:solidFill>
                  <a:srgbClr val="FFC000"/>
                </a:solidFill>
                <a:latin typeface="Literata" panose="020B060402020202020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latin typeface="Literata" panose="020B0604020202020204" charset="0"/>
                <a:cs typeface="Arial" panose="020B0604020202020204" pitchFamily="34" charset="0"/>
              </a:rPr>
              <a:t>Also known as fundamental or pure research, it focuses on expanding theoretical knowledge without immediate practical application. </a:t>
            </a:r>
            <a:endParaRPr lang="en-US" altLang="en-US" sz="3600" dirty="0" smtClean="0">
              <a:latin typeface="Literata" panose="020B0604020202020204" charset="0"/>
              <a:cs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 smtClean="0">
                <a:latin typeface="Literata" panose="020B0604020202020204" charset="0"/>
                <a:cs typeface="Arial" panose="020B0604020202020204" pitchFamily="34" charset="0"/>
              </a:rPr>
              <a:t>For </a:t>
            </a:r>
            <a:r>
              <a:rPr lang="en-US" altLang="en-US" sz="3600" dirty="0">
                <a:latin typeface="Literata" panose="020B0604020202020204" charset="0"/>
                <a:cs typeface="Arial" panose="020B0604020202020204" pitchFamily="34" charset="0"/>
              </a:rPr>
              <a:t>example, studying cognitive processes to understand how memory works</a:t>
            </a:r>
            <a:r>
              <a:rPr lang="en-US" altLang="en-US" sz="3600" dirty="0" smtClean="0">
                <a:latin typeface="Literata" panose="020B0604020202020204" charset="0"/>
                <a:cs typeface="Arial" panose="020B0604020202020204" pitchFamily="34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600" dirty="0">
              <a:latin typeface="Literata" panose="020B0604020202020204" charset="0"/>
              <a:cs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solidFill>
                  <a:srgbClr val="FFC000"/>
                </a:solidFill>
                <a:latin typeface="Literata" panose="020B0604020202020204" charset="0"/>
                <a:cs typeface="Arial" panose="020B0604020202020204" pitchFamily="34" charset="0"/>
              </a:rPr>
              <a:t>Applied Research:</a:t>
            </a:r>
            <a:r>
              <a:rPr lang="en-US" altLang="en-US" sz="3600" dirty="0">
                <a:solidFill>
                  <a:srgbClr val="FFC000"/>
                </a:solidFill>
                <a:latin typeface="Literata" panose="020B060402020202020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latin typeface="Literata" panose="020B0604020202020204" charset="0"/>
                <a:cs typeface="Arial" panose="020B0604020202020204" pitchFamily="34" charset="0"/>
              </a:rPr>
              <a:t>It aims to solve specific, practical problems and often involves direct application of theories. </a:t>
            </a:r>
            <a:endParaRPr lang="en-US" altLang="en-US" sz="3600" dirty="0" smtClean="0">
              <a:latin typeface="Literata" panose="020B0604020202020204" charset="0"/>
              <a:cs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 smtClean="0">
                <a:latin typeface="Literata" panose="020B0604020202020204" charset="0"/>
                <a:cs typeface="Arial" panose="020B0604020202020204" pitchFamily="34" charset="0"/>
              </a:rPr>
              <a:t>For examples: Developing </a:t>
            </a:r>
            <a:r>
              <a:rPr lang="en-US" altLang="en-US" sz="3600" dirty="0">
                <a:latin typeface="Literata" panose="020B0604020202020204" charset="0"/>
                <a:cs typeface="Arial" panose="020B0604020202020204" pitchFamily="34" charset="0"/>
              </a:rPr>
              <a:t>new educational strategies based on cognitive research.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terata" panose="020B0604020202020204" charset="0"/>
              <a:ea typeface="+mn-ea"/>
              <a:cs typeface="+mn-cs"/>
            </a:endParaRPr>
          </a:p>
        </p:txBody>
      </p:sp>
      <p:sp>
        <p:nvSpPr>
          <p:cNvPr id="9" name="Freeform 6"/>
          <p:cNvSpPr/>
          <p:nvPr/>
        </p:nvSpPr>
        <p:spPr>
          <a:xfrm rot="-695294">
            <a:off x="12186568" y="287622"/>
            <a:ext cx="4963863" cy="2725637"/>
          </a:xfrm>
          <a:custGeom>
            <a:avLst/>
            <a:gdLst/>
            <a:ahLst/>
            <a:cxnLst/>
            <a:rect l="l" t="t" r="r" b="b"/>
            <a:pathLst>
              <a:path w="1709891" h="1249775">
                <a:moveTo>
                  <a:pt x="0" y="0"/>
                </a:moveTo>
                <a:lnTo>
                  <a:pt x="1709891" y="0"/>
                </a:lnTo>
                <a:lnTo>
                  <a:pt x="1709891" y="1249774"/>
                </a:lnTo>
                <a:lnTo>
                  <a:pt x="0" y="1249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7"/>
          <p:cNvSpPr/>
          <p:nvPr/>
        </p:nvSpPr>
        <p:spPr>
          <a:xfrm rot="-9918622">
            <a:off x="14498348" y="2030876"/>
            <a:ext cx="3126756" cy="979587"/>
          </a:xfrm>
          <a:custGeom>
            <a:avLst/>
            <a:gdLst/>
            <a:ahLst/>
            <a:cxnLst/>
            <a:rect l="l" t="t" r="r" b="b"/>
            <a:pathLst>
              <a:path w="1664575" h="765705">
                <a:moveTo>
                  <a:pt x="0" y="0"/>
                </a:moveTo>
                <a:lnTo>
                  <a:pt x="1664575" y="0"/>
                </a:lnTo>
                <a:lnTo>
                  <a:pt x="1664575" y="765705"/>
                </a:lnTo>
                <a:lnTo>
                  <a:pt x="0" y="7657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61272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32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100000">
            <a:off x="1109082" y="2416070"/>
            <a:ext cx="8104520" cy="5897844"/>
          </a:xfrm>
          <a:custGeom>
            <a:avLst/>
            <a:gdLst/>
            <a:ahLst/>
            <a:cxnLst/>
            <a:rect l="l" t="t" r="r" b="b"/>
            <a:pathLst>
              <a:path w="8104520" h="5897844">
                <a:moveTo>
                  <a:pt x="0" y="0"/>
                </a:moveTo>
                <a:lnTo>
                  <a:pt x="8104520" y="0"/>
                </a:lnTo>
                <a:lnTo>
                  <a:pt x="8104520" y="5897844"/>
                </a:lnTo>
                <a:lnTo>
                  <a:pt x="0" y="5897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695294">
            <a:off x="3446456" y="3449342"/>
            <a:ext cx="3744987" cy="2737245"/>
          </a:xfrm>
          <a:custGeom>
            <a:avLst/>
            <a:gdLst/>
            <a:ahLst/>
            <a:cxnLst/>
            <a:rect l="l" t="t" r="r" b="b"/>
            <a:pathLst>
              <a:path w="3744987" h="2737245">
                <a:moveTo>
                  <a:pt x="0" y="0"/>
                </a:moveTo>
                <a:lnTo>
                  <a:pt x="3744987" y="0"/>
                </a:lnTo>
                <a:lnTo>
                  <a:pt x="3744987" y="2737245"/>
                </a:lnTo>
                <a:lnTo>
                  <a:pt x="0" y="2737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50259" y="3612225"/>
            <a:ext cx="4061666" cy="2067757"/>
          </a:xfrm>
          <a:custGeom>
            <a:avLst/>
            <a:gdLst/>
            <a:ahLst/>
            <a:cxnLst/>
            <a:rect l="l" t="t" r="r" b="b"/>
            <a:pathLst>
              <a:path w="4061666" h="2067757">
                <a:moveTo>
                  <a:pt x="0" y="0"/>
                </a:moveTo>
                <a:lnTo>
                  <a:pt x="4061666" y="0"/>
                </a:lnTo>
                <a:lnTo>
                  <a:pt x="4061666" y="2067757"/>
                </a:lnTo>
                <a:lnTo>
                  <a:pt x="0" y="20677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9918622">
            <a:off x="4419004" y="5870600"/>
            <a:ext cx="2887956" cy="1328460"/>
          </a:xfrm>
          <a:custGeom>
            <a:avLst/>
            <a:gdLst/>
            <a:ahLst/>
            <a:cxnLst/>
            <a:rect l="l" t="t" r="r" b="b"/>
            <a:pathLst>
              <a:path w="2887956" h="1328460">
                <a:moveTo>
                  <a:pt x="0" y="0"/>
                </a:moveTo>
                <a:lnTo>
                  <a:pt x="2887956" y="0"/>
                </a:lnTo>
                <a:lnTo>
                  <a:pt x="2887956" y="1328460"/>
                </a:lnTo>
                <a:lnTo>
                  <a:pt x="0" y="13284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13794" y="2675383"/>
            <a:ext cx="2783971" cy="4543574"/>
          </a:xfrm>
          <a:custGeom>
            <a:avLst/>
            <a:gdLst/>
            <a:ahLst/>
            <a:cxnLst/>
            <a:rect l="l" t="t" r="r" b="b"/>
            <a:pathLst>
              <a:path w="2783971" h="4543574">
                <a:moveTo>
                  <a:pt x="0" y="0"/>
                </a:moveTo>
                <a:lnTo>
                  <a:pt x="2783971" y="0"/>
                </a:lnTo>
                <a:lnTo>
                  <a:pt x="2783971" y="4543574"/>
                </a:lnTo>
                <a:lnTo>
                  <a:pt x="0" y="45435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802936" y="2751583"/>
            <a:ext cx="6422366" cy="213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9"/>
              </a:lnSpc>
            </a:pPr>
            <a:r>
              <a:rPr lang="en-US" sz="7599" b="1">
                <a:solidFill>
                  <a:srgbClr val="FFD180"/>
                </a:solidFill>
                <a:latin typeface="Kalam Bold"/>
                <a:ea typeface="Kalam Bold"/>
                <a:cs typeface="Kalam Bold"/>
                <a:sym typeface="Kalam Bold"/>
              </a:rPr>
              <a:t>The Scientific Method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72308" y="5186345"/>
            <a:ext cx="5683622" cy="186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>
                <a:solidFill>
                  <a:srgbClr val="FFF8ED"/>
                </a:solidFill>
                <a:latin typeface="Literata"/>
                <a:ea typeface="Literata"/>
                <a:cs typeface="Literata"/>
                <a:sym typeface="Literata"/>
              </a:rPr>
              <a:t>It is a process of investigation to find or produce measurable and reliable results that answer a specific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32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The Scientific Method in Psychology - ppt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80" y="631595"/>
            <a:ext cx="16605820" cy="893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068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43807" y="1114208"/>
            <a:ext cx="8940620" cy="8144092"/>
          </a:xfrm>
          <a:custGeom>
            <a:avLst/>
            <a:gdLst/>
            <a:ahLst/>
            <a:cxnLst/>
            <a:rect l="l" t="t" r="r" b="b"/>
            <a:pathLst>
              <a:path w="8940620" h="8144092">
                <a:moveTo>
                  <a:pt x="0" y="0"/>
                </a:moveTo>
                <a:lnTo>
                  <a:pt x="8940620" y="0"/>
                </a:lnTo>
                <a:lnTo>
                  <a:pt x="8940620" y="8144092"/>
                </a:lnTo>
                <a:lnTo>
                  <a:pt x="0" y="8144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322126" y="2679560"/>
            <a:ext cx="6698431" cy="4470594"/>
            <a:chOff x="0" y="0"/>
            <a:chExt cx="8931241" cy="5960792"/>
          </a:xfrm>
        </p:grpSpPr>
        <p:sp>
          <p:nvSpPr>
            <p:cNvPr id="4" name="Freeform 4"/>
            <p:cNvSpPr/>
            <p:nvPr/>
          </p:nvSpPr>
          <p:spPr>
            <a:xfrm>
              <a:off x="0" y="1419963"/>
              <a:ext cx="2043848" cy="3568623"/>
            </a:xfrm>
            <a:custGeom>
              <a:avLst/>
              <a:gdLst/>
              <a:ahLst/>
              <a:cxnLst/>
              <a:rect l="l" t="t" r="r" b="b"/>
              <a:pathLst>
                <a:path w="2043848" h="3568623">
                  <a:moveTo>
                    <a:pt x="0" y="0"/>
                  </a:moveTo>
                  <a:lnTo>
                    <a:pt x="2043848" y="0"/>
                  </a:lnTo>
                  <a:lnTo>
                    <a:pt x="2043848" y="3568623"/>
                  </a:lnTo>
                  <a:lnTo>
                    <a:pt x="0" y="3568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6906454" y="3204275"/>
              <a:ext cx="2024787" cy="2756517"/>
            </a:xfrm>
            <a:custGeom>
              <a:avLst/>
              <a:gdLst/>
              <a:ahLst/>
              <a:cxnLst/>
              <a:rect l="l" t="t" r="r" b="b"/>
              <a:pathLst>
                <a:path w="2024787" h="2756517">
                  <a:moveTo>
                    <a:pt x="0" y="0"/>
                  </a:moveTo>
                  <a:lnTo>
                    <a:pt x="2024787" y="0"/>
                  </a:lnTo>
                  <a:lnTo>
                    <a:pt x="2024787" y="2756517"/>
                  </a:lnTo>
                  <a:lnTo>
                    <a:pt x="0" y="275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608611" y="455981"/>
              <a:ext cx="6170626" cy="4532605"/>
            </a:xfrm>
            <a:custGeom>
              <a:avLst/>
              <a:gdLst/>
              <a:ahLst/>
              <a:cxnLst/>
              <a:rect l="l" t="t" r="r" b="b"/>
              <a:pathLst>
                <a:path w="6170626" h="4532605">
                  <a:moveTo>
                    <a:pt x="0" y="0"/>
                  </a:moveTo>
                  <a:lnTo>
                    <a:pt x="6170625" y="0"/>
                  </a:lnTo>
                  <a:lnTo>
                    <a:pt x="6170625" y="4532605"/>
                  </a:lnTo>
                  <a:lnTo>
                    <a:pt x="0" y="4532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199869" y="0"/>
              <a:ext cx="1694403" cy="4904850"/>
            </a:xfrm>
            <a:custGeom>
              <a:avLst/>
              <a:gdLst/>
              <a:ahLst/>
              <a:cxnLst/>
              <a:rect l="l" t="t" r="r" b="b"/>
              <a:pathLst>
                <a:path w="1694403" h="4904850">
                  <a:moveTo>
                    <a:pt x="0" y="0"/>
                  </a:moveTo>
                  <a:lnTo>
                    <a:pt x="1694403" y="0"/>
                  </a:lnTo>
                  <a:lnTo>
                    <a:pt x="1694403" y="4904850"/>
                  </a:lnTo>
                  <a:lnTo>
                    <a:pt x="0" y="4904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319762" y="6927932"/>
            <a:ext cx="4388709" cy="80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b="1">
                <a:solidFill>
                  <a:srgbClr val="FFD180"/>
                </a:solidFill>
                <a:latin typeface="Kalam Bold"/>
                <a:ea typeface="Kalam Bold"/>
                <a:cs typeface="Kalam Bold"/>
                <a:sym typeface="Kalam Bold"/>
              </a:rPr>
              <a:t>You observe that plants grow in different directions.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9323" y="4075164"/>
            <a:ext cx="5860312" cy="1077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9"/>
              </a:lnSpc>
            </a:pPr>
            <a:r>
              <a:rPr lang="en-US" sz="7599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Observation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89323" y="5258098"/>
            <a:ext cx="5860312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These are the things or information we note by using our five senses. It is the way we notice important details in our surroundings.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465292" y="1911757"/>
            <a:ext cx="2108374" cy="2104712"/>
            <a:chOff x="0" y="0"/>
            <a:chExt cx="2811165" cy="2806283"/>
          </a:xfrm>
        </p:grpSpPr>
        <p:sp>
          <p:nvSpPr>
            <p:cNvPr id="12" name="Freeform 12"/>
            <p:cNvSpPr/>
            <p:nvPr/>
          </p:nvSpPr>
          <p:spPr>
            <a:xfrm rot="-2902212">
              <a:off x="425511" y="393704"/>
              <a:ext cx="1960143" cy="2018874"/>
            </a:xfrm>
            <a:custGeom>
              <a:avLst/>
              <a:gdLst/>
              <a:ahLst/>
              <a:cxnLst/>
              <a:rect l="l" t="t" r="r" b="b"/>
              <a:pathLst>
                <a:path w="1960143" h="2018874">
                  <a:moveTo>
                    <a:pt x="0" y="0"/>
                  </a:moveTo>
                  <a:lnTo>
                    <a:pt x="1960143" y="0"/>
                  </a:lnTo>
                  <a:lnTo>
                    <a:pt x="1960143" y="2018874"/>
                  </a:lnTo>
                  <a:lnTo>
                    <a:pt x="0" y="201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967547" y="832727"/>
              <a:ext cx="876071" cy="1171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00"/>
                </a:lnSpc>
              </a:pPr>
              <a:r>
                <a:rPr lang="en-US" sz="6000" b="1">
                  <a:solidFill>
                    <a:srgbClr val="FFD180"/>
                  </a:solidFill>
                  <a:latin typeface="Kalam Bold"/>
                  <a:ea typeface="Kalam Bold"/>
                  <a:cs typeface="Kalam Bold"/>
                  <a:sym typeface="Kalam Bold"/>
                </a:rPr>
                <a:t>1.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038189">
            <a:off x="7858598" y="1555364"/>
            <a:ext cx="9311036" cy="8192713"/>
          </a:xfrm>
          <a:custGeom>
            <a:avLst/>
            <a:gdLst/>
            <a:ahLst/>
            <a:cxnLst/>
            <a:rect l="l" t="t" r="r" b="b"/>
            <a:pathLst>
              <a:path w="9311036" h="8192713">
                <a:moveTo>
                  <a:pt x="0" y="0"/>
                </a:moveTo>
                <a:lnTo>
                  <a:pt x="9311037" y="0"/>
                </a:lnTo>
                <a:lnTo>
                  <a:pt x="9311037" y="8192713"/>
                </a:lnTo>
                <a:lnTo>
                  <a:pt x="0" y="8192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97033" y="1493065"/>
            <a:ext cx="4115266" cy="5427809"/>
          </a:xfrm>
          <a:custGeom>
            <a:avLst/>
            <a:gdLst/>
            <a:ahLst/>
            <a:cxnLst/>
            <a:rect l="l" t="t" r="r" b="b"/>
            <a:pathLst>
              <a:path w="4115266" h="5427809">
                <a:moveTo>
                  <a:pt x="0" y="0"/>
                </a:moveTo>
                <a:lnTo>
                  <a:pt x="4115267" y="0"/>
                </a:lnTo>
                <a:lnTo>
                  <a:pt x="4115267" y="5427809"/>
                </a:lnTo>
                <a:lnTo>
                  <a:pt x="0" y="5427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05462" y="6927932"/>
            <a:ext cx="4388709" cy="80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b="1">
                <a:solidFill>
                  <a:srgbClr val="FFF8ED"/>
                </a:solidFill>
                <a:latin typeface="Kalam Bold"/>
                <a:ea typeface="Kalam Bold"/>
                <a:cs typeface="Kalam Bold"/>
                <a:sym typeface="Kalam Bold"/>
              </a:rPr>
              <a:t>“What makes a plant grow in a certain direction?”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89323" y="4075164"/>
            <a:ext cx="5860312" cy="1077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9"/>
              </a:lnSpc>
            </a:pPr>
            <a:r>
              <a:rPr lang="en-US" sz="7599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Question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9323" y="5258098"/>
            <a:ext cx="5860312" cy="2190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The details we noticed during observation will spark our curiosity. The most interesting ones will make us ask questions that we want answered.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465292" y="1911757"/>
            <a:ext cx="2108374" cy="2104712"/>
            <a:chOff x="0" y="0"/>
            <a:chExt cx="2811165" cy="2806283"/>
          </a:xfrm>
        </p:grpSpPr>
        <p:sp>
          <p:nvSpPr>
            <p:cNvPr id="8" name="Freeform 8"/>
            <p:cNvSpPr/>
            <p:nvPr/>
          </p:nvSpPr>
          <p:spPr>
            <a:xfrm rot="-2902212">
              <a:off x="425511" y="393704"/>
              <a:ext cx="1960143" cy="2018874"/>
            </a:xfrm>
            <a:custGeom>
              <a:avLst/>
              <a:gdLst/>
              <a:ahLst/>
              <a:cxnLst/>
              <a:rect l="l" t="t" r="r" b="b"/>
              <a:pathLst>
                <a:path w="1960143" h="2018874">
                  <a:moveTo>
                    <a:pt x="0" y="0"/>
                  </a:moveTo>
                  <a:lnTo>
                    <a:pt x="1960143" y="0"/>
                  </a:lnTo>
                  <a:lnTo>
                    <a:pt x="1960143" y="2018874"/>
                  </a:lnTo>
                  <a:lnTo>
                    <a:pt x="0" y="201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967547" y="832727"/>
              <a:ext cx="876071" cy="1171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00"/>
                </a:lnSpc>
              </a:pPr>
              <a:r>
                <a:rPr lang="en-US" sz="6000" b="1">
                  <a:solidFill>
                    <a:srgbClr val="FFF8ED"/>
                  </a:solidFill>
                  <a:latin typeface="Kalam Bold"/>
                  <a:ea typeface="Kalam Bold"/>
                  <a:cs typeface="Kalam Bold"/>
                  <a:sym typeface="Kalam Bold"/>
                </a:rPr>
                <a:t>2.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5"/>
          <p:cNvSpPr txBox="1"/>
          <p:nvPr/>
        </p:nvSpPr>
        <p:spPr>
          <a:xfrm>
            <a:off x="1589323" y="4071826"/>
            <a:ext cx="5860312" cy="1077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83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99" b="1" i="0" u="none" strike="noStrike" kern="1200" cap="none" spc="0" normalizeH="0" baseline="0" noProof="0">
                <a:ln>
                  <a:noFill/>
                </a:ln>
                <a:solidFill>
                  <a:srgbClr val="293241"/>
                </a:solidFill>
                <a:effectLst/>
                <a:uLnTx/>
                <a:uFillTx/>
                <a:latin typeface="Kalam Bold"/>
                <a:ea typeface="Kalam Bold"/>
                <a:cs typeface="Kalam Bold"/>
                <a:sym typeface="Kalam Bold"/>
              </a:rPr>
              <a:t>Research</a:t>
            </a:r>
          </a:p>
        </p:txBody>
      </p:sp>
      <p:grpSp>
        <p:nvGrpSpPr>
          <p:cNvPr id="18" name="Group 6"/>
          <p:cNvGrpSpPr/>
          <p:nvPr/>
        </p:nvGrpSpPr>
        <p:grpSpPr>
          <a:xfrm>
            <a:off x="3465292" y="1908419"/>
            <a:ext cx="2108374" cy="2104712"/>
            <a:chOff x="0" y="0"/>
            <a:chExt cx="2811165" cy="2806283"/>
          </a:xfrm>
        </p:grpSpPr>
        <p:sp>
          <p:nvSpPr>
            <p:cNvPr id="19" name="Freeform 7"/>
            <p:cNvSpPr/>
            <p:nvPr/>
          </p:nvSpPr>
          <p:spPr>
            <a:xfrm rot="-2902212">
              <a:off x="425511" y="393704"/>
              <a:ext cx="1960143" cy="2018874"/>
            </a:xfrm>
            <a:custGeom>
              <a:avLst/>
              <a:gdLst/>
              <a:ahLst/>
              <a:cxnLst/>
              <a:rect l="l" t="t" r="r" b="b"/>
              <a:pathLst>
                <a:path w="1960143" h="2018874">
                  <a:moveTo>
                    <a:pt x="0" y="0"/>
                  </a:moveTo>
                  <a:lnTo>
                    <a:pt x="1960143" y="0"/>
                  </a:lnTo>
                  <a:lnTo>
                    <a:pt x="1960143" y="2018874"/>
                  </a:lnTo>
                  <a:lnTo>
                    <a:pt x="0" y="201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8"/>
            <p:cNvSpPr txBox="1"/>
            <p:nvPr/>
          </p:nvSpPr>
          <p:spPr>
            <a:xfrm>
              <a:off x="967547" y="832727"/>
              <a:ext cx="876071" cy="1171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6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D180"/>
                  </a:solidFill>
                  <a:effectLst/>
                  <a:uLnTx/>
                  <a:uFillTx/>
                  <a:latin typeface="Kalam Bold"/>
                  <a:ea typeface="Kalam Bold"/>
                  <a:cs typeface="Kalam Bold"/>
                  <a:sym typeface="Kalam Bold"/>
                </a:rPr>
                <a:t>3.</a:t>
              </a:r>
              <a:endPara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D180"/>
                </a:solidFill>
                <a:effectLst/>
                <a:uLnTx/>
                <a:uFillTx/>
                <a:latin typeface="Kalam Bold"/>
                <a:ea typeface="Kalam Bold"/>
                <a:cs typeface="Kalam Bold"/>
                <a:sym typeface="Kalam Bold"/>
              </a:endParaRPr>
            </a:p>
          </p:txBody>
        </p:sp>
      </p:grpSp>
      <p:sp>
        <p:nvSpPr>
          <p:cNvPr id="22" name="TextBox 10"/>
          <p:cNvSpPr txBox="1"/>
          <p:nvPr/>
        </p:nvSpPr>
        <p:spPr>
          <a:xfrm>
            <a:off x="1899041" y="5254760"/>
            <a:ext cx="5240876" cy="306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>
                <a:ln>
                  <a:noFill/>
                </a:ln>
                <a:solidFill>
                  <a:srgbClr val="293241"/>
                </a:solidFill>
                <a:effectLst/>
                <a:uLnTx/>
                <a:uFillTx/>
                <a:latin typeface="Literata"/>
                <a:ea typeface="Literata"/>
                <a:cs typeface="Literata"/>
                <a:sym typeface="Literata"/>
              </a:rPr>
              <a:t>It is important to look up what is already known. Research opens us up to answered and unanswered questions about our topic.</a:t>
            </a:r>
          </a:p>
          <a:p>
            <a:pPr marL="0" marR="0" lvl="0" indent="0" algn="ctr" defTabSz="914400" rtl="0" eaLnBrk="1" fontAlgn="auto" latinLnBrk="0" hangingPunct="1">
              <a:lnSpc>
                <a:spcPts val="3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>
                <a:ln>
                  <a:noFill/>
                </a:ln>
                <a:solidFill>
                  <a:srgbClr val="293241"/>
                </a:solidFill>
                <a:effectLst/>
                <a:uLnTx/>
                <a:uFillTx/>
                <a:latin typeface="Literata"/>
                <a:ea typeface="Literata"/>
                <a:cs typeface="Literata"/>
                <a:sym typeface="Literata"/>
              </a:rPr>
              <a:t>It also prepares us for the next step in this process. </a:t>
            </a:r>
          </a:p>
        </p:txBody>
      </p:sp>
      <p:sp>
        <p:nvSpPr>
          <p:cNvPr id="23" name="Freeform 2"/>
          <p:cNvSpPr/>
          <p:nvPr/>
        </p:nvSpPr>
        <p:spPr>
          <a:xfrm rot="7445156">
            <a:off x="7613031" y="1064826"/>
            <a:ext cx="8816784" cy="9166788"/>
          </a:xfrm>
          <a:custGeom>
            <a:avLst/>
            <a:gdLst/>
            <a:ahLst/>
            <a:cxnLst/>
            <a:rect l="l" t="t" r="r" b="b"/>
            <a:pathLst>
              <a:path w="8816784" h="9166788">
                <a:moveTo>
                  <a:pt x="0" y="0"/>
                </a:moveTo>
                <a:lnTo>
                  <a:pt x="8816784" y="0"/>
                </a:lnTo>
                <a:lnTo>
                  <a:pt x="8816784" y="9166789"/>
                </a:lnTo>
                <a:lnTo>
                  <a:pt x="0" y="91667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3"/>
          <p:cNvGrpSpPr>
            <a:grpSpLocks noChangeAspect="1"/>
          </p:cNvGrpSpPr>
          <p:nvPr/>
        </p:nvGrpSpPr>
        <p:grpSpPr>
          <a:xfrm>
            <a:off x="8951041" y="3468768"/>
            <a:ext cx="6964026" cy="3010141"/>
            <a:chOff x="0" y="0"/>
            <a:chExt cx="12407900" cy="5363210"/>
          </a:xfrm>
        </p:grpSpPr>
        <p:sp>
          <p:nvSpPr>
            <p:cNvPr id="25" name="Freeform 4"/>
            <p:cNvSpPr/>
            <p:nvPr/>
          </p:nvSpPr>
          <p:spPr>
            <a:xfrm>
              <a:off x="273" y="894"/>
              <a:ext cx="12408217" cy="5362901"/>
            </a:xfrm>
            <a:custGeom>
              <a:avLst/>
              <a:gdLst/>
              <a:ahLst/>
              <a:cxnLst/>
              <a:rect l="l" t="t" r="r" b="b"/>
              <a:pathLst>
                <a:path w="12408217" h="5362901">
                  <a:moveTo>
                    <a:pt x="257537" y="916046"/>
                  </a:moveTo>
                  <a:cubicBezTo>
                    <a:pt x="1389107" y="-1300104"/>
                    <a:pt x="5807437" y="1660266"/>
                    <a:pt x="7562577" y="579496"/>
                  </a:cubicBezTo>
                  <a:cubicBezTo>
                    <a:pt x="10082257" y="-971174"/>
                    <a:pt x="13390607" y="744596"/>
                    <a:pt x="12132037" y="3891656"/>
                  </a:cubicBezTo>
                  <a:cubicBezTo>
                    <a:pt x="11490687" y="5495666"/>
                    <a:pt x="8574766" y="4223126"/>
                    <a:pt x="7237457" y="4864476"/>
                  </a:cubicBezTo>
                  <a:cubicBezTo>
                    <a:pt x="3775437" y="6521826"/>
                    <a:pt x="-1188993" y="3748146"/>
                    <a:pt x="257538" y="916046"/>
                  </a:cubicBezTo>
                  <a:close/>
                </a:path>
              </a:pathLst>
            </a:custGeom>
            <a:blipFill>
              <a:blip r:embed="rId8"/>
              <a:stretch>
                <a:fillRect t="-20372" b="-34067"/>
              </a:stretch>
            </a:blipFill>
          </p:spPr>
        </p:sp>
      </p:grpSp>
      <p:sp>
        <p:nvSpPr>
          <p:cNvPr id="26" name="TextBox 9"/>
          <p:cNvSpPr txBox="1"/>
          <p:nvPr/>
        </p:nvSpPr>
        <p:spPr>
          <a:xfrm>
            <a:off x="9436243" y="6930970"/>
            <a:ext cx="5539089" cy="80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4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1" i="0" u="none" strike="noStrike" kern="1200" cap="none" spc="0" normalizeH="0" baseline="0" noProof="0">
                <a:ln>
                  <a:noFill/>
                </a:ln>
                <a:solidFill>
                  <a:srgbClr val="FFD180"/>
                </a:solidFill>
                <a:effectLst/>
                <a:uLnTx/>
                <a:uFillTx/>
                <a:latin typeface="Kalam Bold"/>
                <a:ea typeface="Kalam Bold"/>
                <a:cs typeface="Kalam Bold"/>
                <a:sym typeface="Kalam Bold"/>
              </a:rPr>
              <a:t>You learn about phototropism, or how plants respond to a light source.</a:t>
            </a:r>
          </a:p>
        </p:txBody>
      </p:sp>
    </p:spTree>
    <p:extLst>
      <p:ext uri="{BB962C8B-B14F-4D97-AF65-F5344CB8AC3E}">
        <p14:creationId xmlns:p14="http://schemas.microsoft.com/office/powerpoint/2010/main" val="1072644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55648" y="1028700"/>
            <a:ext cx="9879388" cy="7829415"/>
            <a:chOff x="0" y="0"/>
            <a:chExt cx="13172517" cy="104392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2517" cy="10439220"/>
            </a:xfrm>
            <a:custGeom>
              <a:avLst/>
              <a:gdLst/>
              <a:ahLst/>
              <a:cxnLst/>
              <a:rect l="l" t="t" r="r" b="b"/>
              <a:pathLst>
                <a:path w="13172517" h="10439220">
                  <a:moveTo>
                    <a:pt x="0" y="0"/>
                  </a:moveTo>
                  <a:lnTo>
                    <a:pt x="13172517" y="0"/>
                  </a:lnTo>
                  <a:lnTo>
                    <a:pt x="13172517" y="10439220"/>
                  </a:lnTo>
                  <a:lnTo>
                    <a:pt x="0" y="10439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H="1">
              <a:off x="4177969" y="914806"/>
              <a:ext cx="5019779" cy="6557907"/>
            </a:xfrm>
            <a:custGeom>
              <a:avLst/>
              <a:gdLst/>
              <a:ahLst/>
              <a:cxnLst/>
              <a:rect l="l" t="t" r="r" b="b"/>
              <a:pathLst>
                <a:path w="5019779" h="6557907">
                  <a:moveTo>
                    <a:pt x="5019779" y="0"/>
                  </a:moveTo>
                  <a:lnTo>
                    <a:pt x="0" y="0"/>
                  </a:lnTo>
                  <a:lnTo>
                    <a:pt x="0" y="6557906"/>
                  </a:lnTo>
                  <a:lnTo>
                    <a:pt x="5019779" y="6557906"/>
                  </a:lnTo>
                  <a:lnTo>
                    <a:pt x="5019779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4177969" y="1186967"/>
              <a:ext cx="1410138" cy="1551090"/>
              <a:chOff x="0" y="0"/>
              <a:chExt cx="278546" cy="30638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78546" cy="306388"/>
              </a:xfrm>
              <a:custGeom>
                <a:avLst/>
                <a:gdLst/>
                <a:ahLst/>
                <a:cxnLst/>
                <a:rect l="l" t="t" r="r" b="b"/>
                <a:pathLst>
                  <a:path w="278546" h="306388">
                    <a:moveTo>
                      <a:pt x="0" y="0"/>
                    </a:moveTo>
                    <a:lnTo>
                      <a:pt x="278546" y="0"/>
                    </a:lnTo>
                    <a:lnTo>
                      <a:pt x="278546" y="306388"/>
                    </a:lnTo>
                    <a:lnTo>
                      <a:pt x="0" y="306388"/>
                    </a:lnTo>
                    <a:close/>
                  </a:path>
                </a:pathLst>
              </a:custGeom>
              <a:solidFill>
                <a:srgbClr val="293241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278546" cy="3349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49"/>
                  </a:lnSpc>
                </a:pPr>
                <a:endParaRPr/>
              </a:p>
            </p:txBody>
          </p:sp>
        </p:grpSp>
      </p:grpSp>
      <p:sp>
        <p:nvSpPr>
          <p:cNvPr id="8" name="Freeform 8"/>
          <p:cNvSpPr/>
          <p:nvPr/>
        </p:nvSpPr>
        <p:spPr>
          <a:xfrm rot="-724146">
            <a:off x="10289848" y="2046519"/>
            <a:ext cx="1098340" cy="1875855"/>
          </a:xfrm>
          <a:custGeom>
            <a:avLst/>
            <a:gdLst/>
            <a:ahLst/>
            <a:cxnLst/>
            <a:rect l="l" t="t" r="r" b="b"/>
            <a:pathLst>
              <a:path w="1098340" h="1875855">
                <a:moveTo>
                  <a:pt x="0" y="0"/>
                </a:moveTo>
                <a:lnTo>
                  <a:pt x="1098339" y="0"/>
                </a:lnTo>
                <a:lnTo>
                  <a:pt x="1098339" y="1875856"/>
                </a:lnTo>
                <a:lnTo>
                  <a:pt x="0" y="18758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l="-287770" b="-19661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302893" y="6924784"/>
            <a:ext cx="5937298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b="1">
                <a:solidFill>
                  <a:srgbClr val="FFF8ED"/>
                </a:solidFill>
                <a:latin typeface="Kalam Bold"/>
                <a:ea typeface="Kalam Bold"/>
                <a:cs typeface="Kalam Bold"/>
                <a:sym typeface="Kalam Bold"/>
              </a:rPr>
              <a:t>The direction of the plant growth depends on the location of the light source.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89323" y="4075164"/>
            <a:ext cx="5860312" cy="1077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9"/>
              </a:lnSpc>
            </a:pPr>
            <a:r>
              <a:rPr lang="en-US" sz="7599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Hypothesis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9323" y="5258098"/>
            <a:ext cx="5782882" cy="306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It is the tentative explanation to our initial question based on what we know so far. </a:t>
            </a:r>
          </a:p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As scientists or science learners, our initial research and keen observation equip us to form informed hypotheses.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465292" y="1911757"/>
            <a:ext cx="2108374" cy="2104712"/>
            <a:chOff x="0" y="0"/>
            <a:chExt cx="2811165" cy="2806283"/>
          </a:xfrm>
        </p:grpSpPr>
        <p:sp>
          <p:nvSpPr>
            <p:cNvPr id="13" name="Freeform 13"/>
            <p:cNvSpPr/>
            <p:nvPr/>
          </p:nvSpPr>
          <p:spPr>
            <a:xfrm rot="-2902212">
              <a:off x="425511" y="393704"/>
              <a:ext cx="1960143" cy="2018874"/>
            </a:xfrm>
            <a:custGeom>
              <a:avLst/>
              <a:gdLst/>
              <a:ahLst/>
              <a:cxnLst/>
              <a:rect l="l" t="t" r="r" b="b"/>
              <a:pathLst>
                <a:path w="1960143" h="2018874">
                  <a:moveTo>
                    <a:pt x="0" y="0"/>
                  </a:moveTo>
                  <a:lnTo>
                    <a:pt x="1960143" y="0"/>
                  </a:lnTo>
                  <a:lnTo>
                    <a:pt x="1960143" y="2018874"/>
                  </a:lnTo>
                  <a:lnTo>
                    <a:pt x="0" y="201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967547" y="832727"/>
              <a:ext cx="876071" cy="1171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00"/>
                </a:lnSpc>
              </a:pPr>
              <a:r>
                <a:rPr lang="en-US" sz="6000" b="1" dirty="0" smtClean="0">
                  <a:solidFill>
                    <a:srgbClr val="FFF8ED"/>
                  </a:solidFill>
                  <a:latin typeface="Kalam Bold"/>
                  <a:ea typeface="Kalam Bold"/>
                  <a:cs typeface="Kalam Bold"/>
                  <a:sym typeface="Kalam Bold"/>
                </a:rPr>
                <a:t>4.</a:t>
              </a:r>
              <a:endParaRPr lang="en-US" sz="6000" b="1" dirty="0">
                <a:solidFill>
                  <a:srgbClr val="FFF8ED"/>
                </a:solidFill>
                <a:latin typeface="Kalam Bold"/>
                <a:ea typeface="Kalam Bold"/>
                <a:cs typeface="Kalam Bold"/>
                <a:sym typeface="Kalam Bold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4"/>
          <p:cNvSpPr txBox="1"/>
          <p:nvPr/>
        </p:nvSpPr>
        <p:spPr>
          <a:xfrm>
            <a:off x="9884147" y="6918407"/>
            <a:ext cx="5472721" cy="80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b="1">
                <a:solidFill>
                  <a:srgbClr val="FFD180"/>
                </a:solidFill>
                <a:latin typeface="Kalam Bold"/>
                <a:ea typeface="Kalam Bold"/>
                <a:cs typeface="Kalam Bold"/>
                <a:sym typeface="Kalam Bold"/>
              </a:rPr>
              <a:t>You can set up an experiment using plants. Record your data thoroughly. </a:t>
            </a:r>
          </a:p>
        </p:txBody>
      </p:sp>
      <p:sp>
        <p:nvSpPr>
          <p:cNvPr id="17" name="TextBox 5"/>
          <p:cNvSpPr txBox="1"/>
          <p:nvPr/>
        </p:nvSpPr>
        <p:spPr>
          <a:xfrm>
            <a:off x="1589323" y="4075164"/>
            <a:ext cx="5860312" cy="1077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9"/>
              </a:lnSpc>
            </a:pPr>
            <a:r>
              <a:rPr lang="en-US" sz="7599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Experiment</a:t>
            </a:r>
          </a:p>
        </p:txBody>
      </p:sp>
      <p:sp>
        <p:nvSpPr>
          <p:cNvPr id="18" name="TextBox 6"/>
          <p:cNvSpPr txBox="1"/>
          <p:nvPr/>
        </p:nvSpPr>
        <p:spPr>
          <a:xfrm>
            <a:off x="1589323" y="5258098"/>
            <a:ext cx="5860312" cy="26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This is the stage where we get to test our hypothesis. It can be a test or a series of tests done in a controlled environment to validate our observations and answer our questions.</a:t>
            </a:r>
          </a:p>
        </p:txBody>
      </p:sp>
      <p:grpSp>
        <p:nvGrpSpPr>
          <p:cNvPr id="19" name="Group 7"/>
          <p:cNvGrpSpPr/>
          <p:nvPr/>
        </p:nvGrpSpPr>
        <p:grpSpPr>
          <a:xfrm>
            <a:off x="3465292" y="1911757"/>
            <a:ext cx="2108374" cy="2104712"/>
            <a:chOff x="0" y="0"/>
            <a:chExt cx="2811165" cy="2806283"/>
          </a:xfrm>
        </p:grpSpPr>
        <p:sp>
          <p:nvSpPr>
            <p:cNvPr id="20" name="Freeform 8"/>
            <p:cNvSpPr/>
            <p:nvPr/>
          </p:nvSpPr>
          <p:spPr>
            <a:xfrm rot="-2902212">
              <a:off x="425511" y="393704"/>
              <a:ext cx="1960143" cy="2018874"/>
            </a:xfrm>
            <a:custGeom>
              <a:avLst/>
              <a:gdLst/>
              <a:ahLst/>
              <a:cxnLst/>
              <a:rect l="l" t="t" r="r" b="b"/>
              <a:pathLst>
                <a:path w="1960143" h="2018874">
                  <a:moveTo>
                    <a:pt x="0" y="0"/>
                  </a:moveTo>
                  <a:lnTo>
                    <a:pt x="1960143" y="0"/>
                  </a:lnTo>
                  <a:lnTo>
                    <a:pt x="1960143" y="2018874"/>
                  </a:lnTo>
                  <a:lnTo>
                    <a:pt x="0" y="201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9"/>
            <p:cNvSpPr txBox="1"/>
            <p:nvPr/>
          </p:nvSpPr>
          <p:spPr>
            <a:xfrm>
              <a:off x="967547" y="832727"/>
              <a:ext cx="876071" cy="1171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00"/>
                </a:lnSpc>
              </a:pPr>
              <a:r>
                <a:rPr lang="en-US" sz="6000" b="1" dirty="0" smtClean="0">
                  <a:solidFill>
                    <a:srgbClr val="FFD180"/>
                  </a:solidFill>
                  <a:latin typeface="Kalam Bold"/>
                  <a:ea typeface="Kalam Bold"/>
                  <a:cs typeface="Kalam Bold"/>
                  <a:sym typeface="Kalam Bold"/>
                </a:rPr>
                <a:t>5.</a:t>
              </a:r>
              <a:endParaRPr lang="en-US" sz="6000" b="1" dirty="0">
                <a:solidFill>
                  <a:srgbClr val="FFD180"/>
                </a:solidFill>
                <a:latin typeface="Kalam Bold"/>
                <a:ea typeface="Kalam Bold"/>
                <a:cs typeface="Kalam Bold"/>
                <a:sym typeface="Kalam Bold"/>
              </a:endParaRPr>
            </a:p>
          </p:txBody>
        </p:sp>
      </p:grpSp>
      <p:sp>
        <p:nvSpPr>
          <p:cNvPr id="22" name="Freeform 2"/>
          <p:cNvSpPr/>
          <p:nvPr/>
        </p:nvSpPr>
        <p:spPr>
          <a:xfrm rot="10038189">
            <a:off x="8190458" y="1003387"/>
            <a:ext cx="9311036" cy="8192713"/>
          </a:xfrm>
          <a:custGeom>
            <a:avLst/>
            <a:gdLst/>
            <a:ahLst/>
            <a:cxnLst/>
            <a:rect l="l" t="t" r="r" b="b"/>
            <a:pathLst>
              <a:path w="9311036" h="8192713">
                <a:moveTo>
                  <a:pt x="0" y="0"/>
                </a:moveTo>
                <a:lnTo>
                  <a:pt x="9311037" y="0"/>
                </a:lnTo>
                <a:lnTo>
                  <a:pt x="9311037" y="8192713"/>
                </a:lnTo>
                <a:lnTo>
                  <a:pt x="0" y="8192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3"/>
          <p:cNvSpPr/>
          <p:nvPr/>
        </p:nvSpPr>
        <p:spPr>
          <a:xfrm>
            <a:off x="10341649" y="1959561"/>
            <a:ext cx="5054337" cy="5128939"/>
          </a:xfrm>
          <a:custGeom>
            <a:avLst/>
            <a:gdLst/>
            <a:ahLst/>
            <a:cxnLst/>
            <a:rect l="l" t="t" r="r" b="b"/>
            <a:pathLst>
              <a:path w="5054337" h="5128939">
                <a:moveTo>
                  <a:pt x="0" y="0"/>
                </a:moveTo>
                <a:lnTo>
                  <a:pt x="5054337" y="0"/>
                </a:lnTo>
                <a:lnTo>
                  <a:pt x="5054337" y="5128939"/>
                </a:lnTo>
                <a:lnTo>
                  <a:pt x="0" y="51289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0470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06400" y="-342900"/>
            <a:ext cx="5410200" cy="3886200"/>
            <a:chOff x="0" y="0"/>
            <a:chExt cx="13172517" cy="104392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2517" cy="10439220"/>
            </a:xfrm>
            <a:custGeom>
              <a:avLst/>
              <a:gdLst/>
              <a:ahLst/>
              <a:cxnLst/>
              <a:rect l="l" t="t" r="r" b="b"/>
              <a:pathLst>
                <a:path w="13172517" h="10439220">
                  <a:moveTo>
                    <a:pt x="0" y="0"/>
                  </a:moveTo>
                  <a:lnTo>
                    <a:pt x="13172517" y="0"/>
                  </a:lnTo>
                  <a:lnTo>
                    <a:pt x="13172517" y="10439220"/>
                  </a:lnTo>
                  <a:lnTo>
                    <a:pt x="0" y="10439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H="1">
              <a:off x="5904057" y="1975119"/>
              <a:ext cx="2744681" cy="2764830"/>
            </a:xfrm>
            <a:custGeom>
              <a:avLst/>
              <a:gdLst/>
              <a:ahLst/>
              <a:cxnLst/>
              <a:rect l="l" t="t" r="r" b="b"/>
              <a:pathLst>
                <a:path w="5019779" h="6557907">
                  <a:moveTo>
                    <a:pt x="5019779" y="0"/>
                  </a:moveTo>
                  <a:lnTo>
                    <a:pt x="0" y="0"/>
                  </a:lnTo>
                  <a:lnTo>
                    <a:pt x="0" y="6557906"/>
                  </a:lnTo>
                  <a:lnTo>
                    <a:pt x="5019779" y="6557906"/>
                  </a:lnTo>
                  <a:lnTo>
                    <a:pt x="5019779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4177969" y="1186967"/>
              <a:ext cx="1410138" cy="1551090"/>
              <a:chOff x="0" y="0"/>
              <a:chExt cx="278546" cy="30638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78546" cy="306388"/>
              </a:xfrm>
              <a:custGeom>
                <a:avLst/>
                <a:gdLst/>
                <a:ahLst/>
                <a:cxnLst/>
                <a:rect l="l" t="t" r="r" b="b"/>
                <a:pathLst>
                  <a:path w="278546" h="306388">
                    <a:moveTo>
                      <a:pt x="0" y="0"/>
                    </a:moveTo>
                    <a:lnTo>
                      <a:pt x="278546" y="0"/>
                    </a:lnTo>
                    <a:lnTo>
                      <a:pt x="278546" y="306388"/>
                    </a:lnTo>
                    <a:lnTo>
                      <a:pt x="0" y="306388"/>
                    </a:lnTo>
                    <a:close/>
                  </a:path>
                </a:pathLst>
              </a:custGeom>
              <a:solidFill>
                <a:srgbClr val="293241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278546" cy="3349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24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13954993" y="1600200"/>
            <a:ext cx="3713013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4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1" i="0" u="none" strike="noStrike" kern="1200" cap="none" spc="0" normalizeH="0" baseline="0" noProof="0" dirty="0">
                <a:ln>
                  <a:noFill/>
                </a:ln>
                <a:solidFill>
                  <a:srgbClr val="FFF8ED"/>
                </a:solidFill>
                <a:effectLst/>
                <a:uLnTx/>
                <a:uFillTx/>
                <a:latin typeface="Kalam Bold"/>
                <a:ea typeface="Kalam Bold"/>
                <a:cs typeface="Kalam Bold"/>
                <a:sym typeface="Kalam Bold"/>
              </a:rPr>
              <a:t>The direction of the plant growth depends on the location of the light source.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2266" y="825691"/>
            <a:ext cx="5860312" cy="11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83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99" b="1" dirty="0" smtClean="0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Variables</a:t>
            </a:r>
            <a:endParaRPr kumimoji="0" lang="en-US" sz="7599" b="1" i="0" u="none" strike="noStrike" kern="1200" cap="none" spc="0" normalizeH="0" baseline="0" noProof="0" dirty="0">
              <a:ln>
                <a:noFill/>
              </a:ln>
              <a:solidFill>
                <a:srgbClr val="293241"/>
              </a:solidFill>
              <a:effectLst/>
              <a:uLnTx/>
              <a:uFillTx/>
              <a:latin typeface="Kalam Bold"/>
              <a:ea typeface="Kalam Bold"/>
              <a:cs typeface="Kalam Bold"/>
              <a:sym typeface="Kalam Bold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22266" y="2208856"/>
            <a:ext cx="5741570" cy="7386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Literata" panose="020B0604020202020204" charset="0"/>
              </a:rPr>
              <a:t>A variable in research is something that can change or have different values and is studied by the researcher</a:t>
            </a:r>
            <a:r>
              <a:rPr lang="en-US" sz="2400" dirty="0" smtClean="0">
                <a:latin typeface="Literata" panose="020B0604020202020204" charset="0"/>
              </a:rPr>
              <a:t>.</a:t>
            </a:r>
          </a:p>
          <a:p>
            <a:pPr algn="just"/>
            <a:endParaRPr lang="en-US" sz="2400" dirty="0" smtClean="0">
              <a:latin typeface="Literata" panose="020B06040202020202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Independent Variable: </a:t>
            </a:r>
            <a:r>
              <a:rPr lang="en-US" sz="2400" dirty="0">
                <a:latin typeface="Literata" panose="020B0604020202020204" charset="0"/>
              </a:rPr>
              <a:t>The variable that is manipulated </a:t>
            </a:r>
            <a:r>
              <a:rPr lang="en-US" sz="2400" dirty="0" smtClean="0">
                <a:latin typeface="Literata" panose="020B0604020202020204" charset="0"/>
              </a:rPr>
              <a:t>or changed </a:t>
            </a:r>
            <a:r>
              <a:rPr lang="en-US" sz="2400" dirty="0">
                <a:latin typeface="Literata" panose="020B0604020202020204" charset="0"/>
              </a:rPr>
              <a:t>in the experiment.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Literata" panose="020B06040202020202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Dependent Variable: </a:t>
            </a:r>
            <a:r>
              <a:rPr lang="en-US" sz="2400" dirty="0">
                <a:latin typeface="Literata" panose="020B0604020202020204" charset="0"/>
              </a:rPr>
              <a:t>The variable that is measured or observed </a:t>
            </a:r>
            <a:r>
              <a:rPr lang="en-US" sz="2400" dirty="0" smtClean="0">
                <a:latin typeface="Literata" panose="020B0604020202020204" charset="0"/>
              </a:rPr>
              <a:t>to assess </a:t>
            </a:r>
            <a:r>
              <a:rPr lang="en-US" sz="2400" dirty="0">
                <a:latin typeface="Literata" panose="020B0604020202020204" charset="0"/>
              </a:rPr>
              <a:t>the effect of the independent variable.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Literata" panose="020B06040202020202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Control Variables: </a:t>
            </a:r>
            <a:r>
              <a:rPr lang="en-US" sz="2400" dirty="0">
                <a:latin typeface="Literata" panose="020B0604020202020204" charset="0"/>
              </a:rPr>
              <a:t>Factors that are kept constant to ensure </a:t>
            </a:r>
            <a:r>
              <a:rPr lang="en-US" sz="2400" dirty="0" smtClean="0">
                <a:latin typeface="Literata" panose="020B0604020202020204" charset="0"/>
              </a:rPr>
              <a:t>that any </a:t>
            </a:r>
            <a:r>
              <a:rPr lang="en-US" sz="2400" dirty="0">
                <a:latin typeface="Literata" panose="020B0604020202020204" charset="0"/>
              </a:rPr>
              <a:t>changes in the dependent variable are due to the </a:t>
            </a:r>
            <a:r>
              <a:rPr lang="en-US" sz="2400" dirty="0" smtClean="0">
                <a:latin typeface="Literata" panose="020B0604020202020204" charset="0"/>
              </a:rPr>
              <a:t>manipulation of </a:t>
            </a:r>
            <a:r>
              <a:rPr lang="en-US" sz="2400" dirty="0">
                <a:latin typeface="Literata" panose="020B0604020202020204" charset="0"/>
              </a:rPr>
              <a:t>the independent variable.</a:t>
            </a:r>
            <a:endParaRPr lang="en-US" sz="2400" dirty="0" smtClean="0">
              <a:latin typeface="Literata" panose="020B0604020202020204" charset="0"/>
            </a:endParaRPr>
          </a:p>
          <a:p>
            <a:pPr algn="just"/>
            <a:endParaRPr lang="en-US" dirty="0">
              <a:latin typeface="Literata" panose="020B06040202020202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53400" y="5926134"/>
            <a:ext cx="9144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400" dirty="0" smtClean="0">
                <a:latin typeface="Literata" panose="020B0604020202020204" charset="0"/>
              </a:rPr>
              <a:t>For example: </a:t>
            </a:r>
          </a:p>
          <a:p>
            <a:pPr algn="just"/>
            <a:r>
              <a:rPr lang="en-US" sz="2400" dirty="0" smtClean="0">
                <a:latin typeface="Literata" panose="020B0604020202020204" charset="0"/>
              </a:rPr>
              <a:t>🌱 </a:t>
            </a:r>
            <a:r>
              <a:rPr lang="en-US" sz="2400" dirty="0">
                <a:latin typeface="Literata" panose="020B0604020202020204" charset="0"/>
              </a:rPr>
              <a:t>Independent variable: Location of the light source — the factor that is changed.</a:t>
            </a:r>
          </a:p>
          <a:p>
            <a:pPr algn="just"/>
            <a:r>
              <a:rPr lang="en-US" sz="2400" dirty="0">
                <a:latin typeface="Literata" panose="020B0604020202020204" charset="0"/>
              </a:rPr>
              <a:t>🌿 Dependent variable: Direction of plant growth — the factor that is observed or measured</a:t>
            </a:r>
            <a:r>
              <a:rPr lang="en-US" sz="2400" dirty="0" smtClean="0">
                <a:latin typeface="Literata" panose="020B0604020202020204" charset="0"/>
              </a:rPr>
              <a:t>.</a:t>
            </a:r>
          </a:p>
          <a:p>
            <a:pPr algn="just"/>
            <a:r>
              <a:rPr lang="en-US" sz="2400" dirty="0">
                <a:latin typeface="Literata" panose="020B0604020202020204" charset="0"/>
              </a:rPr>
              <a:t>💧 Control </a:t>
            </a:r>
            <a:r>
              <a:rPr lang="en-US" sz="2400" dirty="0" smtClean="0">
                <a:latin typeface="Literata" panose="020B0604020202020204" charset="0"/>
              </a:rPr>
              <a:t>Variable:  Amount </a:t>
            </a:r>
            <a:r>
              <a:rPr lang="en-US" sz="2400" dirty="0">
                <a:latin typeface="Literata" panose="020B0604020202020204" charset="0"/>
              </a:rPr>
              <a:t>of water, soil type, </a:t>
            </a:r>
            <a:r>
              <a:rPr lang="en-US" sz="2400" dirty="0" smtClean="0">
                <a:latin typeface="Literata" panose="020B0604020202020204" charset="0"/>
              </a:rPr>
              <a:t>temperature</a:t>
            </a:r>
          </a:p>
          <a:p>
            <a:pPr algn="just"/>
            <a:r>
              <a:rPr lang="en-US" sz="2400" dirty="0">
                <a:latin typeface="Literata" panose="020B0604020202020204" charset="0"/>
              </a:rPr>
              <a:t>Confounding </a:t>
            </a:r>
            <a:r>
              <a:rPr lang="en-US" sz="2400" dirty="0" smtClean="0">
                <a:latin typeface="Literata" panose="020B0604020202020204" charset="0"/>
              </a:rPr>
              <a:t>variable: Wind</a:t>
            </a:r>
            <a:r>
              <a:rPr lang="en-US" sz="2400" dirty="0">
                <a:latin typeface="Literata" panose="020B0604020202020204" charset="0"/>
              </a:rPr>
              <a:t>, if it affects the plant's growth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949887"/>
            <a:ext cx="9144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Confounding </a:t>
            </a: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variables: </a:t>
            </a:r>
            <a:r>
              <a:rPr lang="en-US" sz="2400" dirty="0" smtClean="0">
                <a:latin typeface="Literata" panose="020B0604020202020204" charset="0"/>
              </a:rPr>
              <a:t>A </a:t>
            </a:r>
            <a:r>
              <a:rPr lang="en-US" sz="2400" dirty="0">
                <a:latin typeface="Literata" panose="020B0604020202020204" charset="0"/>
              </a:rPr>
              <a:t>confounding variable is an extra factor that can affect the results of a research study, making it difficult to know whether the independent variable really caused the change.</a:t>
            </a:r>
          </a:p>
        </p:txBody>
      </p:sp>
    </p:spTree>
    <p:extLst>
      <p:ext uri="{BB962C8B-B14F-4D97-AF65-F5344CB8AC3E}">
        <p14:creationId xmlns:p14="http://schemas.microsoft.com/office/powerpoint/2010/main" val="4003779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400"/>
          <a:stretch/>
        </p:blipFill>
        <p:spPr>
          <a:xfrm>
            <a:off x="2000250" y="381000"/>
            <a:ext cx="14287500" cy="910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00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02212">
            <a:off x="3784426" y="2203697"/>
            <a:ext cx="1470107" cy="1514156"/>
          </a:xfrm>
          <a:custGeom>
            <a:avLst/>
            <a:gdLst/>
            <a:ahLst/>
            <a:cxnLst/>
            <a:rect l="l" t="t" r="r" b="b"/>
            <a:pathLst>
              <a:path w="1470107" h="1514156">
                <a:moveTo>
                  <a:pt x="0" y="0"/>
                </a:moveTo>
                <a:lnTo>
                  <a:pt x="1470107" y="0"/>
                </a:lnTo>
                <a:lnTo>
                  <a:pt x="1470107" y="1514156"/>
                </a:lnTo>
                <a:lnTo>
                  <a:pt x="0" y="151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480547" flipH="1">
            <a:off x="7864070" y="1032357"/>
            <a:ext cx="8816784" cy="9166788"/>
          </a:xfrm>
          <a:custGeom>
            <a:avLst/>
            <a:gdLst/>
            <a:ahLst/>
            <a:cxnLst/>
            <a:rect l="l" t="t" r="r" b="b"/>
            <a:pathLst>
              <a:path w="8816784" h="9166788">
                <a:moveTo>
                  <a:pt x="8816784" y="0"/>
                </a:moveTo>
                <a:lnTo>
                  <a:pt x="0" y="0"/>
                </a:lnTo>
                <a:lnTo>
                  <a:pt x="0" y="9166789"/>
                </a:lnTo>
                <a:lnTo>
                  <a:pt x="8816784" y="9166789"/>
                </a:lnTo>
                <a:lnTo>
                  <a:pt x="88167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436243" y="6927932"/>
            <a:ext cx="5539089" cy="80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b="1">
                <a:solidFill>
                  <a:srgbClr val="FFF8ED"/>
                </a:solidFill>
                <a:latin typeface="Kalam Bold"/>
                <a:ea typeface="Kalam Bold"/>
                <a:cs typeface="Kalam Bold"/>
                <a:sym typeface="Kalam Bold"/>
              </a:rPr>
              <a:t>What worked and did not work during your experiment?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89323" y="4071826"/>
            <a:ext cx="5860312" cy="1077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9"/>
              </a:lnSpc>
            </a:pPr>
            <a:r>
              <a:rPr lang="en-US" sz="7599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99041" y="5254760"/>
            <a:ext cx="5240876" cy="26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This is when we compare our expected results with our actual results. We gather measurable results that can prove if our hypothesis is true or false.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90953" y="2544870"/>
            <a:ext cx="65705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 smtClean="0">
                <a:solidFill>
                  <a:srgbClr val="FFD180"/>
                </a:solidFill>
                <a:latin typeface="Kalam Bold"/>
                <a:ea typeface="Kalam Bold"/>
                <a:cs typeface="Kalam Bold"/>
                <a:sym typeface="Kalam Bold"/>
              </a:rPr>
              <a:t>6.</a:t>
            </a:r>
            <a:endParaRPr lang="en-US" sz="6000" b="1" dirty="0">
              <a:solidFill>
                <a:srgbClr val="FFD180"/>
              </a:solidFill>
              <a:latin typeface="Kalam Bold"/>
              <a:ea typeface="Kalam Bold"/>
              <a:cs typeface="Kalam Bold"/>
              <a:sym typeface="Kalam Bold"/>
            </a:endParaRPr>
          </a:p>
        </p:txBody>
      </p:sp>
      <p:sp>
        <p:nvSpPr>
          <p:cNvPr id="8" name="Freeform 8"/>
          <p:cNvSpPr/>
          <p:nvPr/>
        </p:nvSpPr>
        <p:spPr>
          <a:xfrm flipH="1">
            <a:off x="8930525" y="1772898"/>
            <a:ext cx="6177710" cy="4796150"/>
          </a:xfrm>
          <a:custGeom>
            <a:avLst/>
            <a:gdLst/>
            <a:ahLst/>
            <a:cxnLst/>
            <a:rect l="l" t="t" r="r" b="b"/>
            <a:pathLst>
              <a:path w="6177710" h="4796150">
                <a:moveTo>
                  <a:pt x="6177710" y="0"/>
                </a:moveTo>
                <a:lnTo>
                  <a:pt x="0" y="0"/>
                </a:lnTo>
                <a:lnTo>
                  <a:pt x="0" y="4796150"/>
                </a:lnTo>
                <a:lnTo>
                  <a:pt x="6177710" y="4796150"/>
                </a:lnTo>
                <a:lnTo>
                  <a:pt x="61777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/>
          <p:cNvSpPr/>
          <p:nvPr/>
        </p:nvSpPr>
        <p:spPr>
          <a:xfrm rot="-2902212">
            <a:off x="3784426" y="2207036"/>
            <a:ext cx="1470107" cy="1514156"/>
          </a:xfrm>
          <a:custGeom>
            <a:avLst/>
            <a:gdLst/>
            <a:ahLst/>
            <a:cxnLst/>
            <a:rect l="l" t="t" r="r" b="b"/>
            <a:pathLst>
              <a:path w="1470107" h="1514156">
                <a:moveTo>
                  <a:pt x="0" y="0"/>
                </a:moveTo>
                <a:lnTo>
                  <a:pt x="1470107" y="0"/>
                </a:lnTo>
                <a:lnTo>
                  <a:pt x="1470107" y="1514155"/>
                </a:lnTo>
                <a:lnTo>
                  <a:pt x="0" y="1514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3"/>
          <p:cNvSpPr/>
          <p:nvPr/>
        </p:nvSpPr>
        <p:spPr>
          <a:xfrm>
            <a:off x="8576668" y="1881333"/>
            <a:ext cx="8150807" cy="6772580"/>
          </a:xfrm>
          <a:custGeom>
            <a:avLst/>
            <a:gdLst/>
            <a:ahLst/>
            <a:cxnLst/>
            <a:rect l="l" t="t" r="r" b="b"/>
            <a:pathLst>
              <a:path w="8150807" h="6772580">
                <a:moveTo>
                  <a:pt x="0" y="0"/>
                </a:moveTo>
                <a:lnTo>
                  <a:pt x="8150807" y="0"/>
                </a:lnTo>
                <a:lnTo>
                  <a:pt x="8150807" y="6772580"/>
                </a:lnTo>
                <a:lnTo>
                  <a:pt x="0" y="67725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4"/>
          <p:cNvSpPr/>
          <p:nvPr/>
        </p:nvSpPr>
        <p:spPr>
          <a:xfrm>
            <a:off x="9466252" y="1487238"/>
            <a:ext cx="6228612" cy="5130111"/>
          </a:xfrm>
          <a:custGeom>
            <a:avLst/>
            <a:gdLst/>
            <a:ahLst/>
            <a:cxnLst/>
            <a:rect l="l" t="t" r="r" b="b"/>
            <a:pathLst>
              <a:path w="6228612" h="5130111">
                <a:moveTo>
                  <a:pt x="0" y="0"/>
                </a:moveTo>
                <a:lnTo>
                  <a:pt x="6228611" y="0"/>
                </a:lnTo>
                <a:lnTo>
                  <a:pt x="6228611" y="5130111"/>
                </a:lnTo>
                <a:lnTo>
                  <a:pt x="0" y="5130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5"/>
          <p:cNvSpPr txBox="1"/>
          <p:nvPr/>
        </p:nvSpPr>
        <p:spPr>
          <a:xfrm>
            <a:off x="9967337" y="6805467"/>
            <a:ext cx="5369469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b="1">
                <a:solidFill>
                  <a:srgbClr val="FFD180"/>
                </a:solidFill>
                <a:latin typeface="Kalam Bold"/>
                <a:ea typeface="Kalam Bold"/>
                <a:cs typeface="Kalam Bold"/>
                <a:sym typeface="Kalam Bold"/>
              </a:rPr>
              <a:t>Do the results of your experiment answer your research question and hypothesis?</a:t>
            </a:r>
          </a:p>
        </p:txBody>
      </p:sp>
      <p:sp>
        <p:nvSpPr>
          <p:cNvPr id="13" name="TextBox 6"/>
          <p:cNvSpPr txBox="1"/>
          <p:nvPr/>
        </p:nvSpPr>
        <p:spPr>
          <a:xfrm>
            <a:off x="1589323" y="4075164"/>
            <a:ext cx="5860312" cy="1077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9"/>
              </a:lnSpc>
            </a:pPr>
            <a:r>
              <a:rPr lang="en-US" sz="7599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Conclusion</a:t>
            </a:r>
          </a:p>
        </p:txBody>
      </p:sp>
      <p:sp>
        <p:nvSpPr>
          <p:cNvPr id="14" name="TextBox 7"/>
          <p:cNvSpPr txBox="1"/>
          <p:nvPr/>
        </p:nvSpPr>
        <p:spPr>
          <a:xfrm>
            <a:off x="1007988" y="5258098"/>
            <a:ext cx="7099183" cy="26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We draw conclusions from our analysis. Our conclusion summarizes the information we gathered during the scientific process and shares if our hypothesis is correct or can be supported.</a:t>
            </a:r>
          </a:p>
        </p:txBody>
      </p:sp>
      <p:sp>
        <p:nvSpPr>
          <p:cNvPr id="15" name="TextBox 8"/>
          <p:cNvSpPr txBox="1"/>
          <p:nvPr/>
        </p:nvSpPr>
        <p:spPr>
          <a:xfrm>
            <a:off x="4190953" y="2548209"/>
            <a:ext cx="657053" cy="866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 smtClean="0">
                <a:solidFill>
                  <a:srgbClr val="FFD180"/>
                </a:solidFill>
                <a:latin typeface="Kalam Bold"/>
                <a:ea typeface="Kalam Bold"/>
                <a:cs typeface="Kalam Bold"/>
                <a:sym typeface="Kalam Bold"/>
              </a:rPr>
              <a:t>7.</a:t>
            </a:r>
            <a:endParaRPr lang="en-US" sz="6000" b="1" dirty="0">
              <a:solidFill>
                <a:srgbClr val="FFD180"/>
              </a:solidFill>
              <a:latin typeface="Kalam Bold"/>
              <a:ea typeface="Kalam Bold"/>
              <a:cs typeface="Kalam Bold"/>
              <a:sym typeface="Kalam Bold"/>
            </a:endParaRPr>
          </a:p>
        </p:txBody>
      </p:sp>
    </p:spTree>
    <p:extLst>
      <p:ext uri="{BB962C8B-B14F-4D97-AF65-F5344CB8AC3E}">
        <p14:creationId xmlns:p14="http://schemas.microsoft.com/office/powerpoint/2010/main" val="2892848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6041944" y="6819864"/>
            <a:ext cx="1583338" cy="2466958"/>
          </a:xfrm>
          <a:custGeom>
            <a:avLst/>
            <a:gdLst/>
            <a:ahLst/>
            <a:cxnLst/>
            <a:rect l="l" t="t" r="r" b="b"/>
            <a:pathLst>
              <a:path w="1583338" h="2466958">
                <a:moveTo>
                  <a:pt x="0" y="0"/>
                </a:moveTo>
                <a:lnTo>
                  <a:pt x="1583338" y="0"/>
                </a:lnTo>
                <a:lnTo>
                  <a:pt x="1583338" y="2466958"/>
                </a:lnTo>
                <a:lnTo>
                  <a:pt x="0" y="246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99905" y="7817022"/>
            <a:ext cx="2088323" cy="50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3100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Analysis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6223700" y="3193170"/>
            <a:ext cx="1583338" cy="2466958"/>
          </a:xfrm>
          <a:custGeom>
            <a:avLst/>
            <a:gdLst/>
            <a:ahLst/>
            <a:cxnLst/>
            <a:rect l="l" t="t" r="r" b="b"/>
            <a:pathLst>
              <a:path w="1583338" h="2466958">
                <a:moveTo>
                  <a:pt x="0" y="0"/>
                </a:moveTo>
                <a:lnTo>
                  <a:pt x="1583339" y="0"/>
                </a:lnTo>
                <a:lnTo>
                  <a:pt x="1583339" y="2466958"/>
                </a:lnTo>
                <a:lnTo>
                  <a:pt x="0" y="246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0111536" y="3160266"/>
            <a:ext cx="1605607" cy="2473624"/>
          </a:xfrm>
          <a:custGeom>
            <a:avLst/>
            <a:gdLst/>
            <a:ahLst/>
            <a:cxnLst/>
            <a:rect l="l" t="t" r="r" b="b"/>
            <a:pathLst>
              <a:path w="1605607" h="2473624">
                <a:moveTo>
                  <a:pt x="0" y="0"/>
                </a:moveTo>
                <a:lnTo>
                  <a:pt x="1605607" y="0"/>
                </a:lnTo>
                <a:lnTo>
                  <a:pt x="1605607" y="2473624"/>
                </a:lnTo>
                <a:lnTo>
                  <a:pt x="0" y="2473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103163" y="4127345"/>
            <a:ext cx="1741290" cy="705222"/>
          </a:xfrm>
          <a:custGeom>
            <a:avLst/>
            <a:gdLst/>
            <a:ahLst/>
            <a:cxnLst/>
            <a:rect l="l" t="t" r="r" b="b"/>
            <a:pathLst>
              <a:path w="1741290" h="705222">
                <a:moveTo>
                  <a:pt x="0" y="0"/>
                </a:moveTo>
                <a:lnTo>
                  <a:pt x="1741290" y="0"/>
                </a:lnTo>
                <a:lnTo>
                  <a:pt x="1741290" y="705223"/>
                </a:lnTo>
                <a:lnTo>
                  <a:pt x="0" y="7052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89515" y="7366451"/>
            <a:ext cx="3359970" cy="1508932"/>
          </a:xfrm>
          <a:custGeom>
            <a:avLst/>
            <a:gdLst/>
            <a:ahLst/>
            <a:cxnLst/>
            <a:rect l="l" t="t" r="r" b="b"/>
            <a:pathLst>
              <a:path w="3359970" h="1508932">
                <a:moveTo>
                  <a:pt x="0" y="0"/>
                </a:moveTo>
                <a:lnTo>
                  <a:pt x="3359970" y="0"/>
                </a:lnTo>
                <a:lnTo>
                  <a:pt x="3359970" y="1508932"/>
                </a:lnTo>
                <a:lnTo>
                  <a:pt x="0" y="15089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047412" y="7815158"/>
            <a:ext cx="1702088" cy="776578"/>
          </a:xfrm>
          <a:custGeom>
            <a:avLst/>
            <a:gdLst/>
            <a:ahLst/>
            <a:cxnLst/>
            <a:rect l="l" t="t" r="r" b="b"/>
            <a:pathLst>
              <a:path w="1702088" h="776578">
                <a:moveTo>
                  <a:pt x="0" y="0"/>
                </a:moveTo>
                <a:lnTo>
                  <a:pt x="1702088" y="0"/>
                </a:lnTo>
                <a:lnTo>
                  <a:pt x="1702088" y="776578"/>
                </a:lnTo>
                <a:lnTo>
                  <a:pt x="0" y="776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827614" y="7274367"/>
            <a:ext cx="3359970" cy="1508932"/>
          </a:xfrm>
          <a:custGeom>
            <a:avLst/>
            <a:gdLst/>
            <a:ahLst/>
            <a:cxnLst/>
            <a:rect l="l" t="t" r="r" b="b"/>
            <a:pathLst>
              <a:path w="3359970" h="1508932">
                <a:moveTo>
                  <a:pt x="0" y="0"/>
                </a:moveTo>
                <a:lnTo>
                  <a:pt x="3359970" y="0"/>
                </a:lnTo>
                <a:lnTo>
                  <a:pt x="3359970" y="1508932"/>
                </a:lnTo>
                <a:lnTo>
                  <a:pt x="0" y="15089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696054" y="7718847"/>
            <a:ext cx="1702088" cy="776578"/>
          </a:xfrm>
          <a:custGeom>
            <a:avLst/>
            <a:gdLst/>
            <a:ahLst/>
            <a:cxnLst/>
            <a:rect l="l" t="t" r="r" b="b"/>
            <a:pathLst>
              <a:path w="1702088" h="776578">
                <a:moveTo>
                  <a:pt x="0" y="0"/>
                </a:moveTo>
                <a:lnTo>
                  <a:pt x="1702088" y="0"/>
                </a:lnTo>
                <a:lnTo>
                  <a:pt x="1702088" y="776578"/>
                </a:lnTo>
                <a:lnTo>
                  <a:pt x="0" y="776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46092" y="3690950"/>
            <a:ext cx="3359970" cy="1508932"/>
          </a:xfrm>
          <a:custGeom>
            <a:avLst/>
            <a:gdLst/>
            <a:ahLst/>
            <a:cxnLst/>
            <a:rect l="l" t="t" r="r" b="b"/>
            <a:pathLst>
              <a:path w="3359970" h="1508932">
                <a:moveTo>
                  <a:pt x="0" y="0"/>
                </a:moveTo>
                <a:lnTo>
                  <a:pt x="3359970" y="0"/>
                </a:lnTo>
                <a:lnTo>
                  <a:pt x="3359970" y="1508931"/>
                </a:lnTo>
                <a:lnTo>
                  <a:pt x="0" y="15089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272501">
            <a:off x="4239230" y="4088670"/>
            <a:ext cx="1741290" cy="705222"/>
          </a:xfrm>
          <a:custGeom>
            <a:avLst/>
            <a:gdLst/>
            <a:ahLst/>
            <a:cxnLst/>
            <a:rect l="l" t="t" r="r" b="b"/>
            <a:pathLst>
              <a:path w="1741290" h="705222">
                <a:moveTo>
                  <a:pt x="0" y="0"/>
                </a:moveTo>
                <a:lnTo>
                  <a:pt x="1741290" y="0"/>
                </a:lnTo>
                <a:lnTo>
                  <a:pt x="1741290" y="705222"/>
                </a:lnTo>
                <a:lnTo>
                  <a:pt x="0" y="7052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502947" y="4174602"/>
            <a:ext cx="2822785" cy="50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3100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Research</a:t>
            </a:r>
          </a:p>
        </p:txBody>
      </p:sp>
      <p:sp>
        <p:nvSpPr>
          <p:cNvPr id="14" name="Freeform 14"/>
          <p:cNvSpPr/>
          <p:nvPr/>
        </p:nvSpPr>
        <p:spPr>
          <a:xfrm rot="-1048950">
            <a:off x="12977538" y="4397522"/>
            <a:ext cx="4346847" cy="4307331"/>
          </a:xfrm>
          <a:custGeom>
            <a:avLst/>
            <a:gdLst/>
            <a:ahLst/>
            <a:cxnLst/>
            <a:rect l="l" t="t" r="r" b="b"/>
            <a:pathLst>
              <a:path w="4346847" h="4307331">
                <a:moveTo>
                  <a:pt x="0" y="0"/>
                </a:moveTo>
                <a:lnTo>
                  <a:pt x="4346848" y="0"/>
                </a:lnTo>
                <a:lnTo>
                  <a:pt x="4346848" y="4307330"/>
                </a:lnTo>
                <a:lnTo>
                  <a:pt x="0" y="43073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774433" y="5591525"/>
            <a:ext cx="2924509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FF8ED"/>
                </a:solidFill>
                <a:latin typeface="Literata Bold"/>
                <a:ea typeface="Literata Bold"/>
                <a:cs typeface="Literata Bold"/>
                <a:sym typeface="Literata Bold"/>
              </a:rPr>
              <a:t>Remember that the scientific method is a complex and flexible process rather than a strict set of steps.</a:t>
            </a:r>
          </a:p>
        </p:txBody>
      </p:sp>
      <p:sp>
        <p:nvSpPr>
          <p:cNvPr id="16" name="Freeform 16"/>
          <p:cNvSpPr/>
          <p:nvPr/>
        </p:nvSpPr>
        <p:spPr>
          <a:xfrm>
            <a:off x="5361711" y="5486042"/>
            <a:ext cx="3359970" cy="1508932"/>
          </a:xfrm>
          <a:custGeom>
            <a:avLst/>
            <a:gdLst/>
            <a:ahLst/>
            <a:cxnLst/>
            <a:rect l="l" t="t" r="r" b="b"/>
            <a:pathLst>
              <a:path w="3359970" h="1508932">
                <a:moveTo>
                  <a:pt x="0" y="0"/>
                </a:moveTo>
                <a:lnTo>
                  <a:pt x="3359970" y="0"/>
                </a:lnTo>
                <a:lnTo>
                  <a:pt x="3359970" y="1508932"/>
                </a:lnTo>
                <a:lnTo>
                  <a:pt x="0" y="15089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627108" y="5940095"/>
            <a:ext cx="2822785" cy="50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3100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Hypothesis</a:t>
            </a:r>
          </a:p>
        </p:txBody>
      </p:sp>
      <p:sp>
        <p:nvSpPr>
          <p:cNvPr id="18" name="Freeform 18"/>
          <p:cNvSpPr/>
          <p:nvPr/>
        </p:nvSpPr>
        <p:spPr>
          <a:xfrm rot="8553346">
            <a:off x="8050785" y="5159407"/>
            <a:ext cx="2133914" cy="864235"/>
          </a:xfrm>
          <a:custGeom>
            <a:avLst/>
            <a:gdLst/>
            <a:ahLst/>
            <a:cxnLst/>
            <a:rect l="l" t="t" r="r" b="b"/>
            <a:pathLst>
              <a:path w="2133914" h="864235">
                <a:moveTo>
                  <a:pt x="0" y="0"/>
                </a:moveTo>
                <a:lnTo>
                  <a:pt x="2133914" y="0"/>
                </a:lnTo>
                <a:lnTo>
                  <a:pt x="2133914" y="864235"/>
                </a:lnTo>
                <a:lnTo>
                  <a:pt x="0" y="8642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9190187" flipV="1">
            <a:off x="3713236" y="6469974"/>
            <a:ext cx="2233561" cy="904592"/>
          </a:xfrm>
          <a:custGeom>
            <a:avLst/>
            <a:gdLst/>
            <a:ahLst/>
            <a:cxnLst/>
            <a:rect l="l" t="t" r="r" b="b"/>
            <a:pathLst>
              <a:path w="2233561" h="904592">
                <a:moveTo>
                  <a:pt x="0" y="904592"/>
                </a:moveTo>
                <a:lnTo>
                  <a:pt x="2233561" y="904592"/>
                </a:lnTo>
                <a:lnTo>
                  <a:pt x="2233561" y="0"/>
                </a:lnTo>
                <a:lnTo>
                  <a:pt x="0" y="0"/>
                </a:lnTo>
                <a:lnTo>
                  <a:pt x="0" y="9045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614684" y="4256525"/>
            <a:ext cx="2822785" cy="50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3100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Observation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98113" y="1290530"/>
            <a:ext cx="10291775" cy="213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9"/>
              </a:lnSpc>
            </a:pPr>
            <a:r>
              <a:rPr lang="en-US" sz="7599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The Scientific Method: Process Recap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03977" y="4224392"/>
            <a:ext cx="2822785" cy="50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3100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Question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58107" y="7850104"/>
            <a:ext cx="2822785" cy="50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3100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Experiment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96206" y="7791832"/>
            <a:ext cx="2822785" cy="50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3100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Conclusion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685799" y="1257300"/>
            <a:ext cx="16764001" cy="8686800"/>
          </a:xfrm>
          <a:custGeom>
            <a:avLst/>
            <a:gdLst/>
            <a:ahLst/>
            <a:cxnLst/>
            <a:rect l="l" t="t" r="r" b="b"/>
            <a:pathLst>
              <a:path w="3359970" h="1508932">
                <a:moveTo>
                  <a:pt x="0" y="0"/>
                </a:moveTo>
                <a:lnTo>
                  <a:pt x="3359970" y="0"/>
                </a:lnTo>
                <a:lnTo>
                  <a:pt x="3359970" y="1508932"/>
                </a:lnTo>
                <a:lnTo>
                  <a:pt x="0" y="1508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sz="3600" dirty="0">
              <a:latin typeface="Literata" panose="020B0604020202020204" charset="0"/>
            </a:endParaRPr>
          </a:p>
          <a:p>
            <a:endParaRPr lang="en-US" sz="3600" b="1" dirty="0" smtClean="0">
              <a:latin typeface="Literata" panose="020B060402020202020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b="1" dirty="0" smtClean="0">
                <a:latin typeface="Literata" panose="020B0604020202020204" charset="0"/>
              </a:rPr>
              <a:t>Observation</a:t>
            </a:r>
            <a:r>
              <a:rPr lang="en-US" sz="3600" b="1" dirty="0">
                <a:latin typeface="Literata" panose="020B0604020202020204" charset="0"/>
              </a:rPr>
              <a:t>:</a:t>
            </a:r>
            <a:r>
              <a:rPr lang="en-US" sz="3600" dirty="0">
                <a:latin typeface="Literata" panose="020B0604020202020204" charset="0"/>
              </a:rPr>
              <a:t> Students frequently use digital </a:t>
            </a:r>
            <a:r>
              <a:rPr lang="en-US" sz="3600" dirty="0" smtClean="0">
                <a:latin typeface="Literata" panose="020B0604020202020204" charset="0"/>
              </a:rPr>
              <a:t>wallets.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b="1" dirty="0" smtClean="0">
                <a:latin typeface="Literata" panose="020B0604020202020204" charset="0"/>
              </a:rPr>
              <a:t>Question</a:t>
            </a:r>
            <a:r>
              <a:rPr lang="en-US" sz="3600" b="1" dirty="0">
                <a:latin typeface="Literata" panose="020B0604020202020204" charset="0"/>
              </a:rPr>
              <a:t>:</a:t>
            </a:r>
            <a:r>
              <a:rPr lang="en-US" sz="3600" dirty="0">
                <a:latin typeface="Literata" panose="020B0604020202020204" charset="0"/>
              </a:rPr>
              <a:t> Do digital wallets increase </a:t>
            </a:r>
            <a:r>
              <a:rPr lang="en-US" sz="3600" dirty="0" smtClean="0">
                <a:latin typeface="Literata" panose="020B0604020202020204" charset="0"/>
              </a:rPr>
              <a:t>spending?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b="1" dirty="0" smtClean="0">
                <a:latin typeface="Literata" panose="020B0604020202020204" charset="0"/>
              </a:rPr>
              <a:t>Hypothesis</a:t>
            </a:r>
            <a:r>
              <a:rPr lang="en-US" sz="3600" b="1" dirty="0">
                <a:latin typeface="Literata" panose="020B0604020202020204" charset="0"/>
              </a:rPr>
              <a:t>:</a:t>
            </a:r>
            <a:r>
              <a:rPr lang="en-US" sz="3600" dirty="0">
                <a:latin typeface="Literata" panose="020B0604020202020204" charset="0"/>
              </a:rPr>
              <a:t> Digital wallet users spend </a:t>
            </a:r>
            <a:r>
              <a:rPr lang="en-US" sz="3600" dirty="0" smtClean="0">
                <a:latin typeface="Literata" panose="020B0604020202020204" charset="0"/>
              </a:rPr>
              <a:t>more.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b="1" dirty="0" smtClean="0">
                <a:latin typeface="Literata" panose="020B0604020202020204" charset="0"/>
              </a:rPr>
              <a:t>Experiment</a:t>
            </a:r>
            <a:r>
              <a:rPr lang="en-US" sz="3600" b="1" dirty="0">
                <a:latin typeface="Literata" panose="020B0604020202020204" charset="0"/>
              </a:rPr>
              <a:t>:</a:t>
            </a:r>
            <a:r>
              <a:rPr lang="en-US" sz="3600" dirty="0">
                <a:latin typeface="Literata" panose="020B0604020202020204" charset="0"/>
              </a:rPr>
              <a:t> Survey 50 students about wallet use and </a:t>
            </a:r>
            <a:r>
              <a:rPr lang="en-US" sz="3600" dirty="0" smtClean="0">
                <a:latin typeface="Literata" panose="020B0604020202020204" charset="0"/>
              </a:rPr>
              <a:t>spending.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b="1" dirty="0" smtClean="0">
                <a:latin typeface="Literata" panose="020B0604020202020204" charset="0"/>
              </a:rPr>
              <a:t>Analysis</a:t>
            </a:r>
            <a:r>
              <a:rPr lang="en-US" sz="3600" b="1" dirty="0">
                <a:latin typeface="Literata" panose="020B0604020202020204" charset="0"/>
              </a:rPr>
              <a:t>:</a:t>
            </a:r>
            <a:r>
              <a:rPr lang="en-US" sz="3600" dirty="0">
                <a:latin typeface="Literata" panose="020B0604020202020204" charset="0"/>
              </a:rPr>
              <a:t> Compare spending of frequent and less-frequent </a:t>
            </a:r>
            <a:r>
              <a:rPr lang="en-US" sz="3600" dirty="0" smtClean="0">
                <a:latin typeface="Literata" panose="020B0604020202020204" charset="0"/>
              </a:rPr>
              <a:t>users.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b="1" dirty="0" smtClean="0">
                <a:latin typeface="Literata" panose="020B0604020202020204" charset="0"/>
              </a:rPr>
              <a:t>Conclusion</a:t>
            </a:r>
            <a:r>
              <a:rPr lang="en-US" sz="3600" b="1" dirty="0">
                <a:latin typeface="Literata" panose="020B0604020202020204" charset="0"/>
              </a:rPr>
              <a:t>:</a:t>
            </a:r>
            <a:r>
              <a:rPr lang="en-US" sz="3600" dirty="0">
                <a:latin typeface="Literata" panose="020B0604020202020204" charset="0"/>
              </a:rPr>
              <a:t> Determine whether digital wallets increase spending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4" name="Freeform 14"/>
          <p:cNvSpPr/>
          <p:nvPr/>
        </p:nvSpPr>
        <p:spPr>
          <a:xfrm rot="-1048950">
            <a:off x="1340729" y="492342"/>
            <a:ext cx="6062327" cy="3263104"/>
          </a:xfrm>
          <a:custGeom>
            <a:avLst/>
            <a:gdLst/>
            <a:ahLst/>
            <a:cxnLst/>
            <a:rect l="l" t="t" r="r" b="b"/>
            <a:pathLst>
              <a:path w="4346847" h="4307331">
                <a:moveTo>
                  <a:pt x="0" y="0"/>
                </a:moveTo>
                <a:lnTo>
                  <a:pt x="4346848" y="0"/>
                </a:lnTo>
                <a:lnTo>
                  <a:pt x="4346848" y="4307330"/>
                </a:lnTo>
                <a:lnTo>
                  <a:pt x="0" y="43073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5" name="Rectangle 24"/>
          <p:cNvSpPr/>
          <p:nvPr/>
        </p:nvSpPr>
        <p:spPr>
          <a:xfrm>
            <a:off x="1980592" y="1874745"/>
            <a:ext cx="52584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 smtClean="0">
                <a:solidFill>
                  <a:schemeClr val="bg1"/>
                </a:solidFill>
                <a:latin typeface="Literata" panose="020B0604020202020204" charset="0"/>
              </a:rPr>
              <a:t>Eg</a:t>
            </a:r>
            <a:r>
              <a:rPr lang="en-US" sz="4000" b="1" dirty="0" smtClean="0">
                <a:solidFill>
                  <a:schemeClr val="bg1"/>
                </a:solidFill>
                <a:latin typeface="Literata" panose="020B0604020202020204" charset="0"/>
              </a:rPr>
              <a:t> 1: Digital </a:t>
            </a:r>
            <a:r>
              <a:rPr lang="en-US" sz="4000" b="1" dirty="0">
                <a:solidFill>
                  <a:schemeClr val="bg1"/>
                </a:solidFill>
                <a:latin typeface="Literata" panose="020B0604020202020204" charset="0"/>
              </a:rPr>
              <a:t>Wallets</a:t>
            </a:r>
            <a:endParaRPr lang="en-US" sz="3200" b="1" dirty="0">
              <a:solidFill>
                <a:schemeClr val="bg1"/>
              </a:solidFill>
              <a:latin typeface="Literata" panose="020B060402020202020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20600" y="114301"/>
            <a:ext cx="5218136" cy="35646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30425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-228600" y="1409700"/>
            <a:ext cx="11125200" cy="110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59"/>
              </a:lnSpc>
            </a:pPr>
            <a:r>
              <a:rPr kumimoji="0" lang="en-US" sz="7599" b="1" i="0" u="none" strike="noStrike" kern="1200" cap="none" spc="0" normalizeH="0" baseline="0" noProof="0" dirty="0" smtClean="0">
                <a:ln>
                  <a:noFill/>
                </a:ln>
                <a:solidFill>
                  <a:srgbClr val="293241"/>
                </a:solidFill>
                <a:effectLst/>
                <a:uLnTx/>
                <a:uFillTx/>
                <a:latin typeface="Kalam Bold"/>
                <a:ea typeface="Kalam Bold"/>
                <a:cs typeface="Kalam Bold"/>
                <a:sym typeface="Kalam Bold"/>
              </a:rPr>
              <a:t>Research Methods</a:t>
            </a:r>
            <a:endParaRPr kumimoji="0" lang="en-US" sz="7599" b="1" i="0" u="none" strike="noStrike" kern="1200" cap="none" spc="0" normalizeH="0" baseline="0" noProof="0" dirty="0">
              <a:ln>
                <a:noFill/>
              </a:ln>
              <a:solidFill>
                <a:srgbClr val="293241"/>
              </a:solidFill>
              <a:effectLst/>
              <a:uLnTx/>
              <a:uFillTx/>
              <a:latin typeface="Kalam Bold"/>
              <a:ea typeface="Kalam Bold"/>
              <a:cs typeface="Kalam Bold"/>
              <a:sym typeface="Kalam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0600" y="2781300"/>
            <a:ext cx="15697200" cy="6955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200" b="1" dirty="0" smtClean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1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. Qualitative Research</a:t>
            </a:r>
          </a:p>
          <a:p>
            <a:pPr algn="just"/>
            <a:r>
              <a:rPr lang="en-US" sz="3200" dirty="0">
                <a:latin typeface="Literata" panose="020B0604020202020204" charset="0"/>
              </a:rPr>
              <a:t>Focuses on understanding </a:t>
            </a:r>
            <a:r>
              <a:rPr lang="en-US" sz="3200" b="1" dirty="0">
                <a:latin typeface="Literata" panose="020B0604020202020204" charset="0"/>
              </a:rPr>
              <a:t>experiences, opinions, and behaviors</a:t>
            </a:r>
            <a:r>
              <a:rPr lang="en-US" sz="3200" dirty="0">
                <a:latin typeface="Literata" panose="020B0604020202020204" charset="0"/>
              </a:rPr>
              <a:t> using:</a:t>
            </a:r>
          </a:p>
          <a:p>
            <a:pPr algn="just"/>
            <a:r>
              <a:rPr lang="en-US" sz="3200" dirty="0">
                <a:latin typeface="Literata" panose="020B0604020202020204" charset="0"/>
              </a:rPr>
              <a:t>Interviews </a:t>
            </a:r>
          </a:p>
          <a:p>
            <a:pPr algn="just"/>
            <a:r>
              <a:rPr lang="en-US" sz="3200" dirty="0">
                <a:latin typeface="Literata" panose="020B0604020202020204" charset="0"/>
              </a:rPr>
              <a:t>Observations </a:t>
            </a:r>
          </a:p>
          <a:p>
            <a:pPr algn="just"/>
            <a:r>
              <a:rPr lang="en-US" sz="3200" dirty="0">
                <a:latin typeface="Literata" panose="020B0604020202020204" charset="0"/>
              </a:rPr>
              <a:t>Case studies </a:t>
            </a:r>
            <a:endParaRPr lang="en-US" sz="3200" dirty="0" smtClean="0">
              <a:latin typeface="Literata" panose="020B0604020202020204" charset="0"/>
            </a:endParaRPr>
          </a:p>
          <a:p>
            <a:pPr algn="just"/>
            <a:r>
              <a:rPr lang="en-US" sz="3200" b="1" dirty="0" smtClean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2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. Quantitative Research</a:t>
            </a:r>
          </a:p>
          <a:p>
            <a:pPr algn="just"/>
            <a:r>
              <a:rPr lang="en-US" sz="3200" dirty="0">
                <a:latin typeface="Literata" panose="020B0604020202020204" charset="0"/>
              </a:rPr>
              <a:t>Focuses on collecting and analyzing </a:t>
            </a:r>
            <a:r>
              <a:rPr lang="en-US" sz="3200" b="1" dirty="0">
                <a:latin typeface="Literata" panose="020B0604020202020204" charset="0"/>
              </a:rPr>
              <a:t>numerical data</a:t>
            </a:r>
            <a:r>
              <a:rPr lang="en-US" sz="3200" dirty="0">
                <a:latin typeface="Literata" panose="020B0604020202020204" charset="0"/>
              </a:rPr>
              <a:t> using:</a:t>
            </a:r>
          </a:p>
          <a:p>
            <a:pPr algn="just"/>
            <a:r>
              <a:rPr lang="en-US" sz="3200" dirty="0">
                <a:latin typeface="Literata" panose="020B0604020202020204" charset="0"/>
              </a:rPr>
              <a:t>Surveys and questionnaires </a:t>
            </a:r>
          </a:p>
          <a:p>
            <a:pPr algn="just"/>
            <a:r>
              <a:rPr lang="en-US" sz="3200" dirty="0">
                <a:latin typeface="Literata" panose="020B0604020202020204" charset="0"/>
              </a:rPr>
              <a:t>Experiments </a:t>
            </a:r>
          </a:p>
          <a:p>
            <a:pPr algn="just"/>
            <a:r>
              <a:rPr lang="en-US" sz="3200" dirty="0">
                <a:latin typeface="Literata" panose="020B0604020202020204" charset="0"/>
              </a:rPr>
              <a:t>Statistical analysis </a:t>
            </a:r>
          </a:p>
          <a:p>
            <a:pPr algn="just"/>
            <a:r>
              <a:rPr lang="en-US" sz="3200" b="1" dirty="0" smtClean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3. Mixed Methods Research</a:t>
            </a:r>
          </a:p>
          <a:p>
            <a:pPr algn="just"/>
            <a:r>
              <a:rPr lang="en-US" sz="3200" dirty="0" smtClean="0">
                <a:latin typeface="Literata" panose="020B0604020202020204" charset="0"/>
              </a:rPr>
              <a:t>Combines </a:t>
            </a:r>
            <a:r>
              <a:rPr lang="en-US" sz="3200" b="1" dirty="0" smtClean="0">
                <a:latin typeface="Literata" panose="020B0604020202020204" charset="0"/>
              </a:rPr>
              <a:t>qualitative and quantitative approaches</a:t>
            </a:r>
            <a:r>
              <a:rPr lang="en-US" sz="3200" dirty="0" smtClean="0">
                <a:latin typeface="Literata" panose="020B0604020202020204" charset="0"/>
              </a:rPr>
              <a:t> to gain a more complete understanding of a research problem.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terata" panose="020B0604020202020204" charset="0"/>
              <a:ea typeface="+mn-ea"/>
              <a:cs typeface="+mn-cs"/>
            </a:endParaRPr>
          </a:p>
        </p:txBody>
      </p:sp>
      <p:sp>
        <p:nvSpPr>
          <p:cNvPr id="7" name="Freeform 4"/>
          <p:cNvSpPr/>
          <p:nvPr/>
        </p:nvSpPr>
        <p:spPr>
          <a:xfrm>
            <a:off x="13944600" y="266701"/>
            <a:ext cx="3733800" cy="3048000"/>
          </a:xfrm>
          <a:custGeom>
            <a:avLst/>
            <a:gdLst/>
            <a:ahLst/>
            <a:cxnLst/>
            <a:rect l="l" t="t" r="r" b="b"/>
            <a:pathLst>
              <a:path w="1858021" h="1493174">
                <a:moveTo>
                  <a:pt x="0" y="0"/>
                </a:moveTo>
                <a:lnTo>
                  <a:pt x="1858021" y="0"/>
                </a:lnTo>
                <a:lnTo>
                  <a:pt x="1858021" y="1493174"/>
                </a:lnTo>
                <a:lnTo>
                  <a:pt x="0" y="1493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34084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-228600" y="571500"/>
            <a:ext cx="11125200" cy="110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83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99" b="1" i="0" u="none" strike="noStrike" kern="1200" cap="none" spc="0" normalizeH="0" baseline="0" noProof="0" dirty="0" smtClean="0">
                <a:ln>
                  <a:noFill/>
                </a:ln>
                <a:solidFill>
                  <a:srgbClr val="293241"/>
                </a:solidFill>
                <a:effectLst/>
                <a:uLnTx/>
                <a:uFillTx/>
                <a:latin typeface="Kalam Bold"/>
                <a:ea typeface="Kalam Bold"/>
                <a:cs typeface="Kalam Bold"/>
                <a:sym typeface="Kalam Bold"/>
              </a:rPr>
              <a:t>Research Methods</a:t>
            </a:r>
            <a:endParaRPr kumimoji="0" lang="en-US" sz="7599" b="1" i="0" u="none" strike="noStrike" kern="1200" cap="none" spc="0" normalizeH="0" baseline="0" noProof="0" dirty="0">
              <a:ln>
                <a:noFill/>
              </a:ln>
              <a:solidFill>
                <a:srgbClr val="293241"/>
              </a:solidFill>
              <a:effectLst/>
              <a:uLnTx/>
              <a:uFillTx/>
              <a:latin typeface="Kalam Bold"/>
              <a:ea typeface="Kalam Bold"/>
              <a:cs typeface="Kalam Bold"/>
              <a:sym typeface="Kalam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62000" y="2019300"/>
            <a:ext cx="16459200" cy="8309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/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4. Descriptive</a:t>
            </a:r>
          </a:p>
          <a:p>
            <a:pPr lvl="0" algn="just"/>
            <a:r>
              <a:rPr lang="en-US" sz="3600" dirty="0">
                <a:latin typeface="Literata" panose="020B0604020202020204" charset="0"/>
              </a:rPr>
              <a:t>Describes </a:t>
            </a:r>
            <a:r>
              <a:rPr lang="en-US" sz="3600" dirty="0" smtClean="0">
                <a:latin typeface="Literata" panose="020B0604020202020204" charset="0"/>
              </a:rPr>
              <a:t>the </a:t>
            </a:r>
            <a:r>
              <a:rPr lang="en-US" sz="3600" dirty="0">
                <a:latin typeface="Literata" panose="020B0604020202020204" charset="0"/>
              </a:rPr>
              <a:t>characteristics, behaviors, opinions, or situations of a particular group or </a:t>
            </a:r>
            <a:r>
              <a:rPr lang="en-US" sz="3600" dirty="0" smtClean="0">
                <a:latin typeface="Literata" panose="020B0604020202020204" charset="0"/>
              </a:rPr>
              <a:t>phenomenon. </a:t>
            </a:r>
          </a:p>
          <a:p>
            <a:pPr lvl="0" algn="just"/>
            <a:r>
              <a:rPr lang="en-US" sz="3600" dirty="0">
                <a:latin typeface="Literata" panose="020B0604020202020204" charset="0"/>
              </a:rPr>
              <a:t>without trying to change or control the situation.</a:t>
            </a:r>
            <a:endParaRPr lang="en-US" sz="3600" dirty="0" smtClean="0">
              <a:latin typeface="Literata" panose="020B0604020202020204" charset="0"/>
            </a:endParaRPr>
          </a:p>
          <a:p>
            <a:pPr lvl="0" algn="just"/>
            <a:r>
              <a:rPr lang="en-US" sz="3600" dirty="0" smtClean="0">
                <a:latin typeface="Literata" panose="020B0604020202020204" charset="0"/>
              </a:rPr>
              <a:t>E.g.: Survey </a:t>
            </a:r>
            <a:r>
              <a:rPr lang="en-US" sz="3600" dirty="0">
                <a:latin typeface="Literata" panose="020B0604020202020204" charset="0"/>
              </a:rPr>
              <a:t>students about study </a:t>
            </a:r>
            <a:r>
              <a:rPr lang="en-US" sz="3600" dirty="0" smtClean="0">
                <a:latin typeface="Literata" panose="020B0604020202020204" charset="0"/>
              </a:rPr>
              <a:t>habits</a:t>
            </a:r>
          </a:p>
          <a:p>
            <a:pPr lvl="0" algn="just"/>
            <a:endParaRPr lang="en-US" sz="3600" b="1" dirty="0" smtClean="0">
              <a:solidFill>
                <a:schemeClr val="accent6">
                  <a:lumMod val="50000"/>
                </a:schemeClr>
              </a:solidFill>
              <a:latin typeface="Literata" panose="020B0604020202020204" charset="0"/>
            </a:endParaRPr>
          </a:p>
          <a:p>
            <a:pPr lvl="0" algn="just"/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5. Experimental</a:t>
            </a:r>
          </a:p>
          <a:p>
            <a:pPr algn="just"/>
            <a:r>
              <a:rPr lang="en-US" sz="3600" dirty="0">
                <a:latin typeface="Literata" panose="020B0604020202020204" charset="0"/>
              </a:rPr>
              <a:t>Tests cause and effect, </a:t>
            </a:r>
            <a:r>
              <a:rPr lang="en-US" sz="3600" dirty="0" smtClean="0">
                <a:latin typeface="Literata" panose="020B0604020202020204" charset="0"/>
              </a:rPr>
              <a:t>focuses </a:t>
            </a:r>
            <a:r>
              <a:rPr lang="en-US" sz="3600" dirty="0">
                <a:latin typeface="Literata" panose="020B0604020202020204" charset="0"/>
              </a:rPr>
              <a:t>on WHY is it happening </a:t>
            </a:r>
          </a:p>
          <a:p>
            <a:pPr lvl="0" algn="just"/>
            <a:r>
              <a:rPr lang="en-US" sz="3600" dirty="0" smtClean="0">
                <a:latin typeface="Literata" panose="020B0604020202020204" charset="0"/>
              </a:rPr>
              <a:t>E.g.: Test </a:t>
            </a:r>
            <a:r>
              <a:rPr lang="en-US" sz="3600" dirty="0">
                <a:latin typeface="Literata" panose="020B0604020202020204" charset="0"/>
              </a:rPr>
              <a:t>whether a new teaching method improves </a:t>
            </a:r>
            <a:r>
              <a:rPr lang="en-US" sz="3600" dirty="0" smtClean="0">
                <a:latin typeface="Literata" panose="020B0604020202020204" charset="0"/>
              </a:rPr>
              <a:t>grades</a:t>
            </a:r>
          </a:p>
          <a:p>
            <a:pPr lvl="0" algn="just"/>
            <a:endParaRPr lang="en-US" sz="3600" dirty="0" smtClean="0">
              <a:latin typeface="Literata" panose="020B0604020202020204" charset="0"/>
            </a:endParaRPr>
          </a:p>
          <a:p>
            <a:pPr lvl="0" algn="just"/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  <a:latin typeface="Literata" panose="020B0604020202020204" charset="0"/>
              </a:rPr>
              <a:t>6.Correlational</a:t>
            </a:r>
          </a:p>
          <a:p>
            <a:pPr lvl="0" algn="just"/>
            <a:r>
              <a:rPr lang="en-US" sz="3600" dirty="0">
                <a:latin typeface="Literata" panose="020B0604020202020204" charset="0"/>
              </a:rPr>
              <a:t>Finds </a:t>
            </a:r>
            <a:r>
              <a:rPr lang="en-US" sz="3600" dirty="0" smtClean="0">
                <a:latin typeface="Literata" panose="020B0604020202020204" charset="0"/>
              </a:rPr>
              <a:t>relationships, </a:t>
            </a:r>
            <a:r>
              <a:rPr lang="en-US" sz="3600" dirty="0">
                <a:latin typeface="Literata" panose="020B0604020202020204" charset="0"/>
              </a:rPr>
              <a:t>whether two or more variables are related to each other</a:t>
            </a:r>
            <a:endParaRPr lang="en-US" sz="3600" dirty="0" smtClean="0">
              <a:latin typeface="Literata" panose="020B0604020202020204" charset="0"/>
            </a:endParaRPr>
          </a:p>
          <a:p>
            <a:pPr lvl="0" algn="just"/>
            <a:r>
              <a:rPr lang="en-US" sz="3600" dirty="0" smtClean="0">
                <a:latin typeface="Literata" panose="020B0604020202020204" charset="0"/>
              </a:rPr>
              <a:t>E.g.: Study </a:t>
            </a:r>
            <a:r>
              <a:rPr lang="en-US" sz="3600" dirty="0">
                <a:latin typeface="Literata" panose="020B0604020202020204" charset="0"/>
              </a:rPr>
              <a:t>the link between study time and exam </a:t>
            </a:r>
            <a:r>
              <a:rPr lang="en-US" sz="3600" dirty="0" smtClean="0">
                <a:latin typeface="Literata" panose="020B0604020202020204" charset="0"/>
              </a:rPr>
              <a:t>scores,</a:t>
            </a:r>
            <a:r>
              <a:rPr lang="en-US" sz="3600" dirty="0"/>
              <a:t> </a:t>
            </a:r>
            <a:r>
              <a:rPr lang="en-US" sz="3600" dirty="0">
                <a:latin typeface="Literata" panose="020B0604020202020204" charset="0"/>
              </a:rPr>
              <a:t>Exercise ↔ Stress level</a:t>
            </a:r>
            <a:endParaRPr lang="en-US" sz="3600" dirty="0" smtClean="0">
              <a:latin typeface="Literata" panose="020B0604020202020204" charset="0"/>
            </a:endParaRPr>
          </a:p>
        </p:txBody>
      </p:sp>
      <p:sp>
        <p:nvSpPr>
          <p:cNvPr id="7" name="Freeform 4"/>
          <p:cNvSpPr/>
          <p:nvPr/>
        </p:nvSpPr>
        <p:spPr>
          <a:xfrm>
            <a:off x="13944600" y="266701"/>
            <a:ext cx="3276600" cy="1904999"/>
          </a:xfrm>
          <a:custGeom>
            <a:avLst/>
            <a:gdLst/>
            <a:ahLst/>
            <a:cxnLst/>
            <a:rect l="l" t="t" r="r" b="b"/>
            <a:pathLst>
              <a:path w="1858021" h="1493174">
                <a:moveTo>
                  <a:pt x="0" y="0"/>
                </a:moveTo>
                <a:lnTo>
                  <a:pt x="1858021" y="0"/>
                </a:lnTo>
                <a:lnTo>
                  <a:pt x="1858021" y="1493174"/>
                </a:lnTo>
                <a:lnTo>
                  <a:pt x="0" y="1493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21249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83144" y="604391"/>
            <a:ext cx="111252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59"/>
              </a:lnSpc>
            </a:pPr>
            <a:r>
              <a:rPr lang="en-US" sz="6600" b="1" dirty="0">
                <a:latin typeface="Kalam Bold" panose="020B0604020202020204" charset="0"/>
                <a:cs typeface="Kalam Bold" panose="020B0604020202020204" charset="0"/>
              </a:rPr>
              <a:t>Ethical Considerations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lam Bold" panose="020B0604020202020204" charset="0"/>
              <a:cs typeface="Kalam Bold" panose="020B0604020202020204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62000" y="1943100"/>
            <a:ext cx="16535400" cy="6832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3600" b="1" dirty="0"/>
              <a:t>Ethical considerations in research</a:t>
            </a:r>
            <a:r>
              <a:rPr lang="en-US" sz="3600" dirty="0"/>
              <a:t> are the principles and guidelines that researchers follow to protect participants, maintain honesty, and ensure that research is conducted responsibly</a:t>
            </a:r>
            <a:r>
              <a:rPr lang="en-US" sz="3600" dirty="0" smtClean="0"/>
              <a:t>.</a:t>
            </a:r>
            <a:endParaRPr lang="en-US" sz="3600" dirty="0"/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b="1" dirty="0" smtClean="0">
                <a:solidFill>
                  <a:schemeClr val="accent6"/>
                </a:solidFill>
              </a:rPr>
              <a:t>KEY ETHICAL CONSIDERATIONS INCLUDE: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 smtClean="0"/>
              <a:t>Informed </a:t>
            </a:r>
            <a:r>
              <a:rPr lang="en-US" sz="3600" b="1" dirty="0"/>
              <a:t>Consent</a:t>
            </a:r>
            <a:r>
              <a:rPr lang="en-US" sz="3600" dirty="0"/>
              <a:t> – Participants should be clearly informed about the purpose, procedures, risks, and benefits of the study before agreeing to participate.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Voluntary Participation</a:t>
            </a:r>
            <a:r>
              <a:rPr lang="en-US" sz="3600" dirty="0"/>
              <a:t> – Participants should take part willingly and should not be forced or pressured to participate. </a:t>
            </a:r>
          </a:p>
        </p:txBody>
      </p:sp>
      <p:sp>
        <p:nvSpPr>
          <p:cNvPr id="6" name="Freeform 10"/>
          <p:cNvSpPr/>
          <p:nvPr/>
        </p:nvSpPr>
        <p:spPr>
          <a:xfrm>
            <a:off x="12877800" y="7721860"/>
            <a:ext cx="3923724" cy="2222239"/>
          </a:xfrm>
          <a:custGeom>
            <a:avLst/>
            <a:gdLst/>
            <a:ahLst/>
            <a:cxnLst/>
            <a:rect l="l" t="t" r="r" b="b"/>
            <a:pathLst>
              <a:path w="1866324" h="2107758">
                <a:moveTo>
                  <a:pt x="0" y="0"/>
                </a:moveTo>
                <a:lnTo>
                  <a:pt x="1866324" y="0"/>
                </a:lnTo>
                <a:lnTo>
                  <a:pt x="1866324" y="2107758"/>
                </a:lnTo>
                <a:lnTo>
                  <a:pt x="0" y="2107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42334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1066800" y="2171700"/>
            <a:ext cx="15697200" cy="7478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Confidentiality and Privacy</a:t>
            </a:r>
            <a:r>
              <a:rPr lang="en-US" sz="3600" dirty="0"/>
              <a:t> – Personal information and research data should be kept private and protected from unauthorized access. </a:t>
            </a:r>
            <a:endParaRPr lang="en-US" sz="3600" b="1" dirty="0" smtClean="0"/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 smtClean="0"/>
              <a:t>Anonymity</a:t>
            </a:r>
            <a:r>
              <a:rPr lang="en-US" sz="3600" dirty="0" smtClean="0"/>
              <a:t> </a:t>
            </a:r>
            <a:r>
              <a:rPr lang="en-US" sz="3600" dirty="0"/>
              <a:t>– Where possible, participants' identities should not be connected to the information they provide.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Avoidance of Harm</a:t>
            </a:r>
            <a:r>
              <a:rPr lang="en-US" sz="3600" dirty="0"/>
              <a:t> – Researchers should minimize physical, psychological, social, or emotional harm to participants. </a:t>
            </a:r>
            <a:endParaRPr lang="en-US" sz="3600" dirty="0" smtClean="0"/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Right to Withdraw</a:t>
            </a:r>
            <a:r>
              <a:rPr lang="en-US" sz="3600" dirty="0"/>
              <a:t> – Participants should be allowed to leave the study at any time without punishment or negative consequences. </a:t>
            </a:r>
          </a:p>
          <a:p>
            <a:pPr>
              <a:lnSpc>
                <a:spcPct val="150000"/>
              </a:lnSpc>
            </a:pPr>
            <a:endParaRPr lang="en-US" sz="3600" dirty="0"/>
          </a:p>
        </p:txBody>
      </p:sp>
      <p:sp>
        <p:nvSpPr>
          <p:cNvPr id="6" name="Freeform 5"/>
          <p:cNvSpPr/>
          <p:nvPr/>
        </p:nvSpPr>
        <p:spPr>
          <a:xfrm>
            <a:off x="13258800" y="266700"/>
            <a:ext cx="3657600" cy="2179064"/>
          </a:xfrm>
          <a:custGeom>
            <a:avLst/>
            <a:gdLst/>
            <a:ahLst/>
            <a:cxnLst/>
            <a:rect l="l" t="t" r="r" b="b"/>
            <a:pathLst>
              <a:path w="2035126" h="1036064">
                <a:moveTo>
                  <a:pt x="0" y="0"/>
                </a:moveTo>
                <a:lnTo>
                  <a:pt x="2035126" y="0"/>
                </a:lnTo>
                <a:lnTo>
                  <a:pt x="2035126" y="1036064"/>
                </a:lnTo>
                <a:lnTo>
                  <a:pt x="0" y="1036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56978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1066800" y="1485900"/>
            <a:ext cx="15773400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/>
              <a:t>Justice and Fairness</a:t>
            </a:r>
            <a:r>
              <a:rPr lang="en-US" sz="4000" dirty="0"/>
              <a:t> – Participants should be selected fairly, and no group should be unfairly burdened or excluded. </a:t>
            </a:r>
            <a:endParaRPr lang="en-US" sz="4000" b="1" dirty="0" smtClean="0"/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 smtClean="0"/>
              <a:t>Ethical Approval</a:t>
            </a:r>
            <a:r>
              <a:rPr lang="en-US" sz="4000" dirty="0" smtClean="0"/>
              <a:t> – Research involving human participants should generally be reviewed and approved by an appropriate ethics committee or institutional review board before it begins. </a:t>
            </a:r>
            <a:endParaRPr lang="en-US" sz="4000" dirty="0"/>
          </a:p>
        </p:txBody>
      </p:sp>
      <p:sp>
        <p:nvSpPr>
          <p:cNvPr id="7" name="Freeform 2"/>
          <p:cNvSpPr/>
          <p:nvPr/>
        </p:nvSpPr>
        <p:spPr>
          <a:xfrm>
            <a:off x="11277600" y="5448301"/>
            <a:ext cx="4191000" cy="2655486"/>
          </a:xfrm>
          <a:custGeom>
            <a:avLst/>
            <a:gdLst/>
            <a:ahLst/>
            <a:cxnLst/>
            <a:rect l="l" t="t" r="r" b="b"/>
            <a:pathLst>
              <a:path w="2037830" h="1493174">
                <a:moveTo>
                  <a:pt x="0" y="0"/>
                </a:moveTo>
                <a:lnTo>
                  <a:pt x="2037830" y="0"/>
                </a:lnTo>
                <a:lnTo>
                  <a:pt x="2037830" y="1493174"/>
                </a:lnTo>
                <a:lnTo>
                  <a:pt x="0" y="1493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3"/>
          <p:cNvSpPr/>
          <p:nvPr/>
        </p:nvSpPr>
        <p:spPr>
          <a:xfrm rot="-1080625">
            <a:off x="13720378" y="6818395"/>
            <a:ext cx="2528703" cy="2745699"/>
          </a:xfrm>
          <a:custGeom>
            <a:avLst/>
            <a:gdLst/>
            <a:ahLst/>
            <a:cxnLst/>
            <a:rect l="l" t="t" r="r" b="b"/>
            <a:pathLst>
              <a:path w="1175695" h="1546967">
                <a:moveTo>
                  <a:pt x="0" y="0"/>
                </a:moveTo>
                <a:lnTo>
                  <a:pt x="1175695" y="0"/>
                </a:lnTo>
                <a:lnTo>
                  <a:pt x="1175695" y="1546968"/>
                </a:lnTo>
                <a:lnTo>
                  <a:pt x="0" y="1546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007966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685799" y="571500"/>
            <a:ext cx="16764001" cy="9372600"/>
          </a:xfrm>
          <a:custGeom>
            <a:avLst/>
            <a:gdLst/>
            <a:ahLst/>
            <a:cxnLst/>
            <a:rect l="l" t="t" r="r" b="b"/>
            <a:pathLst>
              <a:path w="3359970" h="1508932">
                <a:moveTo>
                  <a:pt x="0" y="0"/>
                </a:moveTo>
                <a:lnTo>
                  <a:pt x="3359970" y="0"/>
                </a:lnTo>
                <a:lnTo>
                  <a:pt x="3359970" y="1508932"/>
                </a:lnTo>
                <a:lnTo>
                  <a:pt x="0" y="1508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en-US" dirty="0" smtClean="0">
              <a:solidFill>
                <a:prstClr val="black"/>
              </a:solidFill>
            </a:endParaRP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endParaRPr lang="en-US" dirty="0" smtClean="0">
              <a:solidFill>
                <a:prstClr val="black"/>
              </a:solidFill>
            </a:endParaRP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endParaRPr lang="en-US" dirty="0" smtClean="0">
              <a:solidFill>
                <a:prstClr val="black"/>
              </a:solidFill>
            </a:endParaRP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endParaRPr lang="en-US" dirty="0" smtClean="0">
              <a:solidFill>
                <a:prstClr val="black"/>
              </a:solidFill>
            </a:endParaRPr>
          </a:p>
          <a:p>
            <a:pPr lvl="0"/>
            <a:endParaRPr lang="en-US" dirty="0">
              <a:solidFill>
                <a:prstClr val="black"/>
              </a:solidFill>
              <a:latin typeface="Literata" panose="020B0604020202020204" charset="0"/>
            </a:endParaRPr>
          </a:p>
          <a:p>
            <a:pPr lvl="0"/>
            <a:endParaRPr lang="en-US" dirty="0" smtClean="0">
              <a:solidFill>
                <a:prstClr val="black"/>
              </a:solidFill>
              <a:latin typeface="Literata" panose="020B0604020202020204" charset="0"/>
            </a:endParaRP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 smtClean="0">
                <a:solidFill>
                  <a:srgbClr val="FFC000"/>
                </a:solidFill>
                <a:latin typeface="Literata" panose="020B0604020202020204" charset="0"/>
              </a:rPr>
              <a:t>Academic </a:t>
            </a:r>
            <a:r>
              <a:rPr lang="en-US" sz="3200" b="1" dirty="0">
                <a:solidFill>
                  <a:srgbClr val="FFC000"/>
                </a:solidFill>
                <a:latin typeface="Literata" panose="020B0604020202020204" charset="0"/>
              </a:rPr>
              <a:t>and Scientific:</a:t>
            </a:r>
            <a:r>
              <a:rPr lang="en-US" sz="3200" dirty="0">
                <a:solidFill>
                  <a:srgbClr val="FFC000"/>
                </a:solidFill>
                <a:latin typeface="Literata" panose="020B0604020202020204" charset="0"/>
              </a:rPr>
              <a:t> </a:t>
            </a:r>
            <a:r>
              <a:rPr lang="en-US" sz="3200" dirty="0">
                <a:latin typeface="Literata" panose="020B0604020202020204" charset="0"/>
              </a:rPr>
              <a:t>Contributing to the body of knowledge in various fields such as psychology, medicine, or </a:t>
            </a:r>
            <a:r>
              <a:rPr lang="en-US" sz="3200" dirty="0" smtClean="0">
                <a:latin typeface="Literata" panose="020B0604020202020204" charset="0"/>
              </a:rPr>
              <a:t>Fintech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Literata" panose="020B0604020202020204" charset="0"/>
              </a:rPr>
              <a:t>Research </a:t>
            </a:r>
            <a:r>
              <a:rPr lang="en-US" sz="3200" dirty="0">
                <a:latin typeface="Literata" panose="020B0604020202020204" charset="0"/>
              </a:rPr>
              <a:t>on </a:t>
            </a:r>
            <a:r>
              <a:rPr lang="en-US" sz="3200" b="1" dirty="0">
                <a:latin typeface="Literata" panose="020B0604020202020204" charset="0"/>
              </a:rPr>
              <a:t>Artificial Intelligence, blockchain, digital payments, cryptocurrency, and financial behavior</a:t>
            </a:r>
            <a:r>
              <a:rPr lang="en-US" sz="3200" dirty="0">
                <a:latin typeface="Literata" panose="020B0604020202020204" charset="0"/>
              </a:rPr>
              <a:t> helps develop new knowledge in finance and technology.</a:t>
            </a:r>
            <a:endParaRPr lang="en-US" sz="3200" dirty="0" smtClean="0">
              <a:latin typeface="Literata" panose="020B0604020202020204" charset="0"/>
            </a:endParaRP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 smtClean="0">
                <a:solidFill>
                  <a:srgbClr val="FFC000"/>
                </a:solidFill>
                <a:latin typeface="Literata" panose="020B0604020202020204" charset="0"/>
              </a:rPr>
              <a:t>Professional and Practical:</a:t>
            </a:r>
            <a:r>
              <a:rPr lang="en-US" sz="3200" dirty="0" smtClean="0">
                <a:solidFill>
                  <a:srgbClr val="FFC000"/>
                </a:solidFill>
                <a:latin typeface="Literata" panose="020B0604020202020204" charset="0"/>
              </a:rPr>
              <a:t> </a:t>
            </a:r>
            <a:r>
              <a:rPr lang="en-US" sz="3200" dirty="0">
                <a:latin typeface="Literata" panose="020B0604020202020204" charset="0"/>
              </a:rPr>
              <a:t>Research helps improve </a:t>
            </a:r>
            <a:r>
              <a:rPr lang="en-US" sz="3200" b="1" dirty="0">
                <a:latin typeface="Literata" panose="020B0604020202020204" charset="0"/>
              </a:rPr>
              <a:t>real-world practices, business </a:t>
            </a:r>
            <a:r>
              <a:rPr lang="en-US" sz="2800" b="1" dirty="0">
                <a:latin typeface="Literata" panose="020B0604020202020204" charset="0"/>
              </a:rPr>
              <a:t>decisions, and policies</a:t>
            </a:r>
            <a:r>
              <a:rPr lang="en-US" sz="2800" dirty="0" smtClean="0">
                <a:latin typeface="Literata" panose="020B0604020202020204" charset="0"/>
              </a:rPr>
              <a:t>.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Literata" panose="020B0604020202020204" charset="0"/>
              </a:rPr>
              <a:t>Research can help banks and </a:t>
            </a:r>
            <a:r>
              <a:rPr lang="en-US" sz="2800" dirty="0" err="1">
                <a:latin typeface="Literata" panose="020B0604020202020204" charset="0"/>
              </a:rPr>
              <a:t>FinTech</a:t>
            </a:r>
            <a:r>
              <a:rPr lang="en-US" sz="2800" dirty="0">
                <a:latin typeface="Literata" panose="020B0604020202020204" charset="0"/>
              </a:rPr>
              <a:t> companies </a:t>
            </a:r>
            <a:r>
              <a:rPr lang="en-US" sz="2800" b="1" dirty="0">
                <a:latin typeface="Literata" panose="020B0604020202020204" charset="0"/>
              </a:rPr>
              <a:t>improve digital banking, detect fraud, manage financial risks, protect customer data, and develop better financial products</a:t>
            </a:r>
            <a:r>
              <a:rPr lang="en-US" sz="2800" dirty="0">
                <a:latin typeface="Literata" panose="020B0604020202020204" charset="0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terata" panose="020B0604020202020204" charset="0"/>
            </a:endParaRPr>
          </a:p>
        </p:txBody>
      </p:sp>
      <p:sp>
        <p:nvSpPr>
          <p:cNvPr id="14" name="Freeform 14"/>
          <p:cNvSpPr/>
          <p:nvPr/>
        </p:nvSpPr>
        <p:spPr>
          <a:xfrm rot="21383996">
            <a:off x="687620" y="653340"/>
            <a:ext cx="9178098" cy="1817521"/>
          </a:xfrm>
          <a:custGeom>
            <a:avLst/>
            <a:gdLst/>
            <a:ahLst/>
            <a:cxnLst/>
            <a:rect l="l" t="t" r="r" b="b"/>
            <a:pathLst>
              <a:path w="4346847" h="4307331">
                <a:moveTo>
                  <a:pt x="0" y="0"/>
                </a:moveTo>
                <a:lnTo>
                  <a:pt x="4346848" y="0"/>
                </a:lnTo>
                <a:lnTo>
                  <a:pt x="4346848" y="4307330"/>
                </a:lnTo>
                <a:lnTo>
                  <a:pt x="0" y="43073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5" name="Rectangle 24"/>
          <p:cNvSpPr/>
          <p:nvPr/>
        </p:nvSpPr>
        <p:spPr>
          <a:xfrm>
            <a:off x="1828799" y="1100435"/>
            <a:ext cx="7239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5400" b="1" dirty="0">
                <a:solidFill>
                  <a:schemeClr val="bg1"/>
                </a:solidFill>
              </a:rPr>
              <a:t>Applications of Research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iter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587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033232">
            <a:off x="384353" y="1435273"/>
            <a:ext cx="8901662" cy="7768723"/>
          </a:xfrm>
          <a:custGeom>
            <a:avLst/>
            <a:gdLst/>
            <a:ahLst/>
            <a:cxnLst/>
            <a:rect l="l" t="t" r="r" b="b"/>
            <a:pathLst>
              <a:path w="8901662" h="7768723">
                <a:moveTo>
                  <a:pt x="0" y="0"/>
                </a:moveTo>
                <a:lnTo>
                  <a:pt x="8901662" y="0"/>
                </a:lnTo>
                <a:lnTo>
                  <a:pt x="8901662" y="7768723"/>
                </a:lnTo>
                <a:lnTo>
                  <a:pt x="0" y="77687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1111" y="1599518"/>
            <a:ext cx="6928146" cy="6436878"/>
          </a:xfrm>
          <a:custGeom>
            <a:avLst/>
            <a:gdLst/>
            <a:ahLst/>
            <a:cxnLst/>
            <a:rect l="l" t="t" r="r" b="b"/>
            <a:pathLst>
              <a:path w="6928146" h="6436878">
                <a:moveTo>
                  <a:pt x="0" y="0"/>
                </a:moveTo>
                <a:lnTo>
                  <a:pt x="6928146" y="0"/>
                </a:lnTo>
                <a:lnTo>
                  <a:pt x="6928146" y="6436877"/>
                </a:lnTo>
                <a:lnTo>
                  <a:pt x="0" y="6436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44000" y="1782647"/>
            <a:ext cx="7880400" cy="3191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7599" b="1">
                <a:solidFill>
                  <a:srgbClr val="293241"/>
                </a:solidFill>
                <a:latin typeface="Kalam Bold"/>
                <a:ea typeface="Kalam Bold"/>
                <a:cs typeface="Kalam Bold"/>
                <a:sym typeface="Kalam Bold"/>
              </a:rPr>
              <a:t>It ends and begins again with COMMUNICATION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5168004"/>
            <a:ext cx="7099183" cy="177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3480"/>
              </a:lnSpc>
              <a:buFont typeface="Arial" panose="020B0604020202020204" pitchFamily="34" charset="0"/>
              <a:buChar char="•"/>
            </a:pPr>
            <a:r>
              <a:rPr lang="en-US" sz="2900" dirty="0" smtClean="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The entire scientific process leads us to new information. </a:t>
            </a:r>
          </a:p>
          <a:p>
            <a:pPr marL="457200" indent="-457200" algn="just">
              <a:lnSpc>
                <a:spcPts val="3480"/>
              </a:lnSpc>
              <a:buFont typeface="Arial" panose="020B0604020202020204" pitchFamily="34" charset="0"/>
              <a:buChar char="•"/>
            </a:pPr>
            <a:r>
              <a:rPr lang="en-US" sz="2900" dirty="0" smtClean="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When shared, they can be used in future studies.</a:t>
            </a:r>
            <a:endParaRPr lang="en-US" sz="2900" dirty="0">
              <a:solidFill>
                <a:srgbClr val="293241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0" y="7045284"/>
            <a:ext cx="7099183" cy="177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348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293241"/>
                </a:solidFill>
                <a:latin typeface="Literata"/>
                <a:ea typeface="Literata"/>
                <a:cs typeface="Literata"/>
                <a:sym typeface="Literata"/>
              </a:rPr>
              <a:t>Many of today’s technologies and knowledge started from a hypothesis that someone took time to test and share their results with the world.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1473" y="3123231"/>
            <a:ext cx="7602377" cy="6759205"/>
            <a:chOff x="0" y="0"/>
            <a:chExt cx="10136503" cy="9012273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0136503" cy="9012273"/>
            </a:xfrm>
            <a:custGeom>
              <a:avLst/>
              <a:gdLst/>
              <a:ahLst/>
              <a:cxnLst/>
              <a:rect l="l" t="t" r="r" b="b"/>
              <a:pathLst>
                <a:path w="10136503" h="9012273">
                  <a:moveTo>
                    <a:pt x="10136503" y="0"/>
                  </a:moveTo>
                  <a:lnTo>
                    <a:pt x="0" y="0"/>
                  </a:lnTo>
                  <a:lnTo>
                    <a:pt x="0" y="9012273"/>
                  </a:lnTo>
                  <a:lnTo>
                    <a:pt x="10136503" y="9012273"/>
                  </a:lnTo>
                  <a:lnTo>
                    <a:pt x="10136503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409454" y="665345"/>
              <a:ext cx="6189945" cy="8086627"/>
            </a:xfrm>
            <a:custGeom>
              <a:avLst/>
              <a:gdLst/>
              <a:ahLst/>
              <a:cxnLst/>
              <a:rect l="l" t="t" r="r" b="b"/>
              <a:pathLst>
                <a:path w="6189945" h="8086627">
                  <a:moveTo>
                    <a:pt x="0" y="0"/>
                  </a:moveTo>
                  <a:lnTo>
                    <a:pt x="6189946" y="0"/>
                  </a:lnTo>
                  <a:lnTo>
                    <a:pt x="6189946" y="8086627"/>
                  </a:lnTo>
                  <a:lnTo>
                    <a:pt x="0" y="8086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829800" y="-1790700"/>
            <a:ext cx="10122571" cy="10200984"/>
            <a:chOff x="0" y="0"/>
            <a:chExt cx="13496761" cy="13601312"/>
          </a:xfrm>
        </p:grpSpPr>
        <p:sp>
          <p:nvSpPr>
            <p:cNvPr id="11" name="Freeform 11"/>
            <p:cNvSpPr/>
            <p:nvPr/>
          </p:nvSpPr>
          <p:spPr>
            <a:xfrm rot="2784147" flipH="1">
              <a:off x="1201492" y="2764059"/>
              <a:ext cx="11093778" cy="8073195"/>
            </a:xfrm>
            <a:custGeom>
              <a:avLst/>
              <a:gdLst/>
              <a:ahLst/>
              <a:cxnLst/>
              <a:rect l="l" t="t" r="r" b="b"/>
              <a:pathLst>
                <a:path w="11093778" h="8073195">
                  <a:moveTo>
                    <a:pt x="11093778" y="0"/>
                  </a:moveTo>
                  <a:lnTo>
                    <a:pt x="0" y="0"/>
                  </a:lnTo>
                  <a:lnTo>
                    <a:pt x="0" y="8073195"/>
                  </a:lnTo>
                  <a:lnTo>
                    <a:pt x="11093778" y="8073195"/>
                  </a:lnTo>
                  <a:lnTo>
                    <a:pt x="11093778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3585979" y="7598382"/>
              <a:ext cx="4196422" cy="3074833"/>
            </a:xfrm>
            <a:custGeom>
              <a:avLst/>
              <a:gdLst/>
              <a:ahLst/>
              <a:cxnLst/>
              <a:rect l="l" t="t" r="r" b="b"/>
              <a:pathLst>
                <a:path w="4196422" h="3074833">
                  <a:moveTo>
                    <a:pt x="0" y="0"/>
                  </a:moveTo>
                  <a:lnTo>
                    <a:pt x="4196421" y="0"/>
                  </a:lnTo>
                  <a:lnTo>
                    <a:pt x="4196421" y="3074833"/>
                  </a:lnTo>
                  <a:lnTo>
                    <a:pt x="0" y="3074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4054191" y="3222826"/>
              <a:ext cx="4452051" cy="3577830"/>
            </a:xfrm>
            <a:custGeom>
              <a:avLst/>
              <a:gdLst/>
              <a:ahLst/>
              <a:cxnLst/>
              <a:rect l="l" t="t" r="r" b="b"/>
              <a:pathLst>
                <a:path w="4452051" h="3577830">
                  <a:moveTo>
                    <a:pt x="0" y="0"/>
                  </a:moveTo>
                  <a:lnTo>
                    <a:pt x="4452050" y="0"/>
                  </a:lnTo>
                  <a:lnTo>
                    <a:pt x="4452050" y="3577830"/>
                  </a:lnTo>
                  <a:lnTo>
                    <a:pt x="0" y="3577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2424192" y="5486895"/>
              <a:ext cx="3259998" cy="1659635"/>
            </a:xfrm>
            <a:custGeom>
              <a:avLst/>
              <a:gdLst/>
              <a:ahLst/>
              <a:cxnLst/>
              <a:rect l="l" t="t" r="r" b="b"/>
              <a:pathLst>
                <a:path w="3259998" h="1659635">
                  <a:moveTo>
                    <a:pt x="0" y="0"/>
                  </a:moveTo>
                  <a:lnTo>
                    <a:pt x="3259998" y="0"/>
                  </a:lnTo>
                  <a:lnTo>
                    <a:pt x="3259998" y="1659635"/>
                  </a:lnTo>
                  <a:lnTo>
                    <a:pt x="0" y="16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-2516181">
              <a:off x="2058517" y="8484184"/>
              <a:ext cx="3054923" cy="1405264"/>
            </a:xfrm>
            <a:custGeom>
              <a:avLst/>
              <a:gdLst/>
              <a:ahLst/>
              <a:cxnLst/>
              <a:rect l="l" t="t" r="r" b="b"/>
              <a:pathLst>
                <a:path w="3054923" h="1405264">
                  <a:moveTo>
                    <a:pt x="0" y="0"/>
                  </a:moveTo>
                  <a:lnTo>
                    <a:pt x="3054923" y="0"/>
                  </a:lnTo>
                  <a:lnTo>
                    <a:pt x="3054923" y="1405264"/>
                  </a:lnTo>
                  <a:lnTo>
                    <a:pt x="0" y="1405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flipH="1">
              <a:off x="6748381" y="4515375"/>
              <a:ext cx="3224360" cy="5262309"/>
            </a:xfrm>
            <a:custGeom>
              <a:avLst/>
              <a:gdLst/>
              <a:ahLst/>
              <a:cxnLst/>
              <a:rect l="l" t="t" r="r" b="b"/>
              <a:pathLst>
                <a:path w="3224360" h="5262309">
                  <a:moveTo>
                    <a:pt x="3224360" y="0"/>
                  </a:moveTo>
                  <a:lnTo>
                    <a:pt x="0" y="0"/>
                  </a:lnTo>
                  <a:lnTo>
                    <a:pt x="0" y="5262309"/>
                  </a:lnTo>
                  <a:lnTo>
                    <a:pt x="3224360" y="5262309"/>
                  </a:lnTo>
                  <a:lnTo>
                    <a:pt x="322436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TextBox 10"/>
          <p:cNvSpPr txBox="1"/>
          <p:nvPr/>
        </p:nvSpPr>
        <p:spPr>
          <a:xfrm>
            <a:off x="6175245" y="3993197"/>
            <a:ext cx="6393443" cy="1523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6600" b="1" dirty="0" smtClean="0">
                <a:latin typeface="AIGDT" panose="00000400000000000000" pitchFamily="2" charset="2"/>
              </a:rPr>
              <a:t>THANKYOU!</a:t>
            </a:r>
            <a:endParaRPr lang="en-US" sz="6600" dirty="0">
              <a:latin typeface="AIGDT" panose="00000400000000000000" pitchFamily="2" charset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1319</Words>
  <Application>Microsoft Office PowerPoint</Application>
  <PresentationFormat>Custom</PresentationFormat>
  <Paragraphs>149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Calibri</vt:lpstr>
      <vt:lpstr>Wingdings</vt:lpstr>
      <vt:lpstr>Kalam Bold</vt:lpstr>
      <vt:lpstr>Literata Bold</vt:lpstr>
      <vt:lpstr>Literata</vt:lpstr>
      <vt:lpstr>Arial</vt:lpstr>
      <vt:lpstr>AIGDT</vt:lpstr>
      <vt:lpstr>Gill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Scientific Method Presentation</dc:title>
  <dc:creator>ESHOP</dc:creator>
  <cp:lastModifiedBy>Ms Aqsa Fayyaz</cp:lastModifiedBy>
  <cp:revision>21</cp:revision>
  <dcterms:created xsi:type="dcterms:W3CDTF">2006-08-16T00:00:00Z</dcterms:created>
  <dcterms:modified xsi:type="dcterms:W3CDTF">2026-09-04T08:09:33Z</dcterms:modified>
  <dc:identifier>DAHTw7EHGt4</dc:identifier>
</cp:coreProperties>
</file>