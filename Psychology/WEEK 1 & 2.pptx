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1" r:id="rId19"/>
    <p:sldId id="292" r:id="rId20"/>
    <p:sldId id="294" r:id="rId21"/>
    <p:sldId id="273" r:id="rId22"/>
    <p:sldId id="274" r:id="rId23"/>
    <p:sldId id="275" r:id="rId24"/>
    <p:sldId id="297" r:id="rId25"/>
    <p:sldId id="276" r:id="rId26"/>
    <p:sldId id="277" r:id="rId27"/>
    <p:sldId id="295" r:id="rId28"/>
    <p:sldId id="296" r:id="rId29"/>
    <p:sldId id="279" r:id="rId30"/>
    <p:sldId id="278" r:id="rId31"/>
    <p:sldId id="298" r:id="rId32"/>
    <p:sldId id="281" r:id="rId33"/>
    <p:sldId id="282" r:id="rId34"/>
    <p:sldId id="283" r:id="rId35"/>
    <p:sldId id="284" r:id="rId36"/>
    <p:sldId id="285" r:id="rId37"/>
    <p:sldId id="286" r:id="rId38"/>
    <p:sldId id="287" r:id="rId39"/>
    <p:sldId id="288" r:id="rId40"/>
    <p:sldId id="289" r:id="rId41"/>
    <p:sldId id="290" r:id="rId42"/>
  </p:sldIdLst>
  <p:sldSz cx="12192000" cy="6858000"/>
  <p:notesSz cx="6858000" cy="9144000"/>
  <p:embeddedFontLst>
    <p:embeddedFont>
      <p:font typeface="Gill Sans" panose="020B0604020202020204" charset="0"/>
      <p:regular r:id="rId44"/>
      <p:bold r:id="rId45"/>
    </p:embeddedFont>
    <p:embeddedFont>
      <p:font typeface="Calibri" panose="020F050202020403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iqtc6b1LA2CFwWyy19ZJrvYQFh7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Empiricism: by John Locke </a:t>
            </a:r>
            <a:endParaRPr/>
          </a:p>
          <a:p>
            <a:pPr marL="0" lvl="0" indent="0" algn="l" rtl="0">
              <a:lnSpc>
                <a:spcPct val="100000"/>
              </a:lnSpc>
              <a:spcBef>
                <a:spcPts val="0"/>
              </a:spcBef>
              <a:spcAft>
                <a:spcPts val="0"/>
              </a:spcAft>
              <a:buSzPts val="1400"/>
              <a:buNone/>
            </a:pPr>
            <a:r>
              <a:rPr lang="en-US"/>
              <a:t>Based on the claim that experience is the source of knowledge. (observation through senses i.e.: sight, hearing, taste, touch and smell)</a:t>
            </a:r>
            <a:endParaRPr/>
          </a:p>
          <a:p>
            <a:pPr marL="0" lvl="0" indent="0" algn="l" rtl="0">
              <a:lnSpc>
                <a:spcPct val="100000"/>
              </a:lnSpc>
              <a:spcBef>
                <a:spcPts val="0"/>
              </a:spcBef>
              <a:spcAft>
                <a:spcPts val="0"/>
              </a:spcAft>
              <a:buSzPts val="1400"/>
              <a:buNone/>
            </a:pPr>
            <a:endParaRPr/>
          </a:p>
        </p:txBody>
      </p:sp>
      <p:sp>
        <p:nvSpPr>
          <p:cNvPr id="149" name="Google Shape;14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000" b="1">
                <a:solidFill>
                  <a:srgbClr val="C00000"/>
                </a:solidFill>
                <a:latin typeface="Calibri"/>
                <a:ea typeface="Calibri"/>
                <a:cs typeface="Calibri"/>
                <a:sym typeface="Calibri"/>
              </a:rPr>
              <a:t>Basic psychology: </a:t>
            </a:r>
            <a:r>
              <a:rPr lang="en-US" sz="1200" b="0" i="0">
                <a:solidFill>
                  <a:schemeClr val="dk1"/>
                </a:solidFill>
                <a:latin typeface="Calibri"/>
                <a:ea typeface="Calibri"/>
                <a:cs typeface="Calibri"/>
                <a:sym typeface="Calibri"/>
              </a:rPr>
              <a:t>purely theoretical, with the intent of increasing our understanding of certain phenomena or behavior but without seeking to solve or treat these problems.</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Eg: A study looking at how caffeine consumption impacts the brain</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A study assessing whether men or women are more likely to be diagnosed with depression</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A study looking at how attachment styles among children of divorced parents compare to those raised by married parents</a:t>
            </a:r>
            <a:endParaRPr/>
          </a:p>
          <a:p>
            <a:pPr marL="0" lvl="0" indent="0" algn="l" rtl="0">
              <a:lnSpc>
                <a:spcPct val="100000"/>
              </a:lnSpc>
              <a:spcBef>
                <a:spcPts val="0"/>
              </a:spcBef>
              <a:spcAft>
                <a:spcPts val="0"/>
              </a:spcAft>
              <a:buSzPts val="1400"/>
              <a:buNone/>
            </a:pPr>
            <a:endParaRPr sz="1200" b="1" i="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1" i="0">
                <a:solidFill>
                  <a:schemeClr val="dk1"/>
                </a:solidFill>
                <a:latin typeface="Calibri"/>
                <a:ea typeface="Calibri"/>
                <a:cs typeface="Calibri"/>
                <a:sym typeface="Calibri"/>
              </a:rPr>
              <a:t>Applied psychology: </a:t>
            </a:r>
            <a:r>
              <a:rPr lang="en-US" sz="1200" b="0" i="0">
                <a:solidFill>
                  <a:schemeClr val="dk1"/>
                </a:solidFill>
                <a:latin typeface="Calibri"/>
                <a:ea typeface="Calibri"/>
                <a:cs typeface="Calibri"/>
                <a:sym typeface="Calibri"/>
              </a:rPr>
              <a:t>Involves taking known psychological theories and principles to solve problems being experienced within other areas or fields</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Many psychological studies on addiction reveal that the main cause of addiction is the stress factor. </a:t>
            </a:r>
            <a:endParaRPr sz="1200" b="0" i="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1800">
              <a:latin typeface="Arial"/>
              <a:ea typeface="Arial"/>
              <a:cs typeface="Arial"/>
              <a:sym typeface="Arial"/>
            </a:endParaRPr>
          </a:p>
          <a:p>
            <a:pPr marL="0" lvl="0" indent="0" algn="l" rtl="0">
              <a:lnSpc>
                <a:spcPct val="100000"/>
              </a:lnSpc>
              <a:spcBef>
                <a:spcPts val="0"/>
              </a:spcBef>
              <a:spcAft>
                <a:spcPts val="0"/>
              </a:spcAft>
              <a:buSzPts val="1400"/>
              <a:buNone/>
            </a:pPr>
            <a:r>
              <a:rPr lang="en-US"/>
              <a:t/>
            </a:r>
            <a:br>
              <a:rPr lang="en-US"/>
            </a:br>
            <a:endParaRPr/>
          </a:p>
        </p:txBody>
      </p:sp>
      <p:sp>
        <p:nvSpPr>
          <p:cNvPr id="157" name="Google Shape;15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Example: Child showing tantrums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177" name="Google Shape;17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7" name="Google Shape;357;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4" name="Google Shape;36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46"/>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6"/>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9" name="Google Shape;19;p46"/>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6"/>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6"/>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1"/>
        <p:cNvGrpSpPr/>
        <p:nvPr/>
      </p:nvGrpSpPr>
      <p:grpSpPr>
        <a:xfrm>
          <a:off x="0" y="0"/>
          <a:ext cx="0" cy="0"/>
          <a:chOff x="0" y="0"/>
          <a:chExt cx="0" cy="0"/>
        </a:xfrm>
      </p:grpSpPr>
      <p:sp>
        <p:nvSpPr>
          <p:cNvPr id="32" name="Google Shape;32;p48"/>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8"/>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8"/>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5"/>
        <p:cNvGrpSpPr/>
        <p:nvPr/>
      </p:nvGrpSpPr>
      <p:grpSpPr>
        <a:xfrm>
          <a:off x="0" y="0"/>
          <a:ext cx="0" cy="0"/>
          <a:chOff x="0" y="0"/>
          <a:chExt cx="0" cy="0"/>
        </a:xfrm>
      </p:grpSpPr>
      <p:sp>
        <p:nvSpPr>
          <p:cNvPr id="36" name="Google Shape;36;p49"/>
          <p:cNvSpPr/>
          <p:nvPr/>
        </p:nvSpPr>
        <p:spPr>
          <a:xfrm>
            <a:off x="0" y="0"/>
            <a:ext cx="12192000" cy="4572001"/>
          </a:xfrm>
          <a:prstGeom prst="rect">
            <a:avLst/>
          </a:prstGeom>
          <a:solidFill>
            <a:srgbClr val="9E36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9"/>
          <p:cNvSpPr/>
          <p:nvPr/>
        </p:nvSpPr>
        <p:spPr>
          <a:xfrm>
            <a:off x="-1" y="0"/>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9"/>
          <p:cNvSpPr txBox="1">
            <a:spLocks noGrp="1"/>
          </p:cNvSpPr>
          <p:nvPr>
            <p:ph type="ctrTitle"/>
          </p:nvPr>
        </p:nvSpPr>
        <p:spPr>
          <a:xfrm>
            <a:off x="457200" y="4960137"/>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9"/>
          <p:cNvSpPr txBox="1">
            <a:spLocks noGrp="1"/>
          </p:cNvSpPr>
          <p:nvPr>
            <p:ph type="subTitle" idx="1"/>
          </p:nvPr>
        </p:nvSpPr>
        <p:spPr>
          <a:xfrm>
            <a:off x="8610600" y="4960137"/>
            <a:ext cx="3200400" cy="146304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a:endParaRPr/>
          </a:p>
        </p:txBody>
      </p:sp>
      <p:sp>
        <p:nvSpPr>
          <p:cNvPr id="40" name="Google Shape;40;p49"/>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9"/>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9"/>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49"/>
          <p:cNvCxnSpPr/>
          <p:nvPr/>
        </p:nvCxnSpPr>
        <p:spPr>
          <a:xfrm rot="10800000">
            <a:off x="8386843" y="5264106"/>
            <a:ext cx="0" cy="914400"/>
          </a:xfrm>
          <a:prstGeom prst="straightConnector1">
            <a:avLst/>
          </a:prstGeom>
          <a:noFill/>
          <a:ln w="19050" cap="flat" cmpd="sng">
            <a:solidFill>
              <a:srgbClr val="9E361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50"/>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0"/>
          <p:cNvSpPr txBox="1">
            <a:spLocks noGrp="1"/>
          </p:cNvSpPr>
          <p:nvPr>
            <p:ph type="body" idx="1"/>
          </p:nvPr>
        </p:nvSpPr>
        <p:spPr>
          <a:xfrm>
            <a:off x="1024127" y="2286000"/>
            <a:ext cx="475488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7" name="Google Shape;47;p50"/>
          <p:cNvSpPr txBox="1">
            <a:spLocks noGrp="1"/>
          </p:cNvSpPr>
          <p:nvPr>
            <p:ph type="body" idx="2"/>
          </p:nvPr>
        </p:nvSpPr>
        <p:spPr>
          <a:xfrm>
            <a:off x="5989320" y="2286000"/>
            <a:ext cx="475488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8" name="Google Shape;48;p50"/>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0"/>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50"/>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51"/>
        <p:cNvGrpSpPr/>
        <p:nvPr/>
      </p:nvGrpSpPr>
      <p:grpSpPr>
        <a:xfrm>
          <a:off x="0" y="0"/>
          <a:ext cx="0" cy="0"/>
          <a:chOff x="0" y="0"/>
          <a:chExt cx="0" cy="0"/>
        </a:xfrm>
      </p:grpSpPr>
      <p:sp>
        <p:nvSpPr>
          <p:cNvPr id="52" name="Google Shape;52;p51"/>
          <p:cNvSpPr/>
          <p:nvPr/>
        </p:nvSpPr>
        <p:spPr>
          <a:xfrm>
            <a:off x="0" y="0"/>
            <a:ext cx="12192000" cy="4572001"/>
          </a:xfrm>
          <a:prstGeom prst="rect">
            <a:avLst/>
          </a:prstGeom>
          <a:solidFill>
            <a:srgbClr val="7B6B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1"/>
          <p:cNvSpPr/>
          <p:nvPr/>
        </p:nvSpPr>
        <p:spPr>
          <a:xfrm>
            <a:off x="-1" y="0"/>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1"/>
          <p:cNvSpPr txBox="1">
            <a:spLocks noGrp="1"/>
          </p:cNvSpPr>
          <p:nvPr>
            <p:ph type="title"/>
          </p:nvPr>
        </p:nvSpPr>
        <p:spPr>
          <a:xfrm>
            <a:off x="457200" y="4960137"/>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51"/>
          <p:cNvSpPr txBox="1">
            <a:spLocks noGrp="1"/>
          </p:cNvSpPr>
          <p:nvPr>
            <p:ph type="body" idx="1"/>
          </p:nvPr>
        </p:nvSpPr>
        <p:spPr>
          <a:xfrm>
            <a:off x="8610600" y="4960137"/>
            <a:ext cx="32004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56" name="Google Shape;56;p51"/>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1"/>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1"/>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51"/>
          <p:cNvCxnSpPr/>
          <p:nvPr/>
        </p:nvCxnSpPr>
        <p:spPr>
          <a:xfrm rot="10800000">
            <a:off x="8386843" y="5264106"/>
            <a:ext cx="0" cy="914400"/>
          </a:xfrm>
          <a:prstGeom prst="straightConnector1">
            <a:avLst/>
          </a:prstGeom>
          <a:noFill/>
          <a:ln w="19050" cap="flat" cmpd="sng">
            <a:solidFill>
              <a:srgbClr val="9E361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5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52"/>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2"/>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2"/>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53"/>
          <p:cNvSpPr txBox="1">
            <a:spLocks noGrp="1"/>
          </p:cNvSpPr>
          <p:nvPr>
            <p:ph type="title"/>
          </p:nvPr>
        </p:nvSpPr>
        <p:spPr>
          <a:xfrm>
            <a:off x="1024128" y="471509"/>
            <a:ext cx="4389120" cy="173736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3"/>
          <p:cNvSpPr txBox="1">
            <a:spLocks noGrp="1"/>
          </p:cNvSpPr>
          <p:nvPr>
            <p:ph type="body" idx="1"/>
          </p:nvPr>
        </p:nvSpPr>
        <p:spPr>
          <a:xfrm>
            <a:off x="5715000" y="822960"/>
            <a:ext cx="5678424" cy="5184648"/>
          </a:xfrm>
          <a:prstGeom prst="rect">
            <a:avLst/>
          </a:prstGeom>
          <a:noFill/>
          <a:ln>
            <a:noFill/>
          </a:ln>
        </p:spPr>
        <p:txBody>
          <a:bodyPr spcFirstLastPara="1" wrap="square" lIns="45700" tIns="45700" rIns="45700" bIns="45700" anchor="t" anchorCtr="0">
            <a:normAutofit/>
          </a:bodyPr>
          <a:lstStyle>
            <a:lvl1pPr marL="457200" lvl="0" indent="-381000" algn="l">
              <a:lnSpc>
                <a:spcPct val="90000"/>
              </a:lnSpc>
              <a:spcBef>
                <a:spcPts val="1200"/>
              </a:spcBef>
              <a:spcAft>
                <a:spcPts val="0"/>
              </a:spcAft>
              <a:buSzPts val="2400"/>
              <a:buChar char=" "/>
              <a:defRPr sz="2400"/>
            </a:lvl1pPr>
            <a:lvl2pPr marL="914400" lvl="1" indent="-355600" algn="l">
              <a:lnSpc>
                <a:spcPct val="90000"/>
              </a:lnSpc>
              <a:spcBef>
                <a:spcPts val="200"/>
              </a:spcBef>
              <a:spcAft>
                <a:spcPts val="0"/>
              </a:spcAft>
              <a:buSzPts val="2000"/>
              <a:buChar char="🢝"/>
              <a:defRPr sz="2000"/>
            </a:lvl2pPr>
            <a:lvl3pPr marL="1371600" lvl="2" indent="-330200" algn="l">
              <a:lnSpc>
                <a:spcPct val="90000"/>
              </a:lnSpc>
              <a:spcBef>
                <a:spcPts val="400"/>
              </a:spcBef>
              <a:spcAft>
                <a:spcPts val="0"/>
              </a:spcAft>
              <a:buSzPts val="1600"/>
              <a:buChar char="🢝"/>
              <a:defRPr sz="1600"/>
            </a:lvl3pPr>
            <a:lvl4pPr marL="1828800" lvl="3" indent="-330200" algn="l">
              <a:lnSpc>
                <a:spcPct val="90000"/>
              </a:lnSpc>
              <a:spcBef>
                <a:spcPts val="400"/>
              </a:spcBef>
              <a:spcAft>
                <a:spcPts val="0"/>
              </a:spcAft>
              <a:buSzPts val="1600"/>
              <a:buChar char="🢝"/>
              <a:defRPr sz="1600"/>
            </a:lvl4pPr>
            <a:lvl5pPr marL="2286000" lvl="4" indent="-330200" algn="l">
              <a:lnSpc>
                <a:spcPct val="90000"/>
              </a:lnSpc>
              <a:spcBef>
                <a:spcPts val="400"/>
              </a:spcBef>
              <a:spcAft>
                <a:spcPts val="0"/>
              </a:spcAft>
              <a:buSzPts val="1600"/>
              <a:buChar char="🢝"/>
              <a:defRPr sz="1600"/>
            </a:lvl5pPr>
            <a:lvl6pPr marL="2743200" lvl="5" indent="-330200" algn="l">
              <a:lnSpc>
                <a:spcPct val="90000"/>
              </a:lnSpc>
              <a:spcBef>
                <a:spcPts val="400"/>
              </a:spcBef>
              <a:spcAft>
                <a:spcPts val="0"/>
              </a:spcAft>
              <a:buSzPts val="1600"/>
              <a:buChar char="🢝"/>
              <a:defRPr sz="1600"/>
            </a:lvl6pPr>
            <a:lvl7pPr marL="3200400" lvl="6" indent="-330200" algn="l">
              <a:lnSpc>
                <a:spcPct val="90000"/>
              </a:lnSpc>
              <a:spcBef>
                <a:spcPts val="400"/>
              </a:spcBef>
              <a:spcAft>
                <a:spcPts val="0"/>
              </a:spcAft>
              <a:buSzPts val="1600"/>
              <a:buChar char="🢝"/>
              <a:defRPr sz="1600"/>
            </a:lvl7pPr>
            <a:lvl8pPr marL="3657600" lvl="7" indent="-330200" algn="l">
              <a:lnSpc>
                <a:spcPct val="90000"/>
              </a:lnSpc>
              <a:spcBef>
                <a:spcPts val="400"/>
              </a:spcBef>
              <a:spcAft>
                <a:spcPts val="0"/>
              </a:spcAft>
              <a:buSzPts val="1600"/>
              <a:buChar char="🢝"/>
              <a:defRPr sz="1600"/>
            </a:lvl8pPr>
            <a:lvl9pPr marL="4114800" lvl="8" indent="-330200" algn="l">
              <a:lnSpc>
                <a:spcPct val="90000"/>
              </a:lnSpc>
              <a:spcBef>
                <a:spcPts val="400"/>
              </a:spcBef>
              <a:spcAft>
                <a:spcPts val="400"/>
              </a:spcAft>
              <a:buSzPts val="1600"/>
              <a:buChar char="🢝"/>
              <a:defRPr sz="1600"/>
            </a:lvl9pPr>
          </a:lstStyle>
          <a:p>
            <a:endParaRPr/>
          </a:p>
        </p:txBody>
      </p:sp>
      <p:sp>
        <p:nvSpPr>
          <p:cNvPr id="68" name="Google Shape;68;p53"/>
          <p:cNvSpPr txBox="1">
            <a:spLocks noGrp="1"/>
          </p:cNvSpPr>
          <p:nvPr>
            <p:ph type="body" idx="2"/>
          </p:nvPr>
        </p:nvSpPr>
        <p:spPr>
          <a:xfrm>
            <a:off x="1024128" y="2257506"/>
            <a:ext cx="4389120" cy="3762294"/>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600"/>
              </a:spcBef>
              <a:spcAft>
                <a:spcPts val="0"/>
              </a:spcAft>
              <a:buSzPts val="1600"/>
              <a:buNone/>
              <a:defRPr sz="1600"/>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9" name="Google Shape;69;p53"/>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3"/>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3"/>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2"/>
        <p:cNvGrpSpPr/>
        <p:nvPr/>
      </p:nvGrpSpPr>
      <p:grpSpPr>
        <a:xfrm>
          <a:off x="0" y="0"/>
          <a:ext cx="0" cy="0"/>
          <a:chOff x="0" y="0"/>
          <a:chExt cx="0" cy="0"/>
        </a:xfrm>
      </p:grpSpPr>
      <p:sp>
        <p:nvSpPr>
          <p:cNvPr id="73" name="Google Shape;73;p54"/>
          <p:cNvSpPr txBox="1">
            <a:spLocks noGrp="1"/>
          </p:cNvSpPr>
          <p:nvPr>
            <p:ph type="title"/>
          </p:nvPr>
        </p:nvSpPr>
        <p:spPr>
          <a:xfrm>
            <a:off x="457200" y="4960138"/>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4"/>
          <p:cNvSpPr>
            <a:spLocks noGrp="1"/>
          </p:cNvSpPr>
          <p:nvPr>
            <p:ph type="pic" idx="2"/>
          </p:nvPr>
        </p:nvSpPr>
        <p:spPr>
          <a:xfrm>
            <a:off x="0" y="-1"/>
            <a:ext cx="12188952" cy="4572000"/>
          </a:xfrm>
          <a:prstGeom prst="rect">
            <a:avLst/>
          </a:prstGeom>
          <a:solidFill>
            <a:srgbClr val="EF8B67"/>
          </a:solidFill>
          <a:ln>
            <a:noFill/>
          </a:ln>
        </p:spPr>
      </p:sp>
      <p:sp>
        <p:nvSpPr>
          <p:cNvPr id="75" name="Google Shape;75;p54"/>
          <p:cNvSpPr txBox="1">
            <a:spLocks noGrp="1"/>
          </p:cNvSpPr>
          <p:nvPr>
            <p:ph type="body" idx="1"/>
          </p:nvPr>
        </p:nvSpPr>
        <p:spPr>
          <a:xfrm>
            <a:off x="8610600" y="4960138"/>
            <a:ext cx="32004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400"/>
              <a:buNone/>
              <a:defRPr sz="1400"/>
            </a:lvl2pPr>
            <a:lvl3pPr marL="1371600" lvl="2" indent="-228600" algn="l">
              <a:lnSpc>
                <a:spcPct val="90000"/>
              </a:lnSpc>
              <a:spcBef>
                <a:spcPts val="400"/>
              </a:spcBef>
              <a:spcAft>
                <a:spcPts val="0"/>
              </a:spcAft>
              <a:buSzPts val="1200"/>
              <a:buNone/>
              <a:defRPr sz="1200"/>
            </a:lvl3pPr>
            <a:lvl4pPr marL="1828800" lvl="3" indent="-228600" algn="l">
              <a:lnSpc>
                <a:spcPct val="90000"/>
              </a:lnSpc>
              <a:spcBef>
                <a:spcPts val="400"/>
              </a:spcBef>
              <a:spcAft>
                <a:spcPts val="0"/>
              </a:spcAft>
              <a:buSzPts val="1000"/>
              <a:buNone/>
              <a:defRPr sz="1000"/>
            </a:lvl4pPr>
            <a:lvl5pPr marL="2286000" lvl="4" indent="-228600" algn="l">
              <a:lnSpc>
                <a:spcPct val="90000"/>
              </a:lnSpc>
              <a:spcBef>
                <a:spcPts val="400"/>
              </a:spcBef>
              <a:spcAft>
                <a:spcPts val="0"/>
              </a:spcAft>
              <a:buSzPts val="1000"/>
              <a:buNone/>
              <a:defRPr sz="1000"/>
            </a:lvl5pPr>
            <a:lvl6pPr marL="2743200" lvl="5" indent="-228600" algn="l">
              <a:lnSpc>
                <a:spcPct val="90000"/>
              </a:lnSpc>
              <a:spcBef>
                <a:spcPts val="400"/>
              </a:spcBef>
              <a:spcAft>
                <a:spcPts val="0"/>
              </a:spcAft>
              <a:buSzPts val="1000"/>
              <a:buNone/>
              <a:defRPr sz="1000"/>
            </a:lvl6pPr>
            <a:lvl7pPr marL="3200400" lvl="6" indent="-228600" algn="l">
              <a:lnSpc>
                <a:spcPct val="90000"/>
              </a:lnSpc>
              <a:spcBef>
                <a:spcPts val="400"/>
              </a:spcBef>
              <a:spcAft>
                <a:spcPts val="0"/>
              </a:spcAft>
              <a:buSzPts val="1000"/>
              <a:buNone/>
              <a:defRPr sz="1000"/>
            </a:lvl7pPr>
            <a:lvl8pPr marL="3657600" lvl="7" indent="-228600" algn="l">
              <a:lnSpc>
                <a:spcPct val="90000"/>
              </a:lnSpc>
              <a:spcBef>
                <a:spcPts val="400"/>
              </a:spcBef>
              <a:spcAft>
                <a:spcPts val="0"/>
              </a:spcAft>
              <a:buSzPts val="1000"/>
              <a:buNone/>
              <a:defRPr sz="1000"/>
            </a:lvl8pPr>
            <a:lvl9pPr marL="4114800" lvl="8" indent="-228600" algn="l">
              <a:lnSpc>
                <a:spcPct val="90000"/>
              </a:lnSpc>
              <a:spcBef>
                <a:spcPts val="400"/>
              </a:spcBef>
              <a:spcAft>
                <a:spcPts val="400"/>
              </a:spcAft>
              <a:buSzPts val="1000"/>
              <a:buNone/>
              <a:defRPr sz="1000"/>
            </a:lvl9pPr>
          </a:lstStyle>
          <a:p>
            <a:endParaRPr/>
          </a:p>
        </p:txBody>
      </p:sp>
      <p:sp>
        <p:nvSpPr>
          <p:cNvPr id="76" name="Google Shape;76;p54"/>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4"/>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4"/>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cxnSp>
        <p:nvCxnSpPr>
          <p:cNvPr id="79" name="Google Shape;79;p54"/>
          <p:cNvCxnSpPr/>
          <p:nvPr/>
        </p:nvCxnSpPr>
        <p:spPr>
          <a:xfrm rot="10800000">
            <a:off x="8386843" y="5264106"/>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55"/>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5"/>
          <p:cNvSpPr txBox="1">
            <a:spLocks noGrp="1"/>
          </p:cNvSpPr>
          <p:nvPr>
            <p:ph type="body" idx="1"/>
          </p:nvPr>
        </p:nvSpPr>
        <p:spPr>
          <a:xfrm rot="5400000">
            <a:off x="3872485" y="-562356"/>
            <a:ext cx="4023360" cy="9720073"/>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3" name="Google Shape;83;p55"/>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5"/>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55"/>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56"/>
          <p:cNvSpPr txBox="1">
            <a:spLocks noGrp="1"/>
          </p:cNvSpPr>
          <p:nvPr>
            <p:ph type="title"/>
          </p:nvPr>
        </p:nvSpPr>
        <p:spPr>
          <a:xfrm rot="5400000">
            <a:off x="7334251" y="2152650"/>
            <a:ext cx="5410200" cy="2628900"/>
          </a:xfrm>
          <a:prstGeom prst="rect">
            <a:avLst/>
          </a:prstGeom>
          <a:noFill/>
          <a:ln>
            <a:noFill/>
          </a:ln>
        </p:spPr>
        <p:txBody>
          <a:bodyPr spcFirstLastPara="1" wrap="square" lIns="45700" tIns="91425" rIns="45700" bIns="91425"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56"/>
          <p:cNvSpPr txBox="1">
            <a:spLocks noGrp="1"/>
          </p:cNvSpPr>
          <p:nvPr>
            <p:ph type="body" idx="1"/>
          </p:nvPr>
        </p:nvSpPr>
        <p:spPr>
          <a:xfrm rot="5400000">
            <a:off x="2076451" y="-323850"/>
            <a:ext cx="5410200" cy="75819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9" name="Google Shape;89;p56"/>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56"/>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56"/>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cxnSp>
        <p:nvCxnSpPr>
          <p:cNvPr id="92" name="Google Shape;92;p56"/>
          <p:cNvCxnSpPr/>
          <p:nvPr/>
        </p:nvCxnSpPr>
        <p:spPr>
          <a:xfrm rot="10800000">
            <a:off x="10058400" y="59263"/>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5"/>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marR="0" lvl="0" algn="l" rtl="0">
              <a:lnSpc>
                <a:spcPct val="80000"/>
              </a:lnSpc>
              <a:spcBef>
                <a:spcPts val="0"/>
              </a:spcBef>
              <a:spcAft>
                <a:spcPts val="0"/>
              </a:spcAft>
              <a:buClr>
                <a:srgbClr val="0C0C0C"/>
              </a:buClr>
              <a:buSzPts val="50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5"/>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lvl1pPr marL="457200" marR="0" lvl="0" indent="-368300" algn="l" rtl="0">
              <a:lnSpc>
                <a:spcPct val="90000"/>
              </a:lnSpc>
              <a:spcBef>
                <a:spcPts val="1200"/>
              </a:spcBef>
              <a:spcAft>
                <a:spcPts val="0"/>
              </a:spcAft>
              <a:buClr>
                <a:schemeClr val="accent1"/>
              </a:buClr>
              <a:buSzPts val="2200"/>
              <a:buFont typeface="Twentieth Century"/>
              <a:buChar char=" "/>
              <a:defRPr sz="22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90000"/>
              </a:lnSpc>
              <a:spcBef>
                <a:spcPts val="20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3pPr>
            <a:lvl4pPr marL="1828800" marR="0" lvl="3"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2" name="Google Shape;12;p45"/>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3" name="Google Shape;13;p45"/>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4" name="Google Shape;14;p45"/>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cxnSp>
        <p:nvCxnSpPr>
          <p:cNvPr id="15" name="Google Shape;15;p45"/>
          <p:cNvCxnSpPr/>
          <p:nvPr/>
        </p:nvCxnSpPr>
        <p:spPr>
          <a:xfrm rot="10800000">
            <a:off x="762000" y="826324"/>
            <a:ext cx="0" cy="914400"/>
          </a:xfrm>
          <a:prstGeom prst="straightConnector1">
            <a:avLst/>
          </a:prstGeom>
          <a:noFill/>
          <a:ln w="19050" cap="flat" cmpd="sng">
            <a:solidFill>
              <a:schemeClr val="accent1"/>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0"/>
          <p:cNvSpPr txBox="1">
            <a:spLocks noGrp="1"/>
          </p:cNvSpPr>
          <p:nvPr>
            <p:ph type="ctrTitle"/>
          </p:nvPr>
        </p:nvSpPr>
        <p:spPr>
          <a:xfrm>
            <a:off x="457200" y="4960137"/>
            <a:ext cx="7772400" cy="1463040"/>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accent1"/>
              </a:buClr>
              <a:buSzPts val="3600"/>
              <a:buFont typeface="Gill Sans"/>
              <a:buNone/>
            </a:pPr>
            <a:r>
              <a:rPr lang="en-US"/>
              <a:t>INTRODUCTION TO PSYCHOLOGY (WEEK 1)</a:t>
            </a:r>
            <a:endParaRPr/>
          </a:p>
        </p:txBody>
      </p:sp>
      <p:sp>
        <p:nvSpPr>
          <p:cNvPr id="98" name="Google Shape;98;p10"/>
          <p:cNvSpPr/>
          <p:nvPr/>
        </p:nvSpPr>
        <p:spPr>
          <a:xfrm>
            <a:off x="8405091" y="4960137"/>
            <a:ext cx="3380509" cy="17543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BY: AQSA FAYYAZ </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ill Sans"/>
                <a:ea typeface="Gill Sans"/>
                <a:cs typeface="Gill Sans"/>
                <a:sym typeface="Gill Sans"/>
              </a:rPr>
              <a:t>Lecturer </a:t>
            </a:r>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ill Sans"/>
                <a:ea typeface="Gill Sans"/>
                <a:cs typeface="Gill Sans"/>
                <a:sym typeface="Gill Sans"/>
              </a:rPr>
              <a:t>(Science and Humanities)</a:t>
            </a:r>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ill Sans"/>
                <a:ea typeface="Gill Sans"/>
                <a:cs typeface="Gill Sans"/>
                <a:sym typeface="Gill Sans"/>
              </a:rPr>
              <a:t>FAST - National University of Computer &amp; Emerging Sciences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1"/>
          <p:cNvSpPr txBox="1">
            <a:spLocks noGrp="1"/>
          </p:cNvSpPr>
          <p:nvPr>
            <p:ph type="title"/>
          </p:nvPr>
        </p:nvSpPr>
        <p:spPr>
          <a:xfrm>
            <a:off x="1024128" y="174472"/>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LEARNING OUTCOMES</a:t>
            </a:r>
            <a:endParaRPr/>
          </a:p>
        </p:txBody>
      </p:sp>
      <p:sp>
        <p:nvSpPr>
          <p:cNvPr id="104" name="Google Shape;104;p11"/>
          <p:cNvSpPr txBox="1">
            <a:spLocks noGrp="1"/>
          </p:cNvSpPr>
          <p:nvPr>
            <p:ph type="body" idx="1"/>
          </p:nvPr>
        </p:nvSpPr>
        <p:spPr>
          <a:xfrm>
            <a:off x="1024128" y="2286000"/>
            <a:ext cx="9720073" cy="4023360"/>
          </a:xfrm>
          <a:prstGeom prst="rect">
            <a:avLst/>
          </a:prstGeom>
          <a:noFill/>
          <a:ln>
            <a:noFill/>
          </a:ln>
        </p:spPr>
        <p:txBody>
          <a:bodyPr spcFirstLastPara="1" wrap="square" lIns="91425" tIns="45700" rIns="91425" bIns="45700" anchor="ctr" anchorCtr="0">
            <a:normAutofit/>
          </a:bodyPr>
          <a:lstStyle/>
          <a:p>
            <a:pPr marL="306000" lvl="0" indent="-200844" algn="l" rtl="0">
              <a:lnSpc>
                <a:spcPct val="90000"/>
              </a:lnSpc>
              <a:spcBef>
                <a:spcPts val="0"/>
              </a:spcBef>
              <a:spcAft>
                <a:spcPts val="0"/>
              </a:spcAft>
              <a:buSzPts val="1656"/>
              <a:buNone/>
            </a:pPr>
            <a:endParaRPr/>
          </a:p>
        </p:txBody>
      </p:sp>
      <p:grpSp>
        <p:nvGrpSpPr>
          <p:cNvPr id="105" name="Google Shape;105;p11"/>
          <p:cNvGrpSpPr/>
          <p:nvPr/>
        </p:nvGrpSpPr>
        <p:grpSpPr>
          <a:xfrm>
            <a:off x="590262" y="1945839"/>
            <a:ext cx="11029950" cy="4169111"/>
            <a:chOff x="0" y="4760"/>
            <a:chExt cx="11029950" cy="4169111"/>
          </a:xfrm>
        </p:grpSpPr>
        <p:sp>
          <p:nvSpPr>
            <p:cNvPr id="106" name="Google Shape;106;p11"/>
            <p:cNvSpPr/>
            <p:nvPr/>
          </p:nvSpPr>
          <p:spPr>
            <a:xfrm>
              <a:off x="0" y="393871"/>
              <a:ext cx="11029950" cy="378000"/>
            </a:xfrm>
            <a:prstGeom prst="rect">
              <a:avLst/>
            </a:prstGeom>
            <a:solidFill>
              <a:schemeClr val="lt2">
                <a:alpha val="89411"/>
              </a:schemeClr>
            </a:solidFill>
            <a:ln w="12700" cap="rnd" cmpd="sng">
              <a:solidFill>
                <a:schemeClr val="dk2"/>
              </a:solidFill>
              <a:prstDash val="solid"/>
              <a:round/>
              <a:headEnd type="none" w="sm" len="sm"/>
              <a:tailEnd type="none" w="sm" len="sm"/>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1"/>
            <p:cNvSpPr/>
            <p:nvPr/>
          </p:nvSpPr>
          <p:spPr>
            <a:xfrm>
              <a:off x="551497" y="4760"/>
              <a:ext cx="7720965" cy="610510"/>
            </a:xfrm>
            <a:prstGeom prst="roundRect">
              <a:avLst>
                <a:gd name="adj" fmla="val 16667"/>
              </a:avLst>
            </a:prstGeom>
            <a:gradFill>
              <a:gsLst>
                <a:gs pos="0">
                  <a:srgbClr val="4F4F4F"/>
                </a:gs>
                <a:gs pos="84000">
                  <a:srgbClr val="333333"/>
                </a:gs>
                <a:gs pos="100000">
                  <a:srgbClr val="333333"/>
                </a:gs>
              </a:gsLst>
              <a:lin ang="5400000" scaled="0"/>
            </a:gradFill>
            <a:ln>
              <a:noFill/>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1"/>
            <p:cNvSpPr txBox="1"/>
            <p:nvPr/>
          </p:nvSpPr>
          <p:spPr>
            <a:xfrm>
              <a:off x="581300" y="34563"/>
              <a:ext cx="7661359" cy="550904"/>
            </a:xfrm>
            <a:prstGeom prst="rect">
              <a:avLst/>
            </a:prstGeom>
            <a:noFill/>
            <a:ln>
              <a:noFill/>
            </a:ln>
          </p:spPr>
          <p:txBody>
            <a:bodyPr spcFirstLastPara="1" wrap="square" lIns="291825" tIns="0" rIns="291825" bIns="0" anchor="ctr" anchorCtr="0">
              <a:no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Understanding the meaning of Psychology </a:t>
              </a:r>
              <a:endParaRPr sz="1800" b="0" i="0" u="none" strike="noStrike" cap="none">
                <a:solidFill>
                  <a:schemeClr val="lt1"/>
                </a:solidFill>
                <a:latin typeface="Gill Sans"/>
                <a:ea typeface="Gill Sans"/>
                <a:cs typeface="Gill Sans"/>
                <a:sym typeface="Gill Sans"/>
              </a:endParaRPr>
            </a:p>
          </p:txBody>
        </p:sp>
        <p:sp>
          <p:nvSpPr>
            <p:cNvPr id="109" name="Google Shape;109;p11"/>
            <p:cNvSpPr/>
            <p:nvPr/>
          </p:nvSpPr>
          <p:spPr>
            <a:xfrm>
              <a:off x="0" y="1074271"/>
              <a:ext cx="11029950" cy="378000"/>
            </a:xfrm>
            <a:prstGeom prst="rect">
              <a:avLst/>
            </a:prstGeom>
            <a:solidFill>
              <a:schemeClr val="lt2">
                <a:alpha val="89411"/>
              </a:schemeClr>
            </a:solidFill>
            <a:ln w="12700" cap="rnd" cmpd="sng">
              <a:solidFill>
                <a:schemeClr val="dk2"/>
              </a:solidFill>
              <a:prstDash val="solid"/>
              <a:round/>
              <a:headEnd type="none" w="sm" len="sm"/>
              <a:tailEnd type="none" w="sm" len="sm"/>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1"/>
            <p:cNvSpPr/>
            <p:nvPr/>
          </p:nvSpPr>
          <p:spPr>
            <a:xfrm>
              <a:off x="551497" y="852871"/>
              <a:ext cx="7720965" cy="442800"/>
            </a:xfrm>
            <a:prstGeom prst="roundRect">
              <a:avLst>
                <a:gd name="adj" fmla="val 16667"/>
              </a:avLst>
            </a:prstGeom>
            <a:gradFill>
              <a:gsLst>
                <a:gs pos="0">
                  <a:srgbClr val="4F4F4F"/>
                </a:gs>
                <a:gs pos="84000">
                  <a:srgbClr val="333333"/>
                </a:gs>
                <a:gs pos="100000">
                  <a:srgbClr val="333333"/>
                </a:gs>
              </a:gsLst>
              <a:lin ang="5400000" scaled="0"/>
            </a:gradFill>
            <a:ln>
              <a:noFill/>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1"/>
            <p:cNvSpPr txBox="1"/>
            <p:nvPr/>
          </p:nvSpPr>
          <p:spPr>
            <a:xfrm>
              <a:off x="573113" y="874487"/>
              <a:ext cx="7677733" cy="399568"/>
            </a:xfrm>
            <a:prstGeom prst="rect">
              <a:avLst/>
            </a:prstGeom>
            <a:noFill/>
            <a:ln>
              <a:noFill/>
            </a:ln>
          </p:spPr>
          <p:txBody>
            <a:bodyPr spcFirstLastPara="1" wrap="square" lIns="291825" tIns="0" rIns="291825" bIns="0" anchor="ctr" anchorCtr="0">
              <a:no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Psychology as a science</a:t>
              </a:r>
              <a:endParaRPr sz="1800" b="0" i="0" u="none" strike="noStrike" cap="none">
                <a:solidFill>
                  <a:schemeClr val="lt1"/>
                </a:solidFill>
                <a:latin typeface="Times New Roman"/>
                <a:ea typeface="Times New Roman"/>
                <a:cs typeface="Times New Roman"/>
                <a:sym typeface="Times New Roman"/>
              </a:endParaRPr>
            </a:p>
          </p:txBody>
        </p:sp>
        <p:sp>
          <p:nvSpPr>
            <p:cNvPr id="112" name="Google Shape;112;p11"/>
            <p:cNvSpPr/>
            <p:nvPr/>
          </p:nvSpPr>
          <p:spPr>
            <a:xfrm>
              <a:off x="0" y="1754671"/>
              <a:ext cx="11029950" cy="378000"/>
            </a:xfrm>
            <a:prstGeom prst="rect">
              <a:avLst/>
            </a:prstGeom>
            <a:solidFill>
              <a:schemeClr val="lt2">
                <a:alpha val="89411"/>
              </a:schemeClr>
            </a:solidFill>
            <a:ln w="12700" cap="rnd" cmpd="sng">
              <a:solidFill>
                <a:schemeClr val="dk2"/>
              </a:solidFill>
              <a:prstDash val="solid"/>
              <a:round/>
              <a:headEnd type="none" w="sm" len="sm"/>
              <a:tailEnd type="none" w="sm" len="sm"/>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1"/>
            <p:cNvSpPr/>
            <p:nvPr/>
          </p:nvSpPr>
          <p:spPr>
            <a:xfrm>
              <a:off x="551497" y="1533271"/>
              <a:ext cx="7720965" cy="442800"/>
            </a:xfrm>
            <a:prstGeom prst="roundRect">
              <a:avLst>
                <a:gd name="adj" fmla="val 16667"/>
              </a:avLst>
            </a:prstGeom>
            <a:gradFill>
              <a:gsLst>
                <a:gs pos="0">
                  <a:srgbClr val="4F4F4F"/>
                </a:gs>
                <a:gs pos="84000">
                  <a:srgbClr val="333333"/>
                </a:gs>
                <a:gs pos="100000">
                  <a:srgbClr val="333333"/>
                </a:gs>
              </a:gsLst>
              <a:lin ang="5400000" scaled="0"/>
            </a:gradFill>
            <a:ln>
              <a:noFill/>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1"/>
            <p:cNvSpPr txBox="1"/>
            <p:nvPr/>
          </p:nvSpPr>
          <p:spPr>
            <a:xfrm>
              <a:off x="573113" y="1554887"/>
              <a:ext cx="7677733" cy="399568"/>
            </a:xfrm>
            <a:prstGeom prst="rect">
              <a:avLst/>
            </a:prstGeom>
            <a:noFill/>
            <a:ln>
              <a:noFill/>
            </a:ln>
          </p:spPr>
          <p:txBody>
            <a:bodyPr spcFirstLastPara="1" wrap="square" lIns="291825" tIns="0" rIns="291825" bIns="0" anchor="ctr" anchorCtr="0">
              <a:no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Scope of psychology in everyday life </a:t>
              </a:r>
              <a:endParaRPr sz="1800" b="0" i="0" u="none" strike="noStrike" cap="none">
                <a:solidFill>
                  <a:schemeClr val="lt1"/>
                </a:solidFill>
                <a:latin typeface="Times New Roman"/>
                <a:ea typeface="Times New Roman"/>
                <a:cs typeface="Times New Roman"/>
                <a:sym typeface="Times New Roman"/>
              </a:endParaRPr>
            </a:p>
          </p:txBody>
        </p:sp>
        <p:sp>
          <p:nvSpPr>
            <p:cNvPr id="115" name="Google Shape;115;p11"/>
            <p:cNvSpPr/>
            <p:nvPr/>
          </p:nvSpPr>
          <p:spPr>
            <a:xfrm>
              <a:off x="0" y="2831689"/>
              <a:ext cx="11029950" cy="378000"/>
            </a:xfrm>
            <a:prstGeom prst="rect">
              <a:avLst/>
            </a:prstGeom>
            <a:solidFill>
              <a:schemeClr val="lt2">
                <a:alpha val="89411"/>
              </a:schemeClr>
            </a:solidFill>
            <a:ln w="12700" cap="rnd" cmpd="sng">
              <a:solidFill>
                <a:schemeClr val="dk2"/>
              </a:solidFill>
              <a:prstDash val="solid"/>
              <a:round/>
              <a:headEnd type="none" w="sm" len="sm"/>
              <a:tailEnd type="none" w="sm" len="sm"/>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1"/>
            <p:cNvSpPr/>
            <p:nvPr/>
          </p:nvSpPr>
          <p:spPr>
            <a:xfrm>
              <a:off x="551497" y="2213671"/>
              <a:ext cx="7720965" cy="442800"/>
            </a:xfrm>
            <a:prstGeom prst="roundRect">
              <a:avLst>
                <a:gd name="adj" fmla="val 16667"/>
              </a:avLst>
            </a:prstGeom>
            <a:gradFill>
              <a:gsLst>
                <a:gs pos="0">
                  <a:srgbClr val="4F4F4F"/>
                </a:gs>
                <a:gs pos="84000">
                  <a:srgbClr val="333333"/>
                </a:gs>
                <a:gs pos="100000">
                  <a:srgbClr val="333333"/>
                </a:gs>
              </a:gsLst>
              <a:lin ang="5400000" scaled="0"/>
            </a:gradFill>
            <a:ln>
              <a:noFill/>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1"/>
            <p:cNvSpPr txBox="1"/>
            <p:nvPr/>
          </p:nvSpPr>
          <p:spPr>
            <a:xfrm>
              <a:off x="573113" y="2235287"/>
              <a:ext cx="7677733" cy="399568"/>
            </a:xfrm>
            <a:prstGeom prst="rect">
              <a:avLst/>
            </a:prstGeom>
            <a:noFill/>
            <a:ln>
              <a:noFill/>
            </a:ln>
          </p:spPr>
          <p:txBody>
            <a:bodyPr spcFirstLastPara="1" wrap="square" lIns="291825" tIns="0" rIns="291825" bIns="0" anchor="ctr" anchorCtr="0">
              <a:no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Goals of Psychology </a:t>
              </a:r>
              <a:endParaRPr sz="1800" b="0" i="0" u="none" strike="noStrike" cap="none">
                <a:solidFill>
                  <a:schemeClr val="lt1"/>
                </a:solidFill>
                <a:latin typeface="Times New Roman"/>
                <a:ea typeface="Times New Roman"/>
                <a:cs typeface="Times New Roman"/>
                <a:sym typeface="Times New Roman"/>
              </a:endParaRPr>
            </a:p>
          </p:txBody>
        </p:sp>
        <p:sp>
          <p:nvSpPr>
            <p:cNvPr id="118" name="Google Shape;118;p11"/>
            <p:cNvSpPr/>
            <p:nvPr/>
          </p:nvSpPr>
          <p:spPr>
            <a:xfrm>
              <a:off x="0" y="3115471"/>
              <a:ext cx="11029950" cy="378000"/>
            </a:xfrm>
            <a:prstGeom prst="rect">
              <a:avLst/>
            </a:prstGeom>
            <a:solidFill>
              <a:schemeClr val="lt2">
                <a:alpha val="89411"/>
              </a:schemeClr>
            </a:solidFill>
            <a:ln w="12700" cap="rnd" cmpd="sng">
              <a:solidFill>
                <a:schemeClr val="dk2"/>
              </a:solidFill>
              <a:prstDash val="solid"/>
              <a:round/>
              <a:headEnd type="none" w="sm" len="sm"/>
              <a:tailEnd type="none" w="sm" len="sm"/>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1"/>
            <p:cNvSpPr/>
            <p:nvPr/>
          </p:nvSpPr>
          <p:spPr>
            <a:xfrm>
              <a:off x="551497" y="2894071"/>
              <a:ext cx="7720965" cy="442800"/>
            </a:xfrm>
            <a:prstGeom prst="roundRect">
              <a:avLst>
                <a:gd name="adj" fmla="val 16667"/>
              </a:avLst>
            </a:prstGeom>
            <a:gradFill>
              <a:gsLst>
                <a:gs pos="0">
                  <a:srgbClr val="4F4F4F"/>
                </a:gs>
                <a:gs pos="84000">
                  <a:srgbClr val="333333"/>
                </a:gs>
                <a:gs pos="100000">
                  <a:srgbClr val="333333"/>
                </a:gs>
              </a:gsLst>
              <a:lin ang="5400000" scaled="0"/>
            </a:gradFill>
            <a:ln>
              <a:noFill/>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1"/>
            <p:cNvSpPr txBox="1"/>
            <p:nvPr/>
          </p:nvSpPr>
          <p:spPr>
            <a:xfrm>
              <a:off x="573113" y="2915687"/>
              <a:ext cx="7677733" cy="399568"/>
            </a:xfrm>
            <a:prstGeom prst="rect">
              <a:avLst/>
            </a:prstGeom>
            <a:noFill/>
            <a:ln>
              <a:noFill/>
            </a:ln>
          </p:spPr>
          <p:txBody>
            <a:bodyPr spcFirstLastPara="1" wrap="square" lIns="291825" tIns="0" rIns="291825" bIns="0" anchor="ctr" anchorCtr="0">
              <a:no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Key debates in Psychology</a:t>
              </a:r>
              <a:endParaRPr sz="1800" b="0" i="0" u="none" strike="noStrike" cap="none">
                <a:solidFill>
                  <a:schemeClr val="lt1"/>
                </a:solidFill>
                <a:latin typeface="Gill Sans"/>
                <a:ea typeface="Gill Sans"/>
                <a:cs typeface="Gill Sans"/>
                <a:sym typeface="Gill Sans"/>
              </a:endParaRPr>
            </a:p>
          </p:txBody>
        </p:sp>
        <p:sp>
          <p:nvSpPr>
            <p:cNvPr id="121" name="Google Shape;121;p11"/>
            <p:cNvSpPr/>
            <p:nvPr/>
          </p:nvSpPr>
          <p:spPr>
            <a:xfrm>
              <a:off x="0" y="3795871"/>
              <a:ext cx="11029950" cy="378000"/>
            </a:xfrm>
            <a:prstGeom prst="rect">
              <a:avLst/>
            </a:prstGeom>
            <a:solidFill>
              <a:schemeClr val="lt2">
                <a:alpha val="89411"/>
              </a:schemeClr>
            </a:solidFill>
            <a:ln w="12700" cap="rnd" cmpd="sng">
              <a:solidFill>
                <a:schemeClr val="dk2"/>
              </a:solidFill>
              <a:prstDash val="solid"/>
              <a:round/>
              <a:headEnd type="none" w="sm" len="sm"/>
              <a:tailEnd type="none" w="sm" len="sm"/>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1"/>
            <p:cNvSpPr/>
            <p:nvPr/>
          </p:nvSpPr>
          <p:spPr>
            <a:xfrm>
              <a:off x="551497" y="3574471"/>
              <a:ext cx="7720965" cy="442800"/>
            </a:xfrm>
            <a:prstGeom prst="roundRect">
              <a:avLst>
                <a:gd name="adj" fmla="val 16667"/>
              </a:avLst>
            </a:prstGeom>
            <a:gradFill>
              <a:gsLst>
                <a:gs pos="0">
                  <a:srgbClr val="4F4F4F"/>
                </a:gs>
                <a:gs pos="84000">
                  <a:srgbClr val="333333"/>
                </a:gs>
                <a:gs pos="100000">
                  <a:srgbClr val="333333"/>
                </a:gs>
              </a:gsLst>
              <a:lin ang="5400000" scaled="0"/>
            </a:gradFill>
            <a:ln>
              <a:noFill/>
            </a:ln>
            <a:effectLst>
              <a:outerShdw blurRad="38100" dist="25400" dir="5400000" rotWithShape="0">
                <a:srgbClr val="000000">
                  <a:alpha val="5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1"/>
            <p:cNvSpPr txBox="1"/>
            <p:nvPr/>
          </p:nvSpPr>
          <p:spPr>
            <a:xfrm>
              <a:off x="573113" y="3596087"/>
              <a:ext cx="7677733" cy="399568"/>
            </a:xfrm>
            <a:prstGeom prst="rect">
              <a:avLst/>
            </a:prstGeom>
            <a:noFill/>
            <a:ln>
              <a:noFill/>
            </a:ln>
          </p:spPr>
          <p:txBody>
            <a:bodyPr spcFirstLastPara="1" wrap="square" lIns="291825" tIns="0" rIns="291825" bIns="0" anchor="ctr" anchorCtr="0">
              <a:no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Branches of Psychology</a:t>
              </a:r>
              <a:endParaRPr sz="1800" b="0" i="0" u="none" strike="noStrike" cap="none">
                <a:solidFill>
                  <a:schemeClr val="lt1"/>
                </a:solidFill>
                <a:latin typeface="Gill Sans"/>
                <a:ea typeface="Gill Sans"/>
                <a:cs typeface="Gill Sans"/>
                <a:sym typeface="Gill Sa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10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fade">
                                      <p:cBhvr>
                                        <p:cTn id="12"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2"/>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9" name="Google Shape;129;p12"/>
          <p:cNvSpPr txBox="1">
            <a:spLocks noGrp="1"/>
          </p:cNvSpPr>
          <p:nvPr>
            <p:ph type="title"/>
          </p:nvPr>
        </p:nvSpPr>
        <p:spPr>
          <a:xfrm>
            <a:off x="5661892" y="4755708"/>
            <a:ext cx="6694054" cy="1499616"/>
          </a:xfrm>
          <a:prstGeom prst="rect">
            <a:avLst/>
          </a:prstGeom>
          <a:noFill/>
          <a:ln>
            <a:noFill/>
          </a:ln>
        </p:spPr>
        <p:txBody>
          <a:bodyPr spcFirstLastPara="1" wrap="square" lIns="91425" tIns="45700" rIns="91425" bIns="45700" anchor="b" anchorCtr="0">
            <a:normAutofit/>
          </a:bodyPr>
          <a:lstStyle/>
          <a:p>
            <a:pPr marL="0" lvl="0" indent="0" algn="ctr" rtl="0">
              <a:lnSpc>
                <a:spcPct val="80000"/>
              </a:lnSpc>
              <a:spcBef>
                <a:spcPts val="0"/>
              </a:spcBef>
              <a:spcAft>
                <a:spcPts val="0"/>
              </a:spcAft>
              <a:buClr>
                <a:schemeClr val="lt1"/>
              </a:buClr>
              <a:buSzPts val="2800"/>
              <a:buFont typeface="Gill Sans"/>
              <a:buNone/>
            </a:pPr>
            <a:r>
              <a:rPr lang="en-US" b="1"/>
              <a:t>WHAT IS PSYCHOLOGY?</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3"/>
          <p:cNvPicPr preferRelativeResize="0"/>
          <p:nvPr/>
        </p:nvPicPr>
        <p:blipFill rotWithShape="1">
          <a:blip r:embed="rId3">
            <a:alphaModFix/>
          </a:blip>
          <a:srcRect/>
          <a:stretch/>
        </p:blipFill>
        <p:spPr>
          <a:xfrm>
            <a:off x="10250957" y="1982391"/>
            <a:ext cx="1537442" cy="1316253"/>
          </a:xfrm>
          <a:prstGeom prst="ellipse">
            <a:avLst/>
          </a:prstGeom>
          <a:noFill/>
          <a:ln>
            <a:noFill/>
          </a:ln>
        </p:spPr>
      </p:pic>
      <p:pic>
        <p:nvPicPr>
          <p:cNvPr id="135" name="Google Shape;135;p13"/>
          <p:cNvPicPr preferRelativeResize="0"/>
          <p:nvPr/>
        </p:nvPicPr>
        <p:blipFill rotWithShape="1">
          <a:blip r:embed="rId4">
            <a:alphaModFix/>
          </a:blip>
          <a:srcRect/>
          <a:stretch/>
        </p:blipFill>
        <p:spPr>
          <a:xfrm>
            <a:off x="10194487" y="4341311"/>
            <a:ext cx="1650381" cy="1439779"/>
          </a:xfrm>
          <a:prstGeom prst="ellipse">
            <a:avLst/>
          </a:prstGeom>
          <a:noFill/>
          <a:ln>
            <a:noFill/>
          </a:ln>
        </p:spPr>
      </p:pic>
      <p:sp>
        <p:nvSpPr>
          <p:cNvPr id="136" name="Google Shape;136;p13"/>
          <p:cNvSpPr txBox="1"/>
          <p:nvPr/>
        </p:nvSpPr>
        <p:spPr>
          <a:xfrm>
            <a:off x="4113876" y="254000"/>
            <a:ext cx="7730992" cy="5689599"/>
          </a:xfrm>
          <a:prstGeom prst="rect">
            <a:avLst/>
          </a:prstGeom>
          <a:noFill/>
          <a:ln>
            <a:noFill/>
          </a:ln>
        </p:spPr>
        <p:txBody>
          <a:bodyPr spcFirstLastPara="1" wrap="square" lIns="91425" tIns="45700" rIns="91425" bIns="45700" anchor="ctr" anchorCtr="0">
            <a:normAutofit/>
          </a:bodyPr>
          <a:lstStyle/>
          <a:p>
            <a:pPr marL="306000" marR="0" lvl="0" indent="-306000" algn="just" rtl="0">
              <a:lnSpc>
                <a:spcPct val="100000"/>
              </a:lnSpc>
              <a:spcBef>
                <a:spcPts val="0"/>
              </a:spcBef>
              <a:spcAft>
                <a:spcPts val="0"/>
              </a:spcAft>
              <a:buClr>
                <a:schemeClr val="accent2"/>
              </a:buClr>
              <a:buSzPts val="1656"/>
              <a:buFont typeface="Noto Sans Symbols"/>
              <a:buChar char="◼"/>
            </a:pPr>
            <a:r>
              <a:rPr lang="en-US" sz="2400" b="0" i="0" u="none" strike="noStrike" cap="none">
                <a:solidFill>
                  <a:schemeClr val="dk1"/>
                </a:solidFill>
                <a:latin typeface="Times New Roman"/>
                <a:ea typeface="Times New Roman"/>
                <a:cs typeface="Times New Roman"/>
                <a:sym typeface="Times New Roman"/>
              </a:rPr>
              <a:t>Psychology is the </a:t>
            </a:r>
            <a:r>
              <a:rPr lang="en-US" sz="2400" b="0" i="0" u="none" strike="noStrike" cap="none">
                <a:solidFill>
                  <a:srgbClr val="FF0000"/>
                </a:solidFill>
                <a:latin typeface="Times New Roman"/>
                <a:ea typeface="Times New Roman"/>
                <a:cs typeface="Times New Roman"/>
                <a:sym typeface="Times New Roman"/>
              </a:rPr>
              <a:t>scientific </a:t>
            </a:r>
            <a:r>
              <a:rPr lang="en-US" sz="2400" b="0" i="0" u="none" strike="noStrike" cap="none">
                <a:solidFill>
                  <a:schemeClr val="dk1"/>
                </a:solidFill>
                <a:latin typeface="Times New Roman"/>
                <a:ea typeface="Times New Roman"/>
                <a:cs typeface="Times New Roman"/>
                <a:sym typeface="Times New Roman"/>
              </a:rPr>
              <a:t>study of </a:t>
            </a:r>
            <a:r>
              <a:rPr lang="en-US" sz="2400" b="0" i="0" u="none" strike="noStrike" cap="none">
                <a:solidFill>
                  <a:srgbClr val="FF0000"/>
                </a:solidFill>
                <a:latin typeface="Times New Roman"/>
                <a:ea typeface="Times New Roman"/>
                <a:cs typeface="Times New Roman"/>
                <a:sym typeface="Times New Roman"/>
              </a:rPr>
              <a:t>behavior </a:t>
            </a:r>
            <a:r>
              <a:rPr lang="en-US" sz="2400" b="0" i="0" u="none" strike="noStrike" cap="none">
                <a:solidFill>
                  <a:schemeClr val="dk1"/>
                </a:solidFill>
                <a:latin typeface="Times New Roman"/>
                <a:ea typeface="Times New Roman"/>
                <a:cs typeface="Times New Roman"/>
                <a:sym typeface="Times New Roman"/>
              </a:rPr>
              <a:t>and</a:t>
            </a:r>
            <a:r>
              <a:rPr lang="en-US" sz="2400" b="0" i="0" u="none" strike="noStrike" cap="none">
                <a:solidFill>
                  <a:schemeClr val="dk2"/>
                </a:solidFill>
                <a:latin typeface="Times New Roman"/>
                <a:ea typeface="Times New Roman"/>
                <a:cs typeface="Times New Roman"/>
                <a:sym typeface="Times New Roman"/>
              </a:rPr>
              <a:t> </a:t>
            </a:r>
            <a:r>
              <a:rPr lang="en-US" sz="2400" b="0" i="0" u="none" strike="noStrike" cap="none">
                <a:solidFill>
                  <a:srgbClr val="FF0000"/>
                </a:solidFill>
                <a:latin typeface="Times New Roman"/>
                <a:ea typeface="Times New Roman"/>
                <a:cs typeface="Times New Roman"/>
                <a:sym typeface="Times New Roman"/>
              </a:rPr>
              <a:t>mental processes.</a:t>
            </a:r>
            <a:r>
              <a:rPr lang="en-US" sz="2400" b="0" i="0" u="none" strike="noStrike" cap="none">
                <a:solidFill>
                  <a:schemeClr val="dk2"/>
                </a:solidFill>
                <a:latin typeface="Times New Roman"/>
                <a:ea typeface="Times New Roman"/>
                <a:cs typeface="Times New Roman"/>
                <a:sym typeface="Times New Roman"/>
              </a:rPr>
              <a:t> </a:t>
            </a:r>
            <a:endParaRPr sz="1800" b="0" i="0" u="none" strike="noStrike" cap="none">
              <a:solidFill>
                <a:srgbClr val="000000"/>
              </a:solidFill>
              <a:latin typeface="Arial"/>
              <a:ea typeface="Arial"/>
              <a:cs typeface="Arial"/>
              <a:sym typeface="Arial"/>
            </a:endParaRPr>
          </a:p>
          <a:p>
            <a:pPr marL="306000" marR="0" lvl="0" indent="-306000" algn="l" rtl="0">
              <a:lnSpc>
                <a:spcPct val="100000"/>
              </a:lnSpc>
              <a:spcBef>
                <a:spcPts val="960"/>
              </a:spcBef>
              <a:spcAft>
                <a:spcPts val="0"/>
              </a:spcAft>
              <a:buClr>
                <a:schemeClr val="accent2"/>
              </a:buClr>
              <a:buSzPts val="1656"/>
              <a:buFont typeface="Noto Sans Symbols"/>
              <a:buChar char="◼"/>
            </a:pPr>
            <a:r>
              <a:rPr lang="en-US" sz="2400" b="0" i="0" u="none" strike="noStrike" cap="none">
                <a:solidFill>
                  <a:schemeClr val="dk1"/>
                </a:solidFill>
                <a:latin typeface="Times New Roman"/>
                <a:ea typeface="Times New Roman"/>
                <a:cs typeface="Times New Roman"/>
                <a:sym typeface="Times New Roman"/>
              </a:rPr>
              <a:t>Behavior: Outward or overt actions and reactions (observable) </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60"/>
              </a:spcBef>
              <a:spcAft>
                <a:spcPts val="0"/>
              </a:spcAft>
              <a:buClr>
                <a:schemeClr val="accent2"/>
              </a:buClr>
              <a:buSzPts val="1656"/>
              <a:buFont typeface="Noto Sans Symbols"/>
              <a:buNone/>
            </a:pPr>
            <a:r>
              <a:rPr lang="en-US" sz="2400" b="0" i="0" u="none" strike="noStrike" cap="none">
                <a:solidFill>
                  <a:schemeClr val="dk1"/>
                </a:solidFill>
                <a:latin typeface="Times New Roman"/>
                <a:ea typeface="Times New Roman"/>
                <a:cs typeface="Times New Roman"/>
                <a:sym typeface="Times New Roman"/>
              </a:rPr>
              <a:t>Example: running, smiling, dancing, talking </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60"/>
              </a:spcBef>
              <a:spcAft>
                <a:spcPts val="0"/>
              </a:spcAft>
              <a:buClr>
                <a:schemeClr val="accent2"/>
              </a:buClr>
              <a:buSzPts val="1656"/>
              <a:buFont typeface="Noto Sans Symbols"/>
              <a:buNone/>
            </a:pPr>
            <a:endParaRPr sz="2400" b="0" i="0" u="none" strike="noStrike" cap="none">
              <a:solidFill>
                <a:schemeClr val="dk1"/>
              </a:solidFill>
              <a:latin typeface="Times New Roman"/>
              <a:ea typeface="Times New Roman"/>
              <a:cs typeface="Times New Roman"/>
              <a:sym typeface="Times New Roman"/>
            </a:endParaRPr>
          </a:p>
          <a:p>
            <a:pPr marL="306000" marR="0" lvl="0" indent="-306000" algn="l" rtl="0">
              <a:lnSpc>
                <a:spcPct val="100000"/>
              </a:lnSpc>
              <a:spcBef>
                <a:spcPts val="960"/>
              </a:spcBef>
              <a:spcAft>
                <a:spcPts val="0"/>
              </a:spcAft>
              <a:buClr>
                <a:schemeClr val="accent2"/>
              </a:buClr>
              <a:buSzPts val="1656"/>
              <a:buFont typeface="Noto Sans Symbols"/>
              <a:buChar char="◼"/>
            </a:pPr>
            <a:r>
              <a:rPr lang="en-US" sz="2400" b="0" i="0" u="none" strike="noStrike" cap="none">
                <a:solidFill>
                  <a:schemeClr val="dk1"/>
                </a:solidFill>
                <a:latin typeface="Times New Roman"/>
                <a:ea typeface="Times New Roman"/>
                <a:cs typeface="Times New Roman"/>
                <a:sym typeface="Times New Roman"/>
              </a:rPr>
              <a:t>Mental Processes: all internal, covert activity of mind (hidden) </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60"/>
              </a:spcBef>
              <a:spcAft>
                <a:spcPts val="0"/>
              </a:spcAft>
              <a:buClr>
                <a:schemeClr val="accent2"/>
              </a:buClr>
              <a:buSzPts val="1656"/>
              <a:buFont typeface="Noto Sans Symbols"/>
              <a:buNone/>
            </a:pPr>
            <a:r>
              <a:rPr lang="en-US" sz="2400" b="0" i="0" u="none" strike="noStrike" cap="none">
                <a:solidFill>
                  <a:schemeClr val="dk1"/>
                </a:solidFill>
                <a:latin typeface="Times New Roman"/>
                <a:ea typeface="Times New Roman"/>
                <a:cs typeface="Times New Roman"/>
                <a:sym typeface="Times New Roman"/>
              </a:rPr>
              <a:t>Example: thoughts, dreaming, sensations, feelings</a:t>
            </a:r>
            <a:endParaRPr sz="1800" b="0" i="0" u="none" strike="noStrike" cap="none">
              <a:solidFill>
                <a:srgbClr val="000000"/>
              </a:solidFill>
              <a:latin typeface="Arial"/>
              <a:ea typeface="Arial"/>
              <a:cs typeface="Arial"/>
              <a:sym typeface="Arial"/>
            </a:endParaRPr>
          </a:p>
          <a:p>
            <a:pPr marL="306000" marR="0" lvl="0" indent="-200844" algn="just" rtl="0">
              <a:lnSpc>
                <a:spcPct val="100000"/>
              </a:lnSpc>
              <a:spcBef>
                <a:spcPts val="960"/>
              </a:spcBef>
              <a:spcAft>
                <a:spcPts val="0"/>
              </a:spcAft>
              <a:buClr>
                <a:schemeClr val="accent2"/>
              </a:buClr>
              <a:buSzPts val="1656"/>
              <a:buFont typeface="Noto Sans Symbols"/>
              <a:buNone/>
            </a:pPr>
            <a:endParaRPr sz="1800" b="0" i="0" u="none" strike="noStrike" cap="none">
              <a:solidFill>
                <a:schemeClr val="dk2"/>
              </a:solidFill>
              <a:latin typeface="Times New Roman"/>
              <a:ea typeface="Times New Roman"/>
              <a:cs typeface="Times New Roman"/>
              <a:sym typeface="Times New Roman"/>
            </a:endParaRPr>
          </a:p>
          <a:p>
            <a:pPr marL="306000" marR="0" lvl="0" indent="-200844" algn="l" rtl="0">
              <a:lnSpc>
                <a:spcPct val="100000"/>
              </a:lnSpc>
              <a:spcBef>
                <a:spcPts val="960"/>
              </a:spcBef>
              <a:spcAft>
                <a:spcPts val="0"/>
              </a:spcAft>
              <a:buClr>
                <a:schemeClr val="accent2"/>
              </a:buClr>
              <a:buSzPts val="1656"/>
              <a:buFont typeface="Noto Sans Symbols"/>
              <a:buNone/>
            </a:pPr>
            <a:endParaRPr sz="1800" b="0" i="0" u="none" strike="noStrike" cap="none">
              <a:solidFill>
                <a:schemeClr val="dk2"/>
              </a:solidFill>
              <a:latin typeface="Gill Sans"/>
              <a:ea typeface="Gill Sans"/>
              <a:cs typeface="Gill Sans"/>
              <a:sym typeface="Gill Sans"/>
            </a:endParaRPr>
          </a:p>
        </p:txBody>
      </p:sp>
      <p:pic>
        <p:nvPicPr>
          <p:cNvPr id="137" name="Google Shape;137;p13"/>
          <p:cNvPicPr preferRelativeResize="0"/>
          <p:nvPr/>
        </p:nvPicPr>
        <p:blipFill rotWithShape="1">
          <a:blip r:embed="rId5">
            <a:alphaModFix/>
          </a:blip>
          <a:srcRect/>
          <a:stretch/>
        </p:blipFill>
        <p:spPr>
          <a:xfrm>
            <a:off x="297184" y="1182278"/>
            <a:ext cx="3816692" cy="4403875"/>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pic>
        <p:nvPicPr>
          <p:cNvPr id="138" name="Google Shape;138;p13"/>
          <p:cNvPicPr preferRelativeResize="0"/>
          <p:nvPr/>
        </p:nvPicPr>
        <p:blipFill rotWithShape="1">
          <a:blip r:embed="rId6">
            <a:alphaModFix/>
          </a:blip>
          <a:srcRect/>
          <a:stretch/>
        </p:blipFill>
        <p:spPr>
          <a:xfrm>
            <a:off x="7680961" y="4932573"/>
            <a:ext cx="1963784" cy="1963784"/>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CONT.…</a:t>
            </a:r>
            <a:endParaRPr/>
          </a:p>
        </p:txBody>
      </p:sp>
      <p:sp>
        <p:nvSpPr>
          <p:cNvPr id="144" name="Google Shape;144;p14"/>
          <p:cNvSpPr txBox="1">
            <a:spLocks noGrp="1"/>
          </p:cNvSpPr>
          <p:nvPr>
            <p:ph type="body" idx="1"/>
          </p:nvPr>
        </p:nvSpPr>
        <p:spPr>
          <a:xfrm>
            <a:off x="1218091" y="2382982"/>
            <a:ext cx="9720073" cy="2947324"/>
          </a:xfrm>
          <a:prstGeom prst="rect">
            <a:avLst/>
          </a:prstGeom>
          <a:noFill/>
          <a:ln>
            <a:noFill/>
          </a:ln>
        </p:spPr>
        <p:txBody>
          <a:bodyPr spcFirstLastPara="1" wrap="square" lIns="91425" tIns="45700" rIns="91425" bIns="45700" anchor="ctr" anchorCtr="0">
            <a:normAutofit/>
          </a:bodyPr>
          <a:lstStyle/>
          <a:p>
            <a:pPr marL="306000" lvl="0" indent="-306000" algn="just" rtl="0">
              <a:lnSpc>
                <a:spcPct val="90000"/>
              </a:lnSpc>
              <a:spcBef>
                <a:spcPts val="0"/>
              </a:spcBef>
              <a:spcAft>
                <a:spcPts val="0"/>
              </a:spcAft>
              <a:buSzPts val="1656"/>
              <a:buChar char="◼"/>
            </a:pPr>
            <a:r>
              <a:rPr lang="en-US">
                <a:solidFill>
                  <a:schemeClr val="dk1"/>
                </a:solidFill>
                <a:latin typeface="Times New Roman"/>
                <a:ea typeface="Times New Roman"/>
                <a:cs typeface="Times New Roman"/>
                <a:sym typeface="Times New Roman"/>
              </a:rPr>
              <a:t>The word "psychology" comes from the Greek word psyche meaning "breath, spirit, soul", and the Greek word logos meaning the study of something. </a:t>
            </a:r>
            <a:endParaRPr/>
          </a:p>
          <a:p>
            <a:pPr marL="0" lvl="0" indent="0" algn="just" rtl="0">
              <a:lnSpc>
                <a:spcPct val="90000"/>
              </a:lnSpc>
              <a:spcBef>
                <a:spcPts val="0"/>
              </a:spcBef>
              <a:spcAft>
                <a:spcPts val="0"/>
              </a:spcAft>
              <a:buSzPts val="1656"/>
              <a:buNone/>
            </a:pPr>
            <a:r>
              <a:rPr lang="en-US">
                <a:solidFill>
                  <a:schemeClr val="dk1"/>
                </a:solidFill>
                <a:latin typeface="Times New Roman"/>
                <a:ea typeface="Times New Roman"/>
                <a:cs typeface="Times New Roman"/>
                <a:sym typeface="Times New Roman"/>
              </a:rPr>
              <a:t>     Thus we can conclude that psychology is the study of soul.</a:t>
            </a:r>
            <a:endParaRPr/>
          </a:p>
          <a:p>
            <a:pPr marL="0" lvl="0" indent="0" algn="just" rtl="0">
              <a:lnSpc>
                <a:spcPct val="90000"/>
              </a:lnSpc>
              <a:spcBef>
                <a:spcPts val="0"/>
              </a:spcBef>
              <a:spcAft>
                <a:spcPts val="0"/>
              </a:spcAft>
              <a:buSzPts val="1656"/>
              <a:buNone/>
            </a:pPr>
            <a:endParaRPr/>
          </a:p>
          <a:p>
            <a:pPr marL="306000" lvl="0" indent="-306000" algn="just" rtl="0">
              <a:lnSpc>
                <a:spcPct val="90000"/>
              </a:lnSpc>
              <a:spcBef>
                <a:spcPts val="960"/>
              </a:spcBef>
              <a:spcAft>
                <a:spcPts val="0"/>
              </a:spcAft>
              <a:buSzPts val="1656"/>
              <a:buChar char="◼"/>
            </a:pPr>
            <a:r>
              <a:rPr lang="en-US">
                <a:solidFill>
                  <a:schemeClr val="dk1"/>
                </a:solidFill>
                <a:latin typeface="Times New Roman"/>
                <a:ea typeface="Times New Roman"/>
                <a:cs typeface="Times New Roman"/>
                <a:sym typeface="Times New Roman"/>
              </a:rPr>
              <a:t>Psychology is an offspring of subject </a:t>
            </a:r>
            <a:r>
              <a:rPr lang="en-US">
                <a:solidFill>
                  <a:srgbClr val="FF0000"/>
                </a:solidFill>
                <a:latin typeface="Times New Roman"/>
                <a:ea typeface="Times New Roman"/>
                <a:cs typeface="Times New Roman"/>
                <a:sym typeface="Times New Roman"/>
              </a:rPr>
              <a:t>philosophy.</a:t>
            </a:r>
            <a:endParaRPr/>
          </a:p>
          <a:p>
            <a:pPr marL="306000" lvl="0" indent="-200844" algn="l" rtl="0">
              <a:lnSpc>
                <a:spcPct val="90000"/>
              </a:lnSpc>
              <a:spcBef>
                <a:spcPts val="960"/>
              </a:spcBef>
              <a:spcAft>
                <a:spcPts val="0"/>
              </a:spcAft>
              <a:buSzPts val="1656"/>
              <a:buNone/>
            </a:pPr>
            <a:endParaRPr>
              <a:latin typeface="Times New Roman"/>
              <a:ea typeface="Times New Roman"/>
              <a:cs typeface="Times New Roman"/>
              <a:sym typeface="Times New Roman"/>
            </a:endParaRPr>
          </a:p>
        </p:txBody>
      </p:sp>
      <p:pic>
        <p:nvPicPr>
          <p:cNvPr id="145" name="Google Shape;145;p14"/>
          <p:cNvPicPr preferRelativeResize="0"/>
          <p:nvPr/>
        </p:nvPicPr>
        <p:blipFill rotWithShape="1">
          <a:blip r:embed="rId3">
            <a:alphaModFix/>
          </a:blip>
          <a:srcRect/>
          <a:stretch/>
        </p:blipFill>
        <p:spPr>
          <a:xfrm>
            <a:off x="5612384" y="4109997"/>
            <a:ext cx="6696363" cy="2678915"/>
          </a:xfrm>
          <a:prstGeom prst="ellipse">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5"/>
          <p:cNvSpPr txBox="1">
            <a:spLocks noGrp="1"/>
          </p:cNvSpPr>
          <p:nvPr>
            <p:ph type="title"/>
          </p:nvPr>
        </p:nvSpPr>
        <p:spPr>
          <a:xfrm>
            <a:off x="1024128" y="0"/>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PSYCHOLOGY AS A SCIENCE</a:t>
            </a:r>
            <a:endParaRPr/>
          </a:p>
        </p:txBody>
      </p:sp>
      <p:sp>
        <p:nvSpPr>
          <p:cNvPr id="152" name="Google Shape;152;p15"/>
          <p:cNvSpPr txBox="1">
            <a:spLocks noGrp="1"/>
          </p:cNvSpPr>
          <p:nvPr>
            <p:ph type="body" idx="1"/>
          </p:nvPr>
        </p:nvSpPr>
        <p:spPr>
          <a:xfrm>
            <a:off x="765510" y="1463224"/>
            <a:ext cx="11177108" cy="4023360"/>
          </a:xfrm>
          <a:prstGeom prst="rect">
            <a:avLst/>
          </a:prstGeom>
          <a:noFill/>
          <a:ln>
            <a:noFill/>
          </a:ln>
        </p:spPr>
        <p:txBody>
          <a:bodyPr spcFirstLastPara="1" wrap="square" lIns="91425" tIns="45700" rIns="91425" bIns="45700" anchor="ctr" anchorCtr="0">
            <a:normAutofit/>
          </a:bodyPr>
          <a:lstStyle/>
          <a:p>
            <a:pPr marL="306000" lvl="0" indent="-306000" algn="l" rtl="0">
              <a:lnSpc>
                <a:spcPct val="90000"/>
              </a:lnSpc>
              <a:spcBef>
                <a:spcPts val="0"/>
              </a:spcBef>
              <a:spcAft>
                <a:spcPts val="0"/>
              </a:spcAft>
              <a:buSzPts val="1656"/>
              <a:buChar char="◼"/>
            </a:pPr>
            <a:r>
              <a:rPr lang="en-US">
                <a:solidFill>
                  <a:schemeClr val="dk1"/>
                </a:solidFill>
                <a:latin typeface="Times New Roman"/>
                <a:ea typeface="Times New Roman"/>
                <a:cs typeface="Times New Roman"/>
                <a:sym typeface="Times New Roman"/>
              </a:rPr>
              <a:t>Based on scientific principles that emphasizes empiricism, or knowledge based on observation</a:t>
            </a:r>
            <a:endParaRPr/>
          </a:p>
          <a:p>
            <a:pPr marL="306000" lvl="0" indent="-306000" algn="l" rtl="0">
              <a:lnSpc>
                <a:spcPct val="90000"/>
              </a:lnSpc>
              <a:spcBef>
                <a:spcPts val="960"/>
              </a:spcBef>
              <a:spcAft>
                <a:spcPts val="0"/>
              </a:spcAft>
              <a:buSzPts val="1656"/>
              <a:buChar char="◼"/>
            </a:pPr>
            <a:r>
              <a:rPr lang="en-US">
                <a:solidFill>
                  <a:schemeClr val="dk1"/>
                </a:solidFill>
                <a:latin typeface="Times New Roman"/>
                <a:ea typeface="Times New Roman"/>
                <a:cs typeface="Times New Roman"/>
                <a:sym typeface="Times New Roman"/>
              </a:rPr>
              <a:t> Systematic collection and examination of data (empirical evidence) to support or disprove hypotheses (predictions) rather than depending on common sense. </a:t>
            </a:r>
            <a:endParaRPr/>
          </a:p>
          <a:p>
            <a:pPr marL="306000" lvl="0" indent="-200844" algn="l" rtl="0">
              <a:lnSpc>
                <a:spcPct val="90000"/>
              </a:lnSpc>
              <a:spcBef>
                <a:spcPts val="960"/>
              </a:spcBef>
              <a:spcAft>
                <a:spcPts val="0"/>
              </a:spcAft>
              <a:buSzPts val="1656"/>
              <a:buNone/>
            </a:pPr>
            <a:endParaRPr/>
          </a:p>
          <a:p>
            <a:pPr marL="0" lvl="0" indent="0" algn="ctr" rtl="0">
              <a:lnSpc>
                <a:spcPct val="90000"/>
              </a:lnSpc>
              <a:spcBef>
                <a:spcPts val="1160"/>
              </a:spcBef>
              <a:spcAft>
                <a:spcPts val="0"/>
              </a:spcAft>
              <a:buSzPts val="2576"/>
              <a:buNone/>
            </a:pPr>
            <a:r>
              <a:rPr lang="en-US" sz="2800">
                <a:solidFill>
                  <a:schemeClr val="dk1"/>
                </a:solidFill>
                <a:latin typeface="Times New Roman"/>
                <a:ea typeface="Times New Roman"/>
                <a:cs typeface="Times New Roman"/>
                <a:sym typeface="Times New Roman"/>
              </a:rPr>
              <a:t>“Psychology is the </a:t>
            </a:r>
            <a:r>
              <a:rPr lang="en-US" sz="2800">
                <a:solidFill>
                  <a:srgbClr val="FF0000"/>
                </a:solidFill>
                <a:latin typeface="Times New Roman"/>
                <a:ea typeface="Times New Roman"/>
                <a:cs typeface="Times New Roman"/>
                <a:sym typeface="Times New Roman"/>
              </a:rPr>
              <a:t>scientific </a:t>
            </a:r>
            <a:r>
              <a:rPr lang="en-US" sz="2800">
                <a:solidFill>
                  <a:schemeClr val="dk1"/>
                </a:solidFill>
                <a:latin typeface="Times New Roman"/>
                <a:ea typeface="Times New Roman"/>
                <a:cs typeface="Times New Roman"/>
                <a:sym typeface="Times New Roman"/>
              </a:rPr>
              <a:t>study of </a:t>
            </a:r>
            <a:r>
              <a:rPr lang="en-US" sz="2800">
                <a:solidFill>
                  <a:srgbClr val="FF0000"/>
                </a:solidFill>
                <a:latin typeface="Times New Roman"/>
                <a:ea typeface="Times New Roman"/>
                <a:cs typeface="Times New Roman"/>
                <a:sym typeface="Times New Roman"/>
              </a:rPr>
              <a:t>behavior </a:t>
            </a:r>
            <a:r>
              <a:rPr lang="en-US" sz="2800">
                <a:solidFill>
                  <a:schemeClr val="dk1"/>
                </a:solidFill>
                <a:latin typeface="Times New Roman"/>
                <a:ea typeface="Times New Roman"/>
                <a:cs typeface="Times New Roman"/>
                <a:sym typeface="Times New Roman"/>
              </a:rPr>
              <a:t>and</a:t>
            </a:r>
            <a:r>
              <a:rPr lang="en-US" sz="2800">
                <a:latin typeface="Times New Roman"/>
                <a:ea typeface="Times New Roman"/>
                <a:cs typeface="Times New Roman"/>
                <a:sym typeface="Times New Roman"/>
              </a:rPr>
              <a:t> </a:t>
            </a:r>
            <a:r>
              <a:rPr lang="en-US" sz="2800">
                <a:solidFill>
                  <a:srgbClr val="FF0000"/>
                </a:solidFill>
                <a:latin typeface="Times New Roman"/>
                <a:ea typeface="Times New Roman"/>
                <a:cs typeface="Times New Roman"/>
                <a:sym typeface="Times New Roman"/>
              </a:rPr>
              <a:t>mental processes.</a:t>
            </a:r>
            <a:r>
              <a:rPr lang="en-US" sz="2800">
                <a:solidFill>
                  <a:schemeClr val="dk1"/>
                </a:solidFill>
                <a:latin typeface="Times New Roman"/>
                <a:ea typeface="Times New Roman"/>
                <a:cs typeface="Times New Roman"/>
                <a:sym typeface="Times New Roman"/>
              </a:rPr>
              <a:t>”</a:t>
            </a:r>
            <a:endParaRPr/>
          </a:p>
          <a:p>
            <a:pPr marL="306000" lvl="0" indent="-200844" algn="l" rtl="0">
              <a:lnSpc>
                <a:spcPct val="90000"/>
              </a:lnSpc>
              <a:spcBef>
                <a:spcPts val="960"/>
              </a:spcBef>
              <a:spcAft>
                <a:spcPts val="0"/>
              </a:spcAft>
              <a:buSzPts val="1656"/>
              <a:buNone/>
            </a:pPr>
            <a:endParaRPr/>
          </a:p>
          <a:p>
            <a:pPr marL="306000" lvl="0" indent="-200844" algn="l" rtl="0">
              <a:lnSpc>
                <a:spcPct val="90000"/>
              </a:lnSpc>
              <a:spcBef>
                <a:spcPts val="960"/>
              </a:spcBef>
              <a:spcAft>
                <a:spcPts val="0"/>
              </a:spcAft>
              <a:buSzPts val="1656"/>
              <a:buNone/>
            </a:pPr>
            <a:endParaRPr/>
          </a:p>
        </p:txBody>
      </p:sp>
      <p:pic>
        <p:nvPicPr>
          <p:cNvPr id="153" name="Google Shape;153;p15"/>
          <p:cNvPicPr preferRelativeResize="0"/>
          <p:nvPr/>
        </p:nvPicPr>
        <p:blipFill rotWithShape="1">
          <a:blip r:embed="rId3">
            <a:alphaModFix/>
          </a:blip>
          <a:srcRect/>
          <a:stretch/>
        </p:blipFill>
        <p:spPr>
          <a:xfrm>
            <a:off x="2865120" y="4224159"/>
            <a:ext cx="6278880" cy="26338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txBox="1">
            <a:spLocks noGrp="1"/>
          </p:cNvSpPr>
          <p:nvPr>
            <p:ph type="title"/>
          </p:nvPr>
        </p:nvSpPr>
        <p:spPr>
          <a:xfrm>
            <a:off x="750751" y="18099"/>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SCOPE OF PSYCHOLOGY</a:t>
            </a:r>
            <a:endParaRPr/>
          </a:p>
        </p:txBody>
      </p:sp>
      <p:pic>
        <p:nvPicPr>
          <p:cNvPr id="160" name="Google Shape;160;p16"/>
          <p:cNvPicPr preferRelativeResize="0"/>
          <p:nvPr/>
        </p:nvPicPr>
        <p:blipFill rotWithShape="1">
          <a:blip r:embed="rId3">
            <a:alphaModFix/>
          </a:blip>
          <a:srcRect/>
          <a:stretch/>
        </p:blipFill>
        <p:spPr>
          <a:xfrm>
            <a:off x="7415235" y="538480"/>
            <a:ext cx="4096867" cy="5586470"/>
          </a:xfrm>
          <a:prstGeom prst="rect">
            <a:avLst/>
          </a:prstGeom>
          <a:noFill/>
          <a:ln>
            <a:noFill/>
          </a:ln>
        </p:spPr>
      </p:pic>
      <p:sp>
        <p:nvSpPr>
          <p:cNvPr id="161" name="Google Shape;161;p16"/>
          <p:cNvSpPr txBox="1"/>
          <p:nvPr/>
        </p:nvSpPr>
        <p:spPr>
          <a:xfrm>
            <a:off x="581192" y="1517714"/>
            <a:ext cx="6451204" cy="5340285"/>
          </a:xfrm>
          <a:prstGeom prst="rect">
            <a:avLst/>
          </a:prstGeom>
          <a:noFill/>
          <a:ln>
            <a:noFill/>
          </a:ln>
        </p:spPr>
        <p:txBody>
          <a:bodyPr spcFirstLastPara="1" wrap="square" lIns="91425" tIns="45700" rIns="91425" bIns="45700" anchor="ctr" anchorCtr="0">
            <a:normAutofit/>
          </a:bodyPr>
          <a:lstStyle/>
          <a:p>
            <a:pPr marL="306000" marR="0" lvl="0" indent="-306000" algn="just" rtl="0">
              <a:lnSpc>
                <a:spcPct val="100000"/>
              </a:lnSpc>
              <a:spcBef>
                <a:spcPts val="0"/>
              </a:spcBef>
              <a:spcAft>
                <a:spcPts val="0"/>
              </a:spcAft>
              <a:buClr>
                <a:schemeClr val="accent2"/>
              </a:buClr>
              <a:buSzPts val="1656"/>
              <a:buFont typeface="Noto Sans Symbols"/>
              <a:buChar char="◼"/>
            </a:pPr>
            <a:r>
              <a:rPr lang="en-US" sz="2000" b="0" i="0" u="none" strike="noStrike" cap="none">
                <a:solidFill>
                  <a:schemeClr val="dk1"/>
                </a:solidFill>
                <a:latin typeface="Gill Sans"/>
                <a:ea typeface="Gill Sans"/>
                <a:cs typeface="Gill Sans"/>
                <a:sym typeface="Gill Sans"/>
              </a:rPr>
              <a:t>Psychology today covers enormous range of scope or fields</a:t>
            </a:r>
            <a:r>
              <a:rPr lang="en-US" sz="2000" b="0" i="0" u="none" strike="noStrike" cap="none">
                <a:solidFill>
                  <a:schemeClr val="dk2"/>
                </a:solidFill>
                <a:latin typeface="Gill Sans"/>
                <a:ea typeface="Gill Sans"/>
                <a:cs typeface="Gill Sans"/>
                <a:sym typeface="Gill Sans"/>
              </a:rPr>
              <a:t>.</a:t>
            </a:r>
            <a:endParaRPr sz="2000" b="0" i="0" u="none" strike="noStrike" cap="none">
              <a:solidFill>
                <a:schemeClr val="dk2"/>
              </a:solidFill>
              <a:latin typeface="Gill Sans"/>
              <a:ea typeface="Gill Sans"/>
              <a:cs typeface="Gill Sans"/>
              <a:sym typeface="Gill Sans"/>
            </a:endParaRPr>
          </a:p>
          <a:p>
            <a:pPr marL="306000" marR="0" lvl="0" indent="-306000" algn="just" rtl="0">
              <a:lnSpc>
                <a:spcPct val="100000"/>
              </a:lnSpc>
              <a:spcBef>
                <a:spcPts val="960"/>
              </a:spcBef>
              <a:spcAft>
                <a:spcPts val="0"/>
              </a:spcAft>
              <a:buClr>
                <a:schemeClr val="accent2"/>
              </a:buClr>
              <a:buSzPts val="1656"/>
              <a:buFont typeface="Noto Sans Symbols"/>
              <a:buChar char="◼"/>
            </a:pPr>
            <a:r>
              <a:rPr lang="en-US" sz="2000" b="0" i="0" u="none" strike="noStrike" cap="none">
                <a:solidFill>
                  <a:srgbClr val="C00000"/>
                </a:solidFill>
                <a:latin typeface="Gill Sans"/>
                <a:ea typeface="Gill Sans"/>
                <a:cs typeface="Gill Sans"/>
                <a:sym typeface="Gill Sans"/>
              </a:rPr>
              <a:t>Basic Research: </a:t>
            </a:r>
            <a:r>
              <a:rPr lang="en-US" sz="2000" b="0" i="0" u="none" strike="noStrike" cap="none">
                <a:solidFill>
                  <a:schemeClr val="dk1"/>
                </a:solidFill>
                <a:latin typeface="Gill Sans"/>
                <a:ea typeface="Gill Sans"/>
                <a:cs typeface="Gill Sans"/>
                <a:sym typeface="Gill Sans"/>
              </a:rPr>
              <a:t>Purely theoretical, with the intent of increasing our understanding of certain phenomena.</a:t>
            </a:r>
            <a:endParaRPr/>
          </a:p>
          <a:p>
            <a:pPr marL="0" marR="0" lvl="0" indent="0" algn="just" rtl="0">
              <a:lnSpc>
                <a:spcPct val="100000"/>
              </a:lnSpc>
              <a:spcBef>
                <a:spcPts val="960"/>
              </a:spcBef>
              <a:spcAft>
                <a:spcPts val="0"/>
              </a:spcAft>
              <a:buNone/>
            </a:pPr>
            <a:r>
              <a:rPr lang="en-US" sz="2000" b="0" i="0" u="none" strike="noStrike" cap="none">
                <a:solidFill>
                  <a:srgbClr val="000000"/>
                </a:solidFill>
                <a:latin typeface="Gill Sans"/>
                <a:ea typeface="Gill Sans"/>
                <a:cs typeface="Gill Sans"/>
                <a:sym typeface="Gill Sans"/>
              </a:rPr>
              <a:t>Theoretical and exploratory; seeks to answer "why" or "how" something works.</a:t>
            </a:r>
            <a:endParaRPr sz="2000" b="0" i="0" u="none" strike="noStrike" cap="none">
              <a:solidFill>
                <a:schemeClr val="dk1"/>
              </a:solidFill>
              <a:latin typeface="Gill Sans"/>
              <a:ea typeface="Gill Sans"/>
              <a:cs typeface="Gill Sans"/>
              <a:sym typeface="Gill Sans"/>
            </a:endParaRPr>
          </a:p>
          <a:p>
            <a:pPr marL="306000" marR="0" lvl="0" indent="-306000" algn="just" rtl="0">
              <a:lnSpc>
                <a:spcPct val="100000"/>
              </a:lnSpc>
              <a:spcBef>
                <a:spcPts val="960"/>
              </a:spcBef>
              <a:spcAft>
                <a:spcPts val="0"/>
              </a:spcAft>
              <a:buClr>
                <a:schemeClr val="accent2"/>
              </a:buClr>
              <a:buSzPts val="1656"/>
              <a:buFont typeface="Noto Sans Symbols"/>
              <a:buChar char="◼"/>
            </a:pPr>
            <a:r>
              <a:rPr lang="en-US" sz="2000" b="0" i="0" u="none" strike="noStrike" cap="none">
                <a:solidFill>
                  <a:srgbClr val="C00000"/>
                </a:solidFill>
                <a:latin typeface="Gill Sans"/>
                <a:ea typeface="Gill Sans"/>
                <a:cs typeface="Gill Sans"/>
                <a:sym typeface="Gill Sans"/>
              </a:rPr>
              <a:t>Applied Research: </a:t>
            </a:r>
            <a:r>
              <a:rPr lang="en-US" sz="2000" b="0" i="0" u="none" strike="noStrike" cap="none">
                <a:solidFill>
                  <a:schemeClr val="dk1"/>
                </a:solidFill>
                <a:latin typeface="Gill Sans"/>
                <a:ea typeface="Gill Sans"/>
                <a:cs typeface="Gill Sans"/>
                <a:sym typeface="Gill Sans"/>
              </a:rPr>
              <a:t>methods and findings of scientific psychology to solve practical problems of human and animal behavior and experience.</a:t>
            </a:r>
            <a:endParaRPr/>
          </a:p>
          <a:p>
            <a:pPr marL="0" marR="0" lvl="0" indent="0" algn="just" rtl="0">
              <a:lnSpc>
                <a:spcPct val="100000"/>
              </a:lnSpc>
              <a:spcBef>
                <a:spcPts val="960"/>
              </a:spcBef>
              <a:spcAft>
                <a:spcPts val="0"/>
              </a:spcAft>
              <a:buNone/>
            </a:pPr>
            <a:r>
              <a:rPr lang="en-US" sz="2000" b="0" i="0" u="none" strike="noStrike" cap="none">
                <a:solidFill>
                  <a:srgbClr val="000000"/>
                </a:solidFill>
                <a:latin typeface="Gill Sans"/>
                <a:ea typeface="Gill Sans"/>
                <a:cs typeface="Gill Sans"/>
                <a:sym typeface="Gill Sans"/>
              </a:rPr>
              <a:t>Solution-oriented; seeks to answer "how to" solve real-world issues.</a:t>
            </a:r>
            <a:endParaRPr sz="2000" b="0" i="0" u="none" strike="noStrike" cap="none">
              <a:solidFill>
                <a:schemeClr val="dk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7"/>
          <p:cNvSpPr txBox="1">
            <a:spLocks noGrp="1"/>
          </p:cNvSpPr>
          <p:nvPr>
            <p:ph type="body" idx="1"/>
          </p:nvPr>
        </p:nvSpPr>
        <p:spPr>
          <a:xfrm>
            <a:off x="1107440" y="802640"/>
            <a:ext cx="10698480" cy="5506720"/>
          </a:xfrm>
          <a:prstGeom prst="rect">
            <a:avLst/>
          </a:prstGeom>
          <a:noFill/>
          <a:ln>
            <a:noFill/>
          </a:ln>
        </p:spPr>
        <p:txBody>
          <a:bodyPr spcFirstLastPara="1" wrap="square" lIns="45700" tIns="45700" rIns="45700" bIns="45700" anchor="t" anchorCtr="0">
            <a:normAutofit/>
          </a:bodyPr>
          <a:lstStyle/>
          <a:p>
            <a:pPr marL="0" lvl="0" indent="0" algn="just" rtl="0">
              <a:lnSpc>
                <a:spcPct val="90000"/>
              </a:lnSpc>
              <a:spcBef>
                <a:spcPts val="0"/>
              </a:spcBef>
              <a:spcAft>
                <a:spcPts val="0"/>
              </a:spcAft>
              <a:buSzPts val="3000"/>
              <a:buNone/>
            </a:pPr>
            <a:r>
              <a:rPr lang="en-US" sz="3000">
                <a:solidFill>
                  <a:srgbClr val="FF0000"/>
                </a:solidFill>
                <a:latin typeface="Gill Sans"/>
                <a:ea typeface="Gill Sans"/>
                <a:cs typeface="Gill Sans"/>
                <a:sym typeface="Gill Sans"/>
              </a:rPr>
              <a:t>Basic Research:</a:t>
            </a:r>
            <a:endParaRPr/>
          </a:p>
          <a:p>
            <a:pPr marL="0" lvl="0" indent="0" algn="just" rtl="0">
              <a:lnSpc>
                <a:spcPct val="90000"/>
              </a:lnSpc>
              <a:spcBef>
                <a:spcPts val="0"/>
              </a:spcBef>
              <a:spcAft>
                <a:spcPts val="0"/>
              </a:spcAft>
              <a:buSzPts val="3000"/>
              <a:buNone/>
            </a:pPr>
            <a:r>
              <a:rPr lang="en-US" sz="3000">
                <a:latin typeface="Gill Sans"/>
                <a:ea typeface="Gill Sans"/>
                <a:cs typeface="Gill Sans"/>
                <a:sym typeface="Gill Sans"/>
              </a:rPr>
              <a:t>1. Examining the cognitive processes involved in decision-making to develop theories about human thought and behavior.</a:t>
            </a:r>
            <a:endParaRPr/>
          </a:p>
          <a:p>
            <a:pPr marL="0" lvl="0" indent="0" algn="just" rtl="0">
              <a:lnSpc>
                <a:spcPct val="90000"/>
              </a:lnSpc>
              <a:spcBef>
                <a:spcPts val="0"/>
              </a:spcBef>
              <a:spcAft>
                <a:spcPts val="0"/>
              </a:spcAft>
              <a:buSzPts val="3000"/>
              <a:buNone/>
            </a:pPr>
            <a:r>
              <a:rPr lang="en-US" sz="3000">
                <a:latin typeface="Gill Sans"/>
                <a:ea typeface="Gill Sans"/>
                <a:cs typeface="Gill Sans"/>
                <a:sym typeface="Gill Sans"/>
              </a:rPr>
              <a:t>2. Analyzing the formation and evolution of galaxies to understand the universe's structure and history.</a:t>
            </a:r>
            <a:endParaRPr/>
          </a:p>
          <a:p>
            <a:pPr marL="0" lvl="0" indent="0" algn="just" rtl="0">
              <a:lnSpc>
                <a:spcPct val="90000"/>
              </a:lnSpc>
              <a:spcBef>
                <a:spcPts val="0"/>
              </a:spcBef>
              <a:spcAft>
                <a:spcPts val="0"/>
              </a:spcAft>
              <a:buSzPts val="3000"/>
              <a:buNone/>
            </a:pPr>
            <a:endParaRPr sz="3000">
              <a:solidFill>
                <a:schemeClr val="dk1"/>
              </a:solidFill>
              <a:latin typeface="Gill Sans"/>
              <a:ea typeface="Gill Sans"/>
              <a:cs typeface="Gill Sans"/>
              <a:sym typeface="Gill Sans"/>
            </a:endParaRPr>
          </a:p>
          <a:p>
            <a:pPr marL="0" lvl="0" indent="0" algn="just" rtl="0">
              <a:lnSpc>
                <a:spcPct val="90000"/>
              </a:lnSpc>
              <a:spcBef>
                <a:spcPts val="0"/>
              </a:spcBef>
              <a:spcAft>
                <a:spcPts val="0"/>
              </a:spcAft>
              <a:buSzPts val="3000"/>
              <a:buNone/>
            </a:pPr>
            <a:endParaRPr sz="3000">
              <a:solidFill>
                <a:schemeClr val="dk1"/>
              </a:solidFill>
              <a:latin typeface="Gill Sans"/>
              <a:ea typeface="Gill Sans"/>
              <a:cs typeface="Gill Sans"/>
              <a:sym typeface="Gill Sans"/>
            </a:endParaRPr>
          </a:p>
          <a:p>
            <a:pPr marL="0" lvl="0" indent="0" algn="just" rtl="0">
              <a:lnSpc>
                <a:spcPct val="90000"/>
              </a:lnSpc>
              <a:spcBef>
                <a:spcPts val="0"/>
              </a:spcBef>
              <a:spcAft>
                <a:spcPts val="0"/>
              </a:spcAft>
              <a:buSzPts val="3000"/>
              <a:buNone/>
            </a:pPr>
            <a:r>
              <a:rPr lang="en-US" sz="3000">
                <a:solidFill>
                  <a:srgbClr val="FF0000"/>
                </a:solidFill>
                <a:latin typeface="Gill Sans"/>
                <a:ea typeface="Gill Sans"/>
                <a:cs typeface="Gill Sans"/>
                <a:sym typeface="Gill Sans"/>
              </a:rPr>
              <a:t>Applied research:</a:t>
            </a:r>
            <a:endParaRPr/>
          </a:p>
          <a:p>
            <a:pPr marL="0" lvl="0" indent="0" algn="just" rtl="0">
              <a:lnSpc>
                <a:spcPct val="90000"/>
              </a:lnSpc>
              <a:spcBef>
                <a:spcPts val="0"/>
              </a:spcBef>
              <a:spcAft>
                <a:spcPts val="0"/>
              </a:spcAft>
              <a:buSzPts val="3000"/>
              <a:buNone/>
            </a:pPr>
            <a:r>
              <a:rPr lang="en-US" sz="3000">
                <a:latin typeface="Gill Sans"/>
                <a:ea typeface="Gill Sans"/>
                <a:cs typeface="Gill Sans"/>
                <a:sym typeface="Gill Sans"/>
              </a:rPr>
              <a:t>1. Implementing new teaching methods derived from cognitive psychology research to improve student learning outcomes.</a:t>
            </a:r>
            <a:endParaRPr/>
          </a:p>
          <a:p>
            <a:pPr marL="0" lvl="0" indent="0" algn="just" rtl="0">
              <a:lnSpc>
                <a:spcPct val="90000"/>
              </a:lnSpc>
              <a:spcBef>
                <a:spcPts val="0"/>
              </a:spcBef>
              <a:spcAft>
                <a:spcPts val="0"/>
              </a:spcAft>
              <a:buSzPts val="3000"/>
              <a:buNone/>
            </a:pPr>
            <a:r>
              <a:rPr lang="en-US" sz="3000">
                <a:solidFill>
                  <a:schemeClr val="dk1"/>
                </a:solidFill>
                <a:latin typeface="Gill Sans"/>
                <a:ea typeface="Gill Sans"/>
                <a:cs typeface="Gill Sans"/>
                <a:sym typeface="Gill Sans"/>
              </a:rPr>
              <a:t>2. Many psychological studies on addiction reveal that the main cause of addiction is the stress factor. </a:t>
            </a:r>
            <a:endParaRPr/>
          </a:p>
          <a:p>
            <a:pPr marL="0" lvl="0" indent="0" algn="l" rtl="0">
              <a:lnSpc>
                <a:spcPct val="90000"/>
              </a:lnSpc>
              <a:spcBef>
                <a:spcPts val="0"/>
              </a:spcBef>
              <a:spcAft>
                <a:spcPts val="0"/>
              </a:spcAft>
              <a:buSzPts val="2000"/>
              <a:buNone/>
            </a:pP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8"/>
          <p:cNvSpPr txBox="1">
            <a:spLocks noGrp="1"/>
          </p:cNvSpPr>
          <p:nvPr>
            <p:ph type="title"/>
          </p:nvPr>
        </p:nvSpPr>
        <p:spPr>
          <a:xfrm>
            <a:off x="719328" y="-603504"/>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THINK????</a:t>
            </a:r>
            <a:endParaRPr/>
          </a:p>
        </p:txBody>
      </p:sp>
      <p:pic>
        <p:nvPicPr>
          <p:cNvPr id="172" name="Google Shape;172;p18"/>
          <p:cNvPicPr preferRelativeResize="0"/>
          <p:nvPr/>
        </p:nvPicPr>
        <p:blipFill rotWithShape="1">
          <a:blip r:embed="rId3">
            <a:alphaModFix/>
          </a:blip>
          <a:srcRect/>
          <a:stretch/>
        </p:blipFill>
        <p:spPr>
          <a:xfrm>
            <a:off x="0" y="896112"/>
            <a:ext cx="12192000" cy="6065520"/>
          </a:xfrm>
          <a:prstGeom prst="rect">
            <a:avLst/>
          </a:prstGeom>
          <a:noFill/>
          <a:ln>
            <a:noFill/>
          </a:ln>
        </p:spPr>
      </p:pic>
      <p:sp>
        <p:nvSpPr>
          <p:cNvPr id="173" name="Google Shape;173;p18"/>
          <p:cNvSpPr txBox="1">
            <a:spLocks noGrp="1"/>
          </p:cNvSpPr>
          <p:nvPr>
            <p:ph type="body" idx="1"/>
          </p:nvPr>
        </p:nvSpPr>
        <p:spPr>
          <a:xfrm>
            <a:off x="973328" y="2292096"/>
            <a:ext cx="10639552" cy="4775200"/>
          </a:xfrm>
          <a:prstGeom prst="rect">
            <a:avLst/>
          </a:prstGeom>
          <a:noFill/>
          <a:ln>
            <a:noFill/>
          </a:ln>
        </p:spPr>
        <p:txBody>
          <a:bodyPr spcFirstLastPara="1" wrap="square" lIns="91425" tIns="45700" rIns="91425" bIns="45700" anchor="ctr" anchorCtr="0">
            <a:normAutofit/>
          </a:bodyPr>
          <a:lstStyle/>
          <a:p>
            <a:pPr marL="306000" lvl="0" indent="-306000" algn="l" rtl="0">
              <a:lnSpc>
                <a:spcPct val="90000"/>
              </a:lnSpc>
              <a:spcBef>
                <a:spcPts val="0"/>
              </a:spcBef>
              <a:spcAft>
                <a:spcPts val="0"/>
              </a:spcAft>
              <a:buSzPts val="1656"/>
              <a:buChar char="◼"/>
            </a:pPr>
            <a:r>
              <a:rPr lang="en-US" sz="5400">
                <a:solidFill>
                  <a:schemeClr val="lt1"/>
                </a:solidFill>
              </a:rPr>
              <a:t>How is psychology important in your field? </a:t>
            </a:r>
            <a:endParaRPr/>
          </a:p>
          <a:p>
            <a:pPr marL="0" lvl="0" indent="0" algn="ctr" rtl="0">
              <a:lnSpc>
                <a:spcPct val="90000"/>
              </a:lnSpc>
              <a:spcBef>
                <a:spcPts val="0"/>
              </a:spcBef>
              <a:spcAft>
                <a:spcPts val="0"/>
              </a:spcAft>
              <a:buSzPts val="1656"/>
              <a:buNone/>
            </a:pPr>
            <a:r>
              <a:rPr lang="en-US" sz="5400">
                <a:solidFill>
                  <a:schemeClr val="lt1"/>
                </a:solidFill>
              </a:rPr>
              <a:t>OR</a:t>
            </a:r>
            <a:endParaRPr sz="5400">
              <a:solidFill>
                <a:schemeClr val="lt1"/>
              </a:solidFill>
            </a:endParaRPr>
          </a:p>
          <a:p>
            <a:pPr marL="306000" lvl="0" indent="-306000" algn="l" rtl="0">
              <a:lnSpc>
                <a:spcPct val="90000"/>
              </a:lnSpc>
              <a:spcBef>
                <a:spcPts val="960"/>
              </a:spcBef>
              <a:spcAft>
                <a:spcPts val="0"/>
              </a:spcAft>
              <a:buSzPts val="1656"/>
              <a:buChar char="◼"/>
            </a:pPr>
            <a:r>
              <a:rPr lang="en-US" sz="5400">
                <a:solidFill>
                  <a:schemeClr val="lt1"/>
                </a:solidFill>
              </a:rPr>
              <a:t>What makes psychology important in your field?</a:t>
            </a:r>
            <a:endParaRPr sz="54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9"/>
          <p:cNvSpPr txBox="1">
            <a:spLocks noGrp="1"/>
          </p:cNvSpPr>
          <p:nvPr>
            <p:ph type="title"/>
          </p:nvPr>
        </p:nvSpPr>
        <p:spPr>
          <a:xfrm>
            <a:off x="749808" y="87376"/>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GOALS OF PSYCHOLOGY </a:t>
            </a:r>
            <a:endParaRPr/>
          </a:p>
        </p:txBody>
      </p:sp>
      <p:sp>
        <p:nvSpPr>
          <p:cNvPr id="180" name="Google Shape;180;p19"/>
          <p:cNvSpPr/>
          <p:nvPr/>
        </p:nvSpPr>
        <p:spPr>
          <a:xfrm>
            <a:off x="581192" y="3192249"/>
            <a:ext cx="1717288" cy="3171355"/>
          </a:xfrm>
          <a:prstGeom prst="rect">
            <a:avLst/>
          </a:prstGeom>
          <a:solidFill>
            <a:schemeClr val="accent1"/>
          </a:solidFill>
          <a:ln w="22225" cap="rnd" cmpd="sng">
            <a:solidFill>
              <a:srgbClr val="380E2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ill Sans"/>
                <a:ea typeface="Gill Sans"/>
                <a:cs typeface="Gill Sans"/>
                <a:sym typeface="Gill Sans"/>
              </a:rPr>
              <a:t>TO DESCRIBE</a:t>
            </a:r>
            <a:endParaRPr sz="1800" b="0"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ill Sans"/>
                <a:ea typeface="Gill Sans"/>
                <a:cs typeface="Gill Sans"/>
                <a:sym typeface="Gill Sans"/>
              </a:rPr>
              <a:t>(</a:t>
            </a:r>
            <a:r>
              <a:rPr lang="en-US" sz="1800" b="1" i="0" u="none" strike="noStrike" cap="none">
                <a:solidFill>
                  <a:srgbClr val="FF0000"/>
                </a:solidFill>
                <a:latin typeface="Gill Sans"/>
                <a:ea typeface="Gill Sans"/>
                <a:cs typeface="Gill Sans"/>
                <a:sym typeface="Gill Sans"/>
              </a:rPr>
              <a:t>What</a:t>
            </a:r>
            <a:r>
              <a:rPr lang="en-US" sz="1800" b="1" i="0" u="none" strike="noStrike" cap="none">
                <a:solidFill>
                  <a:schemeClr val="lt1"/>
                </a:solidFill>
                <a:latin typeface="Gill Sans"/>
                <a:ea typeface="Gill Sans"/>
                <a:cs typeface="Gill Sans"/>
                <a:sym typeface="Gill Sans"/>
              </a:rPr>
              <a:t> is Happening?)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ill Sans"/>
                <a:ea typeface="Gill Sans"/>
                <a:cs typeface="Gill Sans"/>
                <a:sym typeface="Gill San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 Observing a behavior and taking note of everything that is happening. </a:t>
            </a:r>
            <a:endParaRPr sz="1400" b="0" i="0" u="none" strike="noStrike" cap="none">
              <a:solidFill>
                <a:srgbClr val="000000"/>
              </a:solidFill>
              <a:latin typeface="Arial"/>
              <a:ea typeface="Arial"/>
              <a:cs typeface="Arial"/>
              <a:sym typeface="Arial"/>
            </a:endParaRPr>
          </a:p>
        </p:txBody>
      </p:sp>
      <p:sp>
        <p:nvSpPr>
          <p:cNvPr id="181" name="Google Shape;181;p19"/>
          <p:cNvSpPr/>
          <p:nvPr/>
        </p:nvSpPr>
        <p:spPr>
          <a:xfrm>
            <a:off x="3671696" y="3192250"/>
            <a:ext cx="1717288" cy="3171355"/>
          </a:xfrm>
          <a:prstGeom prst="rect">
            <a:avLst/>
          </a:prstGeom>
          <a:solidFill>
            <a:schemeClr val="accent1"/>
          </a:solidFill>
          <a:ln w="22225" cap="rnd" cmpd="sng">
            <a:solidFill>
              <a:srgbClr val="380E2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ill Sans"/>
                <a:ea typeface="Gill Sans"/>
                <a:cs typeface="Gill Sans"/>
                <a:sym typeface="Gill Sans"/>
              </a:rPr>
              <a:t>TO EXPLAIN (</a:t>
            </a:r>
            <a:r>
              <a:rPr lang="en-US" sz="1800" b="1" i="0" u="none" strike="noStrike" cap="none">
                <a:solidFill>
                  <a:srgbClr val="FF0000"/>
                </a:solidFill>
                <a:latin typeface="Gill Sans"/>
                <a:ea typeface="Gill Sans"/>
                <a:cs typeface="Gill Sans"/>
                <a:sym typeface="Gill Sans"/>
              </a:rPr>
              <a:t>Why</a:t>
            </a:r>
            <a:r>
              <a:rPr lang="en-US" sz="1800" b="1" i="0" u="none" strike="noStrike" cap="none">
                <a:solidFill>
                  <a:schemeClr val="lt1"/>
                </a:solidFill>
                <a:latin typeface="Gill Sans"/>
                <a:ea typeface="Gill Sans"/>
                <a:cs typeface="Gill Sans"/>
                <a:sym typeface="Gill Sans"/>
              </a:rPr>
              <a:t> is it happening?)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Gill Sans"/>
              <a:ea typeface="Gill Sans"/>
              <a:cs typeface="Gill Sans"/>
              <a:sym typeface="Gill Sans"/>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ill Sans"/>
                <a:ea typeface="Gill Sans"/>
                <a:cs typeface="Gill Sans"/>
                <a:sym typeface="Gill Sans"/>
              </a:rPr>
              <a:t> </a:t>
            </a:r>
            <a:r>
              <a:rPr lang="en-US" sz="1800" b="0" i="0" u="none" strike="noStrike" cap="none">
                <a:solidFill>
                  <a:schemeClr val="lt1"/>
                </a:solidFill>
                <a:latin typeface="Gill Sans"/>
                <a:ea typeface="Gill Sans"/>
                <a:cs typeface="Gill Sans"/>
                <a:sym typeface="Gill Sans"/>
              </a:rPr>
              <a:t>-Behavior is being understood by explaining it.</a:t>
            </a:r>
            <a:endParaRPr sz="1800" b="0" i="0" u="none" strike="noStrike" cap="none">
              <a:solidFill>
                <a:schemeClr val="lt1"/>
              </a:solidFill>
              <a:latin typeface="Gill Sans"/>
              <a:ea typeface="Gill Sans"/>
              <a:cs typeface="Gill Sans"/>
              <a:sym typeface="Gill Sans"/>
            </a:endParaRPr>
          </a:p>
        </p:txBody>
      </p:sp>
      <p:sp>
        <p:nvSpPr>
          <p:cNvPr id="182" name="Google Shape;182;p19"/>
          <p:cNvSpPr/>
          <p:nvPr/>
        </p:nvSpPr>
        <p:spPr>
          <a:xfrm>
            <a:off x="6765670" y="3192252"/>
            <a:ext cx="1717288" cy="3171355"/>
          </a:xfrm>
          <a:prstGeom prst="rect">
            <a:avLst/>
          </a:prstGeom>
          <a:solidFill>
            <a:schemeClr val="accent1"/>
          </a:solidFill>
          <a:ln w="22225" cap="rnd" cmpd="sng">
            <a:solidFill>
              <a:srgbClr val="380E2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ill Sans"/>
                <a:ea typeface="Gill Sans"/>
                <a:cs typeface="Gill Sans"/>
                <a:sym typeface="Gill Sans"/>
              </a:rPr>
              <a:t>TO PREDICT (</a:t>
            </a:r>
            <a:r>
              <a:rPr lang="en-US" sz="1800" b="1" i="0" u="none" strike="noStrike" cap="none">
                <a:solidFill>
                  <a:srgbClr val="FF0000"/>
                </a:solidFill>
                <a:latin typeface="Gill Sans"/>
                <a:ea typeface="Gill Sans"/>
                <a:cs typeface="Gill Sans"/>
                <a:sym typeface="Gill Sans"/>
              </a:rPr>
              <a:t>Will</a:t>
            </a:r>
            <a:r>
              <a:rPr lang="en-US" sz="1800" b="1" i="0" u="none" strike="noStrike" cap="none">
                <a:solidFill>
                  <a:schemeClr val="lt1"/>
                </a:solidFill>
                <a:latin typeface="Gill Sans"/>
                <a:ea typeface="Gill Sans"/>
                <a:cs typeface="Gill Sans"/>
                <a:sym typeface="Gill Sans"/>
              </a:rPr>
              <a:t> it happen again?) </a:t>
            </a:r>
            <a:endParaRPr sz="1800" b="1"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-Determining what will happen in the future </a:t>
            </a:r>
            <a:endParaRPr sz="1400" b="0" i="0" u="none" strike="noStrike" cap="none">
              <a:solidFill>
                <a:srgbClr val="000000"/>
              </a:solidFill>
              <a:latin typeface="Arial"/>
              <a:ea typeface="Arial"/>
              <a:cs typeface="Arial"/>
              <a:sym typeface="Arial"/>
            </a:endParaRPr>
          </a:p>
        </p:txBody>
      </p:sp>
      <p:sp>
        <p:nvSpPr>
          <p:cNvPr id="183" name="Google Shape;183;p19"/>
          <p:cNvSpPr/>
          <p:nvPr/>
        </p:nvSpPr>
        <p:spPr>
          <a:xfrm>
            <a:off x="9893520" y="3192252"/>
            <a:ext cx="1717288" cy="3171355"/>
          </a:xfrm>
          <a:prstGeom prst="rect">
            <a:avLst/>
          </a:prstGeom>
          <a:solidFill>
            <a:schemeClr val="accent1"/>
          </a:solidFill>
          <a:ln w="22225" cap="rnd" cmpd="sng">
            <a:solidFill>
              <a:srgbClr val="380E2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ill Sans"/>
                <a:ea typeface="Gill Sans"/>
                <a:cs typeface="Gill Sans"/>
                <a:sym typeface="Gill Sans"/>
              </a:rPr>
              <a:t>TO CONTROL (</a:t>
            </a:r>
            <a:r>
              <a:rPr lang="en-US" sz="1800" b="1" i="0" u="none" strike="noStrike" cap="none">
                <a:solidFill>
                  <a:srgbClr val="FF0000"/>
                </a:solidFill>
                <a:latin typeface="Gill Sans"/>
                <a:ea typeface="Gill Sans"/>
                <a:cs typeface="Gill Sans"/>
                <a:sym typeface="Gill Sans"/>
              </a:rPr>
              <a:t>How</a:t>
            </a:r>
            <a:r>
              <a:rPr lang="en-US" sz="1800" b="1" i="0" u="none" strike="noStrike" cap="none">
                <a:solidFill>
                  <a:schemeClr val="lt1"/>
                </a:solidFill>
                <a:latin typeface="Gill Sans"/>
                <a:ea typeface="Gill Sans"/>
                <a:cs typeface="Gill Sans"/>
                <a:sym typeface="Gill Sans"/>
              </a:rPr>
              <a:t> can it be changed?) </a:t>
            </a:r>
            <a:endParaRPr sz="1800" b="1"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ill Sans"/>
                <a:ea typeface="Gill Sans"/>
                <a:cs typeface="Gill Sans"/>
                <a:sym typeface="Gill Sans"/>
              </a:rPr>
              <a:t>-To change a behavior from an undesirable one to a desirable one. </a:t>
            </a:r>
            <a:endParaRPr sz="1400" b="0" i="0" u="none" strike="noStrike" cap="none">
              <a:solidFill>
                <a:srgbClr val="000000"/>
              </a:solidFill>
              <a:latin typeface="Arial"/>
              <a:ea typeface="Arial"/>
              <a:cs typeface="Arial"/>
              <a:sym typeface="Arial"/>
            </a:endParaRPr>
          </a:p>
        </p:txBody>
      </p:sp>
      <p:pic>
        <p:nvPicPr>
          <p:cNvPr id="184" name="Google Shape;184;p19"/>
          <p:cNvPicPr preferRelativeResize="0"/>
          <p:nvPr/>
        </p:nvPicPr>
        <p:blipFill rotWithShape="1">
          <a:blip r:embed="rId3">
            <a:alphaModFix/>
          </a:blip>
          <a:srcRect/>
          <a:stretch/>
        </p:blipFill>
        <p:spPr>
          <a:xfrm>
            <a:off x="3538592" y="1973766"/>
            <a:ext cx="1849833" cy="1235091"/>
          </a:xfrm>
          <a:prstGeom prst="ellipse">
            <a:avLst/>
          </a:prstGeom>
          <a:noFill/>
          <a:ln>
            <a:noFill/>
          </a:ln>
        </p:spPr>
      </p:pic>
      <p:pic>
        <p:nvPicPr>
          <p:cNvPr id="185" name="Google Shape;185;p19"/>
          <p:cNvPicPr preferRelativeResize="0"/>
          <p:nvPr/>
        </p:nvPicPr>
        <p:blipFill rotWithShape="1">
          <a:blip r:embed="rId4">
            <a:alphaModFix/>
          </a:blip>
          <a:srcRect/>
          <a:stretch/>
        </p:blipFill>
        <p:spPr>
          <a:xfrm>
            <a:off x="512670" y="1878863"/>
            <a:ext cx="1854331" cy="1329996"/>
          </a:xfrm>
          <a:prstGeom prst="ellipse">
            <a:avLst/>
          </a:prstGeom>
          <a:noFill/>
          <a:ln>
            <a:noFill/>
          </a:ln>
        </p:spPr>
      </p:pic>
      <p:pic>
        <p:nvPicPr>
          <p:cNvPr id="186" name="Google Shape;186;p19"/>
          <p:cNvPicPr preferRelativeResize="0"/>
          <p:nvPr/>
        </p:nvPicPr>
        <p:blipFill rotWithShape="1">
          <a:blip r:embed="rId5">
            <a:alphaModFix/>
          </a:blip>
          <a:srcRect/>
          <a:stretch/>
        </p:blipFill>
        <p:spPr>
          <a:xfrm>
            <a:off x="6765670" y="1878862"/>
            <a:ext cx="1935637" cy="1313389"/>
          </a:xfrm>
          <a:prstGeom prst="ellipse">
            <a:avLst/>
          </a:prstGeom>
          <a:noFill/>
          <a:ln>
            <a:noFill/>
          </a:ln>
        </p:spPr>
      </p:pic>
      <p:pic>
        <p:nvPicPr>
          <p:cNvPr id="187" name="Google Shape;187;p19"/>
          <p:cNvPicPr preferRelativeResize="0"/>
          <p:nvPr/>
        </p:nvPicPr>
        <p:blipFill rotWithShape="1">
          <a:blip r:embed="rId6">
            <a:alphaModFix/>
          </a:blip>
          <a:srcRect/>
          <a:stretch/>
        </p:blipFill>
        <p:spPr>
          <a:xfrm>
            <a:off x="9893520" y="1872616"/>
            <a:ext cx="1717288" cy="1325880"/>
          </a:xfrm>
          <a:prstGeom prst="ellipse">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0"/>
          <p:cNvSpPr txBox="1">
            <a:spLocks noGrp="1"/>
          </p:cNvSpPr>
          <p:nvPr>
            <p:ph type="title"/>
          </p:nvPr>
        </p:nvSpPr>
        <p:spPr>
          <a:xfrm>
            <a:off x="770128" y="0"/>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CONT.…</a:t>
            </a:r>
            <a:endParaRPr/>
          </a:p>
        </p:txBody>
      </p:sp>
      <p:sp>
        <p:nvSpPr>
          <p:cNvPr id="193" name="Google Shape;193;p20"/>
          <p:cNvSpPr txBox="1">
            <a:spLocks noGrp="1"/>
          </p:cNvSpPr>
          <p:nvPr>
            <p:ph type="body" idx="1"/>
          </p:nvPr>
        </p:nvSpPr>
        <p:spPr>
          <a:xfrm>
            <a:off x="581192" y="1499616"/>
            <a:ext cx="11029615" cy="4901184"/>
          </a:xfrm>
          <a:prstGeom prst="rect">
            <a:avLst/>
          </a:prstGeom>
          <a:solidFill>
            <a:srgbClr val="D7BEB5"/>
          </a:solidFill>
          <a:ln>
            <a:noFill/>
          </a:ln>
        </p:spPr>
        <p:txBody>
          <a:bodyPr spcFirstLastPara="1" wrap="square" lIns="91425" tIns="45700" rIns="91425" bIns="45700" anchor="ctr" anchorCtr="0">
            <a:normAutofit/>
          </a:bodyPr>
          <a:lstStyle/>
          <a:p>
            <a:pPr marL="306000" lvl="0" indent="-306000" algn="just" rtl="0">
              <a:lnSpc>
                <a:spcPct val="90000"/>
              </a:lnSpc>
              <a:spcBef>
                <a:spcPts val="0"/>
              </a:spcBef>
              <a:spcAft>
                <a:spcPts val="0"/>
              </a:spcAft>
              <a:buSzPts val="2208"/>
              <a:buChar char="◼"/>
            </a:pPr>
            <a:r>
              <a:rPr lang="en-US" sz="2400">
                <a:solidFill>
                  <a:srgbClr val="FF0000"/>
                </a:solidFill>
              </a:rPr>
              <a:t>To describe what is an organism doing</a:t>
            </a:r>
            <a:r>
              <a:rPr lang="en-US" sz="2400">
                <a:solidFill>
                  <a:schemeClr val="dk1"/>
                </a:solidFill>
              </a:rPr>
              <a:t>?</a:t>
            </a:r>
            <a:endParaRPr/>
          </a:p>
          <a:p>
            <a:pPr marL="0" lvl="0" indent="0" algn="just" rtl="0">
              <a:lnSpc>
                <a:spcPct val="90000"/>
              </a:lnSpc>
              <a:spcBef>
                <a:spcPts val="0"/>
              </a:spcBef>
              <a:spcAft>
                <a:spcPts val="0"/>
              </a:spcAft>
              <a:buSzPts val="2208"/>
              <a:buNone/>
            </a:pPr>
            <a:r>
              <a:rPr lang="en-US" sz="2400"/>
              <a:t>Documenting the symptoms and behaviors associated with anxiety disorders.</a:t>
            </a:r>
            <a:endParaRPr sz="2400">
              <a:solidFill>
                <a:schemeClr val="dk1"/>
              </a:solidFill>
            </a:endParaRPr>
          </a:p>
          <a:p>
            <a:pPr marL="306000" lvl="0" indent="-306000" algn="just" rtl="0">
              <a:lnSpc>
                <a:spcPct val="90000"/>
              </a:lnSpc>
              <a:spcBef>
                <a:spcPts val="1080"/>
              </a:spcBef>
              <a:spcAft>
                <a:spcPts val="0"/>
              </a:spcAft>
              <a:buSzPts val="2208"/>
              <a:buChar char="◼"/>
            </a:pPr>
            <a:r>
              <a:rPr lang="en-US" sz="2400">
                <a:solidFill>
                  <a:srgbClr val="FF0000"/>
                </a:solidFill>
              </a:rPr>
              <a:t>To explain and understand why organism behave in certain ways?</a:t>
            </a:r>
            <a:endParaRPr/>
          </a:p>
          <a:p>
            <a:pPr marL="0" lvl="0" indent="0" algn="just" rtl="0">
              <a:lnSpc>
                <a:spcPct val="90000"/>
              </a:lnSpc>
              <a:spcBef>
                <a:spcPts val="1080"/>
              </a:spcBef>
              <a:spcAft>
                <a:spcPts val="0"/>
              </a:spcAft>
              <a:buSzPts val="2208"/>
              <a:buNone/>
            </a:pPr>
            <a:r>
              <a:rPr lang="en-US" sz="2400"/>
              <a:t>Investigating how genetic, environmental, and cognitive factors contribute to the development of depression.</a:t>
            </a:r>
            <a:endParaRPr sz="2400">
              <a:solidFill>
                <a:schemeClr val="dk1"/>
              </a:solidFill>
            </a:endParaRPr>
          </a:p>
          <a:p>
            <a:pPr marL="306000" lvl="0" indent="-306000" algn="just" rtl="0">
              <a:lnSpc>
                <a:spcPct val="90000"/>
              </a:lnSpc>
              <a:spcBef>
                <a:spcPts val="1080"/>
              </a:spcBef>
              <a:spcAft>
                <a:spcPts val="0"/>
              </a:spcAft>
              <a:buSzPts val="2208"/>
              <a:buChar char="◼"/>
            </a:pPr>
            <a:r>
              <a:rPr lang="en-US" sz="2400">
                <a:solidFill>
                  <a:srgbClr val="FF0000"/>
                </a:solidFill>
              </a:rPr>
              <a:t>To predict how organism will behave in the future?</a:t>
            </a:r>
            <a:endParaRPr/>
          </a:p>
          <a:p>
            <a:pPr marL="0" lvl="0" indent="0" algn="just" rtl="0">
              <a:lnSpc>
                <a:spcPct val="90000"/>
              </a:lnSpc>
              <a:spcBef>
                <a:spcPts val="1080"/>
              </a:spcBef>
              <a:spcAft>
                <a:spcPts val="0"/>
              </a:spcAft>
              <a:buSzPts val="2208"/>
              <a:buNone/>
            </a:pPr>
            <a:r>
              <a:rPr lang="en-US" sz="2400"/>
              <a:t>Predicting how a person with high stress levels might react to future stressors based on past behaviors and coping mechanisms.</a:t>
            </a:r>
            <a:endParaRPr sz="2400">
              <a:solidFill>
                <a:schemeClr val="dk1"/>
              </a:solidFill>
            </a:endParaRPr>
          </a:p>
          <a:p>
            <a:pPr marL="306000" lvl="0" indent="-306000" algn="just" rtl="0">
              <a:lnSpc>
                <a:spcPct val="90000"/>
              </a:lnSpc>
              <a:spcBef>
                <a:spcPts val="1080"/>
              </a:spcBef>
              <a:spcAft>
                <a:spcPts val="0"/>
              </a:spcAft>
              <a:buSzPts val="2208"/>
              <a:buChar char="◼"/>
            </a:pPr>
            <a:r>
              <a:rPr lang="en-US" sz="2400">
                <a:solidFill>
                  <a:srgbClr val="FF0000"/>
                </a:solidFill>
              </a:rPr>
              <a:t>To control behavior or to modify the particular behavior?</a:t>
            </a:r>
            <a:endParaRPr/>
          </a:p>
          <a:p>
            <a:pPr marL="0" lvl="0" indent="0" algn="just" rtl="0">
              <a:lnSpc>
                <a:spcPct val="90000"/>
              </a:lnSpc>
              <a:spcBef>
                <a:spcPts val="1080"/>
              </a:spcBef>
              <a:spcAft>
                <a:spcPts val="0"/>
              </a:spcAft>
              <a:buSzPts val="2208"/>
              <a:buNone/>
            </a:pPr>
            <a:r>
              <a:rPr lang="en-US" sz="2400"/>
              <a:t>Designing and applying therapeutic techniques to help individuals manage anxiety or developing educational programs to enhance learning and memory.</a:t>
            </a:r>
            <a:endParaRPr sz="2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1"/>
          <p:cNvSpPr txBox="1">
            <a:spLocks noGrp="1"/>
          </p:cNvSpPr>
          <p:nvPr>
            <p:ph type="title"/>
          </p:nvPr>
        </p:nvSpPr>
        <p:spPr>
          <a:xfrm>
            <a:off x="1024128" y="138176"/>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a:t>KEY DEBATES IN PSYCHOLOGY</a:t>
            </a:r>
            <a:endParaRPr/>
          </a:p>
        </p:txBody>
      </p:sp>
      <p:sp>
        <p:nvSpPr>
          <p:cNvPr id="199" name="Google Shape;199;p21"/>
          <p:cNvSpPr txBox="1">
            <a:spLocks noGrp="1"/>
          </p:cNvSpPr>
          <p:nvPr>
            <p:ph type="body" idx="1"/>
          </p:nvPr>
        </p:nvSpPr>
        <p:spPr>
          <a:xfrm>
            <a:off x="1024128" y="2286000"/>
            <a:ext cx="10290417" cy="4023360"/>
          </a:xfrm>
          <a:prstGeom prst="rect">
            <a:avLst/>
          </a:prstGeom>
          <a:noFill/>
          <a:ln>
            <a:noFill/>
          </a:ln>
        </p:spPr>
        <p:txBody>
          <a:bodyPr spcFirstLastPara="1" wrap="square" lIns="91425" tIns="45700" rIns="91425" bIns="45700" anchor="ctr" anchorCtr="0">
            <a:noAutofit/>
          </a:bodyPr>
          <a:lstStyle/>
          <a:p>
            <a:pPr marL="457200" lvl="0" indent="-457200" algn="just" rtl="0">
              <a:lnSpc>
                <a:spcPct val="90000"/>
              </a:lnSpc>
              <a:spcBef>
                <a:spcPts val="0"/>
              </a:spcBef>
              <a:spcAft>
                <a:spcPts val="0"/>
              </a:spcAft>
              <a:buSzPts val="2208"/>
              <a:buFont typeface="Gill Sans"/>
              <a:buAutoNum type="arabicPeriod"/>
            </a:pPr>
            <a:r>
              <a:rPr lang="en-US" sz="3200">
                <a:solidFill>
                  <a:schemeClr val="dk1"/>
                </a:solidFill>
                <a:latin typeface="Gill Sans"/>
                <a:ea typeface="Gill Sans"/>
                <a:cs typeface="Gill Sans"/>
                <a:sym typeface="Gill Sans"/>
              </a:rPr>
              <a:t>Nature vs. Nurture</a:t>
            </a:r>
            <a:endParaRPr sz="2800"/>
          </a:p>
          <a:p>
            <a:pPr marL="457200" lvl="0" indent="-457200" algn="just" rtl="0">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Conscious vs. Unconscious Mind</a:t>
            </a:r>
            <a:endParaRPr sz="2800"/>
          </a:p>
          <a:p>
            <a:pPr marL="457200" lvl="0" indent="-457200" algn="just" rtl="0">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Observable behavior vs. internal mental Processes</a:t>
            </a:r>
            <a:endParaRPr sz="2800"/>
          </a:p>
          <a:p>
            <a:pPr marL="457200" lvl="0" indent="-457200" algn="just" rtl="0">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Free will vs. determinism</a:t>
            </a:r>
            <a:endParaRPr sz="2800"/>
          </a:p>
          <a:p>
            <a:pPr marL="457200" lvl="0" indent="-457200" algn="just" rtl="0">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Individual Differences vs. universal Principles</a:t>
            </a:r>
            <a:endParaRPr/>
          </a:p>
          <a:p>
            <a:pPr marL="457200" lvl="0" indent="-316992" algn="just" rtl="0">
              <a:lnSpc>
                <a:spcPct val="90000"/>
              </a:lnSpc>
              <a:spcBef>
                <a:spcPts val="1080"/>
              </a:spcBef>
              <a:spcAft>
                <a:spcPts val="0"/>
              </a:spcAft>
              <a:buSzPts val="2208"/>
              <a:buFont typeface="Gill Sans"/>
              <a:buNone/>
            </a:pPr>
            <a:endParaRPr sz="3200">
              <a:solidFill>
                <a:schemeClr val="dk1"/>
              </a:solidFill>
              <a:latin typeface="Gill Sans"/>
              <a:ea typeface="Gill Sans"/>
              <a:cs typeface="Gill Sans"/>
              <a:sym typeface="Gill Sans"/>
            </a:endParaRPr>
          </a:p>
          <a:p>
            <a:pPr marL="306000" lvl="0" indent="-306000" algn="just" rtl="0">
              <a:lnSpc>
                <a:spcPct val="90000"/>
              </a:lnSpc>
              <a:spcBef>
                <a:spcPts val="1080"/>
              </a:spcBef>
              <a:spcAft>
                <a:spcPts val="0"/>
              </a:spcAft>
              <a:buSzPts val="2208"/>
              <a:buFont typeface="Noto Sans Symbols"/>
              <a:buChar char="❖"/>
            </a:pPr>
            <a:r>
              <a:rPr lang="en-US" sz="3200">
                <a:solidFill>
                  <a:schemeClr val="dk1"/>
                </a:solidFill>
                <a:latin typeface="Gill Sans"/>
                <a:ea typeface="Gill Sans"/>
                <a:cs typeface="Gill Sans"/>
                <a:sym typeface="Gill Sans"/>
              </a:rPr>
              <a:t>These key debates are used to understand how culture, ethnicity, and race influence behavior.</a:t>
            </a:r>
            <a:endParaRPr sz="3200">
              <a:solidFill>
                <a:schemeClr val="dk1"/>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txBox="1">
            <a:spLocks noGrp="1"/>
          </p:cNvSpPr>
          <p:nvPr>
            <p:ph type="title"/>
          </p:nvPr>
        </p:nvSpPr>
        <p:spPr>
          <a:xfrm>
            <a:off x="770170" y="483597"/>
            <a:ext cx="10553920" cy="461382"/>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chemeClr val="lt1"/>
              </a:buClr>
              <a:buSzPts val="4400"/>
              <a:buFont typeface="Gill Sans"/>
              <a:buNone/>
            </a:pPr>
            <a:r>
              <a:rPr lang="en-US" sz="4400" b="1" dirty="0"/>
              <a:t/>
            </a:r>
            <a:br>
              <a:rPr lang="en-US" sz="4400" b="1" dirty="0"/>
            </a:br>
            <a:r>
              <a:rPr lang="en-US" sz="3600" b="1" dirty="0"/>
              <a:t>1. NATURE VS NURTURE</a:t>
            </a:r>
            <a:endParaRPr sz="3600" b="1" dirty="0"/>
          </a:p>
        </p:txBody>
      </p:sp>
      <p:sp>
        <p:nvSpPr>
          <p:cNvPr id="205" name="Google Shape;205;p22"/>
          <p:cNvSpPr txBox="1">
            <a:spLocks noGrp="1"/>
          </p:cNvSpPr>
          <p:nvPr>
            <p:ph type="body" idx="1"/>
          </p:nvPr>
        </p:nvSpPr>
        <p:spPr>
          <a:xfrm>
            <a:off x="581192" y="2180496"/>
            <a:ext cx="6207535" cy="3678303"/>
          </a:xfrm>
          <a:prstGeom prst="rect">
            <a:avLst/>
          </a:prstGeom>
          <a:noFill/>
          <a:ln>
            <a:noFill/>
          </a:ln>
        </p:spPr>
        <p:txBody>
          <a:bodyPr spcFirstLastPara="1" wrap="square" lIns="91425" tIns="45700" rIns="91425" bIns="45700" anchor="ctr" anchorCtr="0">
            <a:noAutofit/>
          </a:bodyPr>
          <a:lstStyle/>
          <a:p>
            <a:pPr marL="306000" lvl="0" indent="-306000" algn="just" rtl="0">
              <a:lnSpc>
                <a:spcPct val="90000"/>
              </a:lnSpc>
              <a:spcBef>
                <a:spcPts val="0"/>
              </a:spcBef>
              <a:spcAft>
                <a:spcPts val="0"/>
              </a:spcAft>
              <a:buSzPts val="1840"/>
              <a:buChar char="◼"/>
            </a:pPr>
            <a:r>
              <a:rPr lang="en-US" sz="2400" dirty="0">
                <a:solidFill>
                  <a:schemeClr val="dk1"/>
                </a:solidFill>
              </a:rPr>
              <a:t>Heredity vs environment</a:t>
            </a:r>
            <a:endParaRPr sz="2400" dirty="0"/>
          </a:p>
          <a:p>
            <a:pPr marL="306000" lvl="0" indent="-306000" algn="just" rtl="0">
              <a:lnSpc>
                <a:spcPct val="90000"/>
              </a:lnSpc>
              <a:spcBef>
                <a:spcPts val="1000"/>
              </a:spcBef>
              <a:spcAft>
                <a:spcPts val="0"/>
              </a:spcAft>
              <a:buSzPts val="1840"/>
              <a:buFont typeface="Noto Sans Symbols"/>
              <a:buChar char="❖"/>
            </a:pPr>
            <a:r>
              <a:rPr lang="en-US" sz="2400" dirty="0">
                <a:solidFill>
                  <a:schemeClr val="dk1"/>
                </a:solidFill>
              </a:rPr>
              <a:t>How much people's behavior is due to their genetically determined nature </a:t>
            </a:r>
            <a:endParaRPr sz="2400" dirty="0">
              <a:solidFill>
                <a:schemeClr val="dk1"/>
              </a:solidFill>
            </a:endParaRPr>
          </a:p>
          <a:p>
            <a:pPr marL="0" lvl="0" indent="0" algn="just" rtl="0">
              <a:lnSpc>
                <a:spcPct val="90000"/>
              </a:lnSpc>
              <a:spcBef>
                <a:spcPts val="1000"/>
              </a:spcBef>
              <a:spcAft>
                <a:spcPts val="0"/>
              </a:spcAft>
              <a:buSzPts val="1840"/>
              <a:buNone/>
            </a:pPr>
            <a:r>
              <a:rPr lang="en-US" sz="2400" dirty="0">
                <a:solidFill>
                  <a:schemeClr val="dk1"/>
                </a:solidFill>
              </a:rPr>
              <a:t>                                      </a:t>
            </a:r>
            <a:r>
              <a:rPr lang="en-US" sz="2400" b="1" dirty="0">
                <a:solidFill>
                  <a:schemeClr val="dk1"/>
                </a:solidFill>
              </a:rPr>
              <a:t>VS</a:t>
            </a:r>
            <a:endParaRPr sz="2400" b="1" dirty="0">
              <a:solidFill>
                <a:schemeClr val="dk1"/>
              </a:solidFill>
            </a:endParaRPr>
          </a:p>
          <a:p>
            <a:pPr marL="306000" lvl="0" indent="-306000" algn="just" rtl="0">
              <a:lnSpc>
                <a:spcPct val="90000"/>
              </a:lnSpc>
              <a:spcBef>
                <a:spcPts val="1000"/>
              </a:spcBef>
              <a:spcAft>
                <a:spcPts val="0"/>
              </a:spcAft>
              <a:buSzPts val="1840"/>
              <a:buFont typeface="Noto Sans Symbols"/>
              <a:buChar char="❖"/>
            </a:pPr>
            <a:r>
              <a:rPr lang="en-US" sz="2400" dirty="0">
                <a:solidFill>
                  <a:schemeClr val="dk1"/>
                </a:solidFill>
              </a:rPr>
              <a:t>How much is due to the influences of the physical and social environment in which a child is raised</a:t>
            </a:r>
            <a:endParaRPr sz="2400" dirty="0"/>
          </a:p>
          <a:p>
            <a:pPr marL="306000" lvl="0" indent="-200844" algn="just" rtl="0">
              <a:lnSpc>
                <a:spcPct val="90000"/>
              </a:lnSpc>
              <a:spcBef>
                <a:spcPts val="960"/>
              </a:spcBef>
              <a:spcAft>
                <a:spcPts val="0"/>
              </a:spcAft>
              <a:buSzPts val="1656"/>
              <a:buNone/>
            </a:pPr>
            <a:endParaRPr sz="2400" dirty="0"/>
          </a:p>
          <a:p>
            <a:pPr marL="306000" lvl="0" indent="-200844" algn="just" rtl="0">
              <a:lnSpc>
                <a:spcPct val="90000"/>
              </a:lnSpc>
              <a:spcBef>
                <a:spcPts val="960"/>
              </a:spcBef>
              <a:spcAft>
                <a:spcPts val="0"/>
              </a:spcAft>
              <a:buSzPts val="1656"/>
              <a:buNone/>
            </a:pPr>
            <a:r>
              <a:rPr lang="en-US" sz="2400" dirty="0"/>
              <a:t>E.g.: Intelligence, Personality Traits, Mental Health Disorders, Language Acquisition, Aggression</a:t>
            </a:r>
            <a:endParaRPr sz="2400" dirty="0"/>
          </a:p>
        </p:txBody>
      </p:sp>
      <p:pic>
        <p:nvPicPr>
          <p:cNvPr id="206" name="Google Shape;206;p22"/>
          <p:cNvPicPr preferRelativeResize="0"/>
          <p:nvPr/>
        </p:nvPicPr>
        <p:blipFill rotWithShape="1">
          <a:blip r:embed="rId3">
            <a:alphaModFix/>
          </a:blip>
          <a:srcRect/>
          <a:stretch/>
        </p:blipFill>
        <p:spPr>
          <a:xfrm>
            <a:off x="7114772" y="1097280"/>
            <a:ext cx="4941454" cy="49682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3"/>
          <p:cNvSpPr txBox="1">
            <a:spLocks noGrp="1"/>
          </p:cNvSpPr>
          <p:nvPr>
            <p:ph type="title"/>
          </p:nvPr>
        </p:nvSpPr>
        <p:spPr>
          <a:xfrm>
            <a:off x="1024128" y="585216"/>
            <a:ext cx="9720072" cy="944646"/>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0000"/>
              </a:lnSpc>
              <a:spcBef>
                <a:spcPts val="0"/>
              </a:spcBef>
              <a:spcAft>
                <a:spcPts val="0"/>
              </a:spcAft>
              <a:buClr>
                <a:schemeClr val="lt1"/>
              </a:buClr>
              <a:buSzPts val="2800"/>
              <a:buFont typeface="Gill Sans"/>
              <a:buNone/>
            </a:pPr>
            <a:r>
              <a:rPr lang="en-US" b="1" dirty="0"/>
              <a:t>2. CONSCIOUS VS. UNCONSCIOUS MIND</a:t>
            </a:r>
            <a:endParaRPr b="1" dirty="0"/>
          </a:p>
        </p:txBody>
      </p:sp>
      <p:sp>
        <p:nvSpPr>
          <p:cNvPr id="212" name="Google Shape;212;p23"/>
          <p:cNvSpPr txBox="1">
            <a:spLocks noGrp="1"/>
          </p:cNvSpPr>
          <p:nvPr>
            <p:ph type="body" idx="1"/>
          </p:nvPr>
        </p:nvSpPr>
        <p:spPr>
          <a:xfrm>
            <a:off x="581191" y="1846386"/>
            <a:ext cx="7393431" cy="4737294"/>
          </a:xfrm>
          <a:prstGeom prst="rect">
            <a:avLst/>
          </a:prstGeom>
          <a:no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SzPts val="1840"/>
              <a:buNone/>
            </a:pPr>
            <a:r>
              <a:rPr lang="en-US" sz="2000" dirty="0">
                <a:solidFill>
                  <a:schemeClr val="dk1"/>
                </a:solidFill>
                <a:latin typeface="Gill Sans"/>
                <a:ea typeface="Gill Sans"/>
                <a:cs typeface="Gill Sans"/>
                <a:sym typeface="Gill Sans"/>
              </a:rPr>
              <a:t>How much of our behavior is produced by forces of which we are fully aware</a:t>
            </a:r>
            <a:endParaRPr sz="2000" dirty="0"/>
          </a:p>
          <a:p>
            <a:pPr marL="0" lvl="0" indent="0" algn="ctr" rtl="0">
              <a:lnSpc>
                <a:spcPct val="90000"/>
              </a:lnSpc>
              <a:spcBef>
                <a:spcPts val="1000"/>
              </a:spcBef>
              <a:spcAft>
                <a:spcPts val="0"/>
              </a:spcAft>
              <a:buSzPts val="1840"/>
              <a:buNone/>
            </a:pPr>
            <a:r>
              <a:rPr lang="en-US" sz="2000" b="1" dirty="0">
                <a:solidFill>
                  <a:schemeClr val="dk1"/>
                </a:solidFill>
                <a:latin typeface="Gill Sans"/>
                <a:ea typeface="Gill Sans"/>
                <a:cs typeface="Gill Sans"/>
                <a:sym typeface="Gill Sans"/>
              </a:rPr>
              <a:t>and </a:t>
            </a:r>
            <a:endParaRPr sz="2000" dirty="0"/>
          </a:p>
          <a:p>
            <a:pPr marL="0" lvl="0" indent="0" algn="just" rtl="0">
              <a:lnSpc>
                <a:spcPct val="90000"/>
              </a:lnSpc>
              <a:spcBef>
                <a:spcPts val="1000"/>
              </a:spcBef>
              <a:spcAft>
                <a:spcPts val="0"/>
              </a:spcAft>
              <a:buSzPts val="1840"/>
              <a:buNone/>
            </a:pPr>
            <a:r>
              <a:rPr lang="en-US" sz="2000" dirty="0">
                <a:solidFill>
                  <a:schemeClr val="dk1"/>
                </a:solidFill>
                <a:latin typeface="Gill Sans"/>
                <a:ea typeface="Gill Sans"/>
                <a:cs typeface="Gill Sans"/>
                <a:sym typeface="Gill Sans"/>
              </a:rPr>
              <a:t>How much is due to unconscious activity </a:t>
            </a:r>
            <a:endParaRPr sz="2000" dirty="0">
              <a:solidFill>
                <a:schemeClr val="dk1"/>
              </a:solidFill>
              <a:latin typeface="Gill Sans"/>
              <a:ea typeface="Gill Sans"/>
              <a:cs typeface="Gill Sans"/>
              <a:sym typeface="Gill Sans"/>
            </a:endParaRPr>
          </a:p>
          <a:p>
            <a:pPr marL="0" lvl="0" indent="0" algn="just" rtl="0">
              <a:lnSpc>
                <a:spcPct val="90000"/>
              </a:lnSpc>
              <a:spcBef>
                <a:spcPts val="1000"/>
              </a:spcBef>
              <a:spcAft>
                <a:spcPts val="0"/>
              </a:spcAft>
              <a:buSzPts val="1840"/>
              <a:buNone/>
            </a:pPr>
            <a:r>
              <a:rPr lang="en-US" sz="2000" dirty="0">
                <a:solidFill>
                  <a:schemeClr val="dk1"/>
                </a:solidFill>
                <a:latin typeface="Gill Sans"/>
                <a:ea typeface="Gill Sans"/>
                <a:cs typeface="Gill Sans"/>
                <a:sym typeface="Gill Sans"/>
              </a:rPr>
              <a:t>– mental processes that are not accessible to the conscious </a:t>
            </a:r>
            <a:r>
              <a:rPr lang="en-US" sz="2000" dirty="0" smtClean="0">
                <a:solidFill>
                  <a:schemeClr val="dk1"/>
                </a:solidFill>
                <a:latin typeface="Gill Sans"/>
                <a:ea typeface="Gill Sans"/>
                <a:cs typeface="Gill Sans"/>
                <a:sym typeface="Gill Sans"/>
              </a:rPr>
              <a:t>mind</a:t>
            </a:r>
            <a:endParaRPr sz="2000" dirty="0">
              <a:solidFill>
                <a:schemeClr val="dk1"/>
              </a:solidFill>
              <a:latin typeface="Gill Sans"/>
              <a:ea typeface="Gill Sans"/>
              <a:cs typeface="Gill Sans"/>
              <a:sym typeface="Gill Sans"/>
            </a:endParaRPr>
          </a:p>
          <a:p>
            <a:pPr marL="0" lvl="0" indent="0" algn="just">
              <a:spcBef>
                <a:spcPts val="1000"/>
              </a:spcBef>
              <a:buSzPts val="1840"/>
              <a:buNone/>
            </a:pPr>
            <a:r>
              <a:rPr lang="en-US" sz="2000" dirty="0">
                <a:solidFill>
                  <a:schemeClr val="dk1"/>
                </a:solidFill>
                <a:latin typeface="Gill Sans"/>
                <a:ea typeface="Gill Sans"/>
                <a:cs typeface="Gill Sans"/>
                <a:sym typeface="Gill Sans"/>
              </a:rPr>
              <a:t>E.g</a:t>
            </a:r>
            <a:r>
              <a:rPr lang="en-US" sz="2000" dirty="0" smtClean="0">
                <a:latin typeface="Gill Sans"/>
                <a:ea typeface="Gill Sans"/>
                <a:cs typeface="Gill Sans"/>
                <a:sym typeface="Gill Sans"/>
              </a:rPr>
              <a:t>.: Choosing </a:t>
            </a:r>
            <a:r>
              <a:rPr lang="en-US" sz="2000" dirty="0">
                <a:latin typeface="Gill Sans"/>
                <a:ea typeface="Gill Sans"/>
                <a:cs typeface="Gill Sans"/>
                <a:sym typeface="Gill Sans"/>
              </a:rPr>
              <a:t>what to eat for </a:t>
            </a:r>
            <a:r>
              <a:rPr lang="en-US" sz="2000" dirty="0" smtClean="0">
                <a:latin typeface="Gill Sans"/>
                <a:ea typeface="Gill Sans"/>
                <a:cs typeface="Gill Sans"/>
                <a:sym typeface="Gill Sans"/>
              </a:rPr>
              <a:t>lunch Deciding </a:t>
            </a:r>
            <a:r>
              <a:rPr lang="en-US" sz="2000" dirty="0">
                <a:latin typeface="Gill Sans"/>
                <a:ea typeface="Gill Sans"/>
                <a:cs typeface="Gill Sans"/>
                <a:sym typeface="Gill Sans"/>
              </a:rPr>
              <a:t>which university course to </a:t>
            </a:r>
            <a:r>
              <a:rPr lang="en-US" sz="2000" dirty="0" smtClean="0">
                <a:latin typeface="Gill Sans"/>
                <a:ea typeface="Gill Sans"/>
                <a:cs typeface="Gill Sans"/>
                <a:sym typeface="Gill Sans"/>
              </a:rPr>
              <a:t>study Paying </a:t>
            </a:r>
            <a:r>
              <a:rPr lang="en-US" sz="2000" dirty="0">
                <a:latin typeface="Gill Sans"/>
                <a:ea typeface="Gill Sans"/>
                <a:cs typeface="Gill Sans"/>
                <a:sym typeface="Gill Sans"/>
              </a:rPr>
              <a:t>attention during a </a:t>
            </a:r>
            <a:r>
              <a:rPr lang="en-US" sz="2000" dirty="0" smtClean="0">
                <a:latin typeface="Gill Sans"/>
                <a:ea typeface="Gill Sans"/>
                <a:cs typeface="Gill Sans"/>
                <a:sym typeface="Gill Sans"/>
              </a:rPr>
              <a:t>lecture</a:t>
            </a:r>
          </a:p>
          <a:p>
            <a:pPr marL="0" lvl="0" indent="0" algn="just">
              <a:spcBef>
                <a:spcPts val="1000"/>
              </a:spcBef>
              <a:buSzPts val="1840"/>
              <a:buNone/>
            </a:pPr>
            <a:r>
              <a:rPr lang="en-US" sz="2000" dirty="0"/>
              <a:t>Automatically reacting emotionally to certain </a:t>
            </a:r>
            <a:r>
              <a:rPr lang="en-US" sz="2000" dirty="0" smtClean="0"/>
              <a:t>situations</a:t>
            </a:r>
          </a:p>
          <a:p>
            <a:pPr marL="0" lvl="0" indent="0" algn="just">
              <a:spcBef>
                <a:spcPts val="1000"/>
              </a:spcBef>
              <a:buSzPts val="1840"/>
              <a:buNone/>
            </a:pPr>
            <a:r>
              <a:rPr lang="en-US" sz="2000" dirty="0" smtClean="0"/>
              <a:t>Having </a:t>
            </a:r>
            <a:r>
              <a:rPr lang="en-US" sz="2000" dirty="0"/>
              <a:t>a fear without knowing its original </a:t>
            </a:r>
            <a:r>
              <a:rPr lang="en-US" sz="2000" dirty="0" smtClean="0"/>
              <a:t>cause</a:t>
            </a:r>
          </a:p>
          <a:p>
            <a:pPr marL="0" lvl="0" indent="0" algn="just">
              <a:spcBef>
                <a:spcPts val="1000"/>
              </a:spcBef>
              <a:buSzPts val="1840"/>
              <a:buNone/>
            </a:pPr>
            <a:r>
              <a:rPr lang="en-US" sz="2000" dirty="0" smtClean="0"/>
              <a:t>Dreaming</a:t>
            </a:r>
            <a:endParaRPr sz="2000" dirty="0"/>
          </a:p>
        </p:txBody>
      </p:sp>
      <p:pic>
        <p:nvPicPr>
          <p:cNvPr id="213" name="Google Shape;213;p23"/>
          <p:cNvPicPr preferRelativeResize="0"/>
          <p:nvPr/>
        </p:nvPicPr>
        <p:blipFill rotWithShape="1">
          <a:blip r:embed="rId3">
            <a:alphaModFix/>
          </a:blip>
          <a:srcRect/>
          <a:stretch/>
        </p:blipFill>
        <p:spPr>
          <a:xfrm>
            <a:off x="8203223" y="2180496"/>
            <a:ext cx="3345797" cy="35737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b" anchorCtr="0">
            <a:normAutofit/>
          </a:bodyPr>
          <a:lstStyle/>
          <a:p>
            <a:pPr lvl="0" algn="just">
              <a:buClr>
                <a:schemeClr val="lt1"/>
              </a:buClr>
              <a:buSzPct val="62222"/>
            </a:pPr>
            <a:r>
              <a:rPr lang="en-US" sz="3200" b="1" dirty="0" smtClean="0"/>
              <a:t>3</a:t>
            </a:r>
            <a:r>
              <a:rPr lang="en-US" sz="3200" b="1" dirty="0"/>
              <a:t>. OBSERVABLE </a:t>
            </a:r>
            <a:r>
              <a:rPr lang="en-US" sz="3200" b="1" dirty="0" smtClean="0"/>
              <a:t>BEHAVIOR </a:t>
            </a:r>
            <a:r>
              <a:rPr lang="en-US" sz="3200" dirty="0"/>
              <a:t>👀</a:t>
            </a:r>
            <a:r>
              <a:rPr lang="en-US" sz="3200" b="1" dirty="0" smtClean="0"/>
              <a:t> </a:t>
            </a:r>
            <a:r>
              <a:rPr lang="en-US" sz="3200" b="1" dirty="0"/>
              <a:t>VS. INTERNAL MENTAL </a:t>
            </a:r>
            <a:r>
              <a:rPr lang="en-US" sz="3200" b="1" dirty="0" smtClean="0"/>
              <a:t>PROCESSES </a:t>
            </a:r>
            <a:endParaRPr sz="4800" b="1" dirty="0"/>
          </a:p>
        </p:txBody>
      </p:sp>
      <p:sp>
        <p:nvSpPr>
          <p:cNvPr id="220" name="Google Shape;220;p24"/>
          <p:cNvSpPr txBox="1">
            <a:spLocks noGrp="1"/>
          </p:cNvSpPr>
          <p:nvPr>
            <p:ph type="body" idx="1"/>
          </p:nvPr>
        </p:nvSpPr>
        <p:spPr>
          <a:xfrm>
            <a:off x="713709" y="1526863"/>
            <a:ext cx="5097597" cy="3633047"/>
          </a:xfrm>
          <a:prstGeom prst="rect">
            <a:avLst/>
          </a:prstGeom>
          <a:noFill/>
          <a:ln>
            <a:noFill/>
          </a:ln>
        </p:spPr>
        <p:txBody>
          <a:bodyPr spcFirstLastPara="1" wrap="square" lIns="91425" tIns="45700" rIns="91425" bIns="45700" anchor="ctr" anchorCtr="0">
            <a:normAutofit/>
          </a:bodyPr>
          <a:lstStyle/>
          <a:p>
            <a:pPr marL="306000" lvl="0" indent="-306000" algn="just" rtl="0">
              <a:lnSpc>
                <a:spcPct val="90000"/>
              </a:lnSpc>
              <a:spcBef>
                <a:spcPts val="0"/>
              </a:spcBef>
              <a:spcAft>
                <a:spcPts val="0"/>
              </a:spcAft>
              <a:buSzPts val="1840"/>
              <a:buChar char="◼"/>
            </a:pPr>
            <a:r>
              <a:rPr lang="en-US" sz="2000" dirty="0">
                <a:solidFill>
                  <a:srgbClr val="0C0C0C"/>
                </a:solidFill>
                <a:latin typeface="Gill Sans"/>
                <a:ea typeface="Gill Sans"/>
                <a:cs typeface="Gill Sans"/>
                <a:sym typeface="Gill Sans"/>
              </a:rPr>
              <a:t>Psychology should solely be concentrating on behavior that can be seen by outside observers</a:t>
            </a:r>
            <a:endParaRPr dirty="0"/>
          </a:p>
          <a:p>
            <a:pPr marL="306000" lvl="0" indent="-306000" algn="just" rtl="0">
              <a:lnSpc>
                <a:spcPct val="90000"/>
              </a:lnSpc>
              <a:spcBef>
                <a:spcPts val="1000"/>
              </a:spcBef>
              <a:spcAft>
                <a:spcPts val="0"/>
              </a:spcAft>
              <a:buSzPts val="1840"/>
              <a:buChar char="◼"/>
            </a:pPr>
            <a:r>
              <a:rPr lang="en-US" sz="2000" dirty="0">
                <a:solidFill>
                  <a:srgbClr val="0C0C0C"/>
                </a:solidFill>
                <a:latin typeface="Gill Sans"/>
                <a:ea typeface="Gill Sans"/>
                <a:cs typeface="Gill Sans"/>
                <a:sym typeface="Gill Sans"/>
              </a:rPr>
              <a:t>Behavioral psychologists think that the only source of information is behavior that can be observed directly</a:t>
            </a:r>
            <a:endParaRPr sz="2000" dirty="0">
              <a:solidFill>
                <a:srgbClr val="0C0C0C"/>
              </a:solidFill>
              <a:latin typeface="Gill Sans"/>
              <a:ea typeface="Gill Sans"/>
              <a:cs typeface="Gill Sans"/>
              <a:sym typeface="Gill Sans"/>
            </a:endParaRPr>
          </a:p>
        </p:txBody>
      </p:sp>
      <p:sp>
        <p:nvSpPr>
          <p:cNvPr id="221" name="Google Shape;221;p24"/>
          <p:cNvSpPr txBox="1">
            <a:spLocks noGrp="1"/>
          </p:cNvSpPr>
          <p:nvPr>
            <p:ph type="body" idx="2"/>
          </p:nvPr>
        </p:nvSpPr>
        <p:spPr>
          <a:xfrm>
            <a:off x="6437941" y="1622427"/>
            <a:ext cx="5172868" cy="3633047"/>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SzPts val="1840"/>
              <a:buNone/>
            </a:pPr>
            <a:r>
              <a:rPr lang="en-US" sz="2000" dirty="0">
                <a:solidFill>
                  <a:srgbClr val="0C0C0C"/>
                </a:solidFill>
                <a:latin typeface="Gill Sans"/>
                <a:ea typeface="Gill Sans"/>
                <a:cs typeface="Gill Sans"/>
                <a:sym typeface="Gill Sans"/>
              </a:rPr>
              <a:t>Psychology should focus on unseen thinking processes because according to cognitive psychologist what goes on inside a person’s mind is critical to understanding behavior.</a:t>
            </a:r>
            <a:endParaRPr sz="2000" dirty="0">
              <a:solidFill>
                <a:srgbClr val="0C0C0C"/>
              </a:solidFill>
              <a:latin typeface="Gill Sans"/>
              <a:ea typeface="Gill Sans"/>
              <a:cs typeface="Gill Sans"/>
              <a:sym typeface="Gill Sans"/>
            </a:endParaRPr>
          </a:p>
          <a:p>
            <a:pPr marL="306000" lvl="0" indent="-200844" algn="l" rtl="0">
              <a:lnSpc>
                <a:spcPct val="90000"/>
              </a:lnSpc>
              <a:spcBef>
                <a:spcPts val="960"/>
              </a:spcBef>
              <a:spcAft>
                <a:spcPts val="0"/>
              </a:spcAft>
              <a:buSzPts val="1656"/>
              <a:buNone/>
            </a:pPr>
            <a:endParaRPr dirty="0">
              <a:solidFill>
                <a:schemeClr val="dk1"/>
              </a:solidFill>
              <a:latin typeface="Gill Sans"/>
              <a:ea typeface="Gill Sans"/>
              <a:cs typeface="Gill Sans"/>
              <a:sym typeface="Gill Sans"/>
            </a:endParaRPr>
          </a:p>
          <a:p>
            <a:pPr marL="306000" lvl="0" indent="-200844" algn="l" rtl="0">
              <a:lnSpc>
                <a:spcPct val="90000"/>
              </a:lnSpc>
              <a:spcBef>
                <a:spcPts val="960"/>
              </a:spcBef>
              <a:spcAft>
                <a:spcPts val="0"/>
              </a:spcAft>
              <a:buSzPts val="1656"/>
              <a:buNone/>
            </a:pPr>
            <a:endParaRPr dirty="0"/>
          </a:p>
        </p:txBody>
      </p:sp>
      <p:pic>
        <p:nvPicPr>
          <p:cNvPr id="222" name="Google Shape;222;p24"/>
          <p:cNvPicPr preferRelativeResize="0"/>
          <p:nvPr/>
        </p:nvPicPr>
        <p:blipFill rotWithShape="1">
          <a:blip r:embed="rId3">
            <a:alphaModFix/>
          </a:blip>
          <a:srcRect/>
          <a:stretch/>
        </p:blipFill>
        <p:spPr>
          <a:xfrm>
            <a:off x="10181492" y="5464383"/>
            <a:ext cx="1826774" cy="1316965"/>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568"/>
              </a:srgbClr>
            </a:outerShdw>
          </a:effectLst>
        </p:spPr>
      </p:pic>
      <p:pic>
        <p:nvPicPr>
          <p:cNvPr id="223" name="Google Shape;223;p24"/>
          <p:cNvPicPr preferRelativeResize="0"/>
          <p:nvPr/>
        </p:nvPicPr>
        <p:blipFill rotWithShape="1">
          <a:blip r:embed="rId4">
            <a:alphaModFix/>
          </a:blip>
          <a:srcRect/>
          <a:stretch/>
        </p:blipFill>
        <p:spPr>
          <a:xfrm>
            <a:off x="35169" y="5706208"/>
            <a:ext cx="1820008" cy="1151792"/>
          </a:xfrm>
          <a:prstGeom prst="rect">
            <a:avLst/>
          </a:prstGeom>
          <a:noFill/>
          <a:ln>
            <a:noFill/>
          </a:ln>
        </p:spPr>
      </p:pic>
      <p:sp>
        <p:nvSpPr>
          <p:cNvPr id="224" name="Google Shape;224;p24"/>
          <p:cNvSpPr/>
          <p:nvPr/>
        </p:nvSpPr>
        <p:spPr>
          <a:xfrm>
            <a:off x="5811306" y="3066742"/>
            <a:ext cx="569387" cy="40011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OR</a:t>
            </a:r>
            <a:endParaRPr sz="1400" b="0" i="0" u="none" strike="noStrike" cap="none">
              <a:solidFill>
                <a:srgbClr val="000000"/>
              </a:solidFill>
              <a:latin typeface="Arial"/>
              <a:ea typeface="Arial"/>
              <a:cs typeface="Arial"/>
              <a:sym typeface="Arial"/>
            </a:endParaRPr>
          </a:p>
        </p:txBody>
      </p:sp>
      <p:sp>
        <p:nvSpPr>
          <p:cNvPr id="225" name="Google Shape;225;p24"/>
          <p:cNvSpPr/>
          <p:nvPr/>
        </p:nvSpPr>
        <p:spPr>
          <a:xfrm>
            <a:off x="909828" y="4457916"/>
            <a:ext cx="4901478" cy="1415732"/>
          </a:xfrm>
          <a:prstGeom prst="rect">
            <a:avLst/>
          </a:prstGeom>
          <a:noFill/>
          <a:ln>
            <a:noFill/>
          </a:ln>
        </p:spPr>
        <p:txBody>
          <a:bodyPr spcFirstLastPara="1" wrap="square" lIns="91425" tIns="45700" rIns="91425" bIns="45700" anchor="t" anchorCtr="0">
            <a:spAutoFit/>
          </a:bodyPr>
          <a:lstStyle/>
          <a:p>
            <a:pPr lvl="0" algn="just"/>
            <a:r>
              <a:rPr lang="en-US" sz="1800" dirty="0" smtClean="0">
                <a:latin typeface="+mj-lt"/>
                <a:cs typeface="Times New Roman" panose="02020603050405020304" pitchFamily="18" charset="0"/>
                <a:sym typeface="Gill Sans"/>
              </a:rPr>
              <a:t>1. </a:t>
            </a:r>
            <a:r>
              <a:rPr lang="en-US" sz="1800" dirty="0" smtClean="0">
                <a:latin typeface="+mj-lt"/>
                <a:cs typeface="Times New Roman" panose="02020603050405020304" pitchFamily="18" charset="0"/>
              </a:rPr>
              <a:t>Student </a:t>
            </a:r>
            <a:r>
              <a:rPr lang="en-US" sz="1800" dirty="0">
                <a:latin typeface="+mj-lt"/>
                <a:cs typeface="Times New Roman" panose="02020603050405020304" pitchFamily="18" charset="0"/>
              </a:rPr>
              <a:t>studies for 3 </a:t>
            </a:r>
            <a:r>
              <a:rPr lang="en-US" sz="1800" dirty="0" smtClean="0">
                <a:latin typeface="+mj-lt"/>
                <a:cs typeface="Times New Roman" panose="02020603050405020304" pitchFamily="18" charset="0"/>
              </a:rPr>
              <a:t>hours</a:t>
            </a:r>
          </a:p>
          <a:p>
            <a:pPr lvl="0" algn="just"/>
            <a:r>
              <a:rPr lang="en-US" sz="1800" dirty="0" smtClean="0">
                <a:latin typeface="+mj-lt"/>
                <a:cs typeface="Times New Roman" panose="02020603050405020304" pitchFamily="18" charset="0"/>
              </a:rPr>
              <a:t>2. </a:t>
            </a:r>
            <a:r>
              <a:rPr lang="en-US" sz="1800" dirty="0">
                <a:latin typeface="+mj-lt"/>
              </a:rPr>
              <a:t>Student avoids eye contact and speaks </a:t>
            </a:r>
            <a:r>
              <a:rPr lang="en-US" sz="1800" dirty="0" smtClean="0">
                <a:latin typeface="+mj-lt"/>
              </a:rPr>
              <a:t>quietly</a:t>
            </a:r>
          </a:p>
          <a:p>
            <a:pPr lvl="0" algn="just"/>
            <a:r>
              <a:rPr lang="en-US" sz="1800" dirty="0" smtClean="0">
                <a:latin typeface="+mj-lt"/>
              </a:rPr>
              <a:t>3. Student </a:t>
            </a:r>
            <a:r>
              <a:rPr lang="en-US" sz="1800" dirty="0">
                <a:latin typeface="+mj-lt"/>
              </a:rPr>
              <a:t>takes notes</a:t>
            </a:r>
            <a:endParaRPr lang="en-US" sz="1800" dirty="0" smtClean="0">
              <a:latin typeface="+mj-lt"/>
              <a:cs typeface="Times New Roman" panose="02020603050405020304" pitchFamily="18" charset="0"/>
            </a:endParaRPr>
          </a:p>
          <a:p>
            <a:pPr lvl="0"/>
            <a:r>
              <a:rPr lang="en-US" dirty="0" smtClean="0"/>
              <a:t> </a:t>
            </a:r>
            <a:endParaRPr dirty="0"/>
          </a:p>
        </p:txBody>
      </p:sp>
      <p:pic>
        <p:nvPicPr>
          <p:cNvPr id="2" name="Picture 1"/>
          <p:cNvPicPr>
            <a:picLocks noChangeAspect="1"/>
          </p:cNvPicPr>
          <p:nvPr/>
        </p:nvPicPr>
        <p:blipFill>
          <a:blip r:embed="rId5"/>
          <a:stretch>
            <a:fillRect/>
          </a:stretch>
        </p:blipFill>
        <p:spPr>
          <a:xfrm>
            <a:off x="5642787" y="1646029"/>
            <a:ext cx="337038" cy="337038"/>
          </a:xfrm>
          <a:prstGeom prst="rect">
            <a:avLst/>
          </a:prstGeom>
        </p:spPr>
      </p:pic>
      <p:sp>
        <p:nvSpPr>
          <p:cNvPr id="4" name="Rectangle 3"/>
          <p:cNvSpPr/>
          <p:nvPr/>
        </p:nvSpPr>
        <p:spPr>
          <a:xfrm>
            <a:off x="6287888" y="3996680"/>
            <a:ext cx="5472974" cy="1754326"/>
          </a:xfrm>
          <a:prstGeom prst="rect">
            <a:avLst/>
          </a:prstGeom>
        </p:spPr>
        <p:txBody>
          <a:bodyPr wrap="square">
            <a:spAutoFit/>
          </a:bodyPr>
          <a:lstStyle/>
          <a:p>
            <a:pPr marL="342900" indent="-342900" algn="just">
              <a:buAutoNum type="arabicPeriod"/>
            </a:pPr>
            <a:r>
              <a:rPr lang="en-US" sz="1800" dirty="0" smtClean="0"/>
              <a:t>Student </a:t>
            </a:r>
            <a:r>
              <a:rPr lang="en-US" sz="1800" dirty="0"/>
              <a:t>is motivated and thinking about getting a good </a:t>
            </a:r>
            <a:r>
              <a:rPr lang="en-US" sz="1800" dirty="0" smtClean="0"/>
              <a:t>grade</a:t>
            </a:r>
          </a:p>
          <a:p>
            <a:pPr marL="342900" indent="-342900" algn="just">
              <a:buAutoNum type="arabicPeriod"/>
            </a:pPr>
            <a:r>
              <a:rPr lang="en-US" sz="1800" dirty="0"/>
              <a:t>Student feels anxious and worries about making a </a:t>
            </a:r>
            <a:r>
              <a:rPr lang="en-US" sz="1800" dirty="0" smtClean="0"/>
              <a:t>mistake</a:t>
            </a:r>
          </a:p>
          <a:p>
            <a:pPr marL="342900" indent="-342900" algn="just">
              <a:buAutoNum type="arabicPeriod"/>
            </a:pPr>
            <a:r>
              <a:rPr lang="en-US" sz="1800" dirty="0"/>
              <a:t>Student is concentrating and processing the information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787500" y="-428693"/>
            <a:ext cx="11029616" cy="1498345"/>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sz="3600" b="1" dirty="0"/>
              <a:t>4. FREE WILL (CHOICES) VS. </a:t>
            </a:r>
            <a:r>
              <a:rPr lang="en-US" sz="3600" b="1" dirty="0" smtClean="0"/>
              <a:t>DETERMINISM</a:t>
            </a:r>
            <a:endParaRPr dirty="0"/>
          </a:p>
        </p:txBody>
      </p:sp>
      <p:sp>
        <p:nvSpPr>
          <p:cNvPr id="232" name="Google Shape;232;p25"/>
          <p:cNvSpPr txBox="1">
            <a:spLocks noGrp="1"/>
          </p:cNvSpPr>
          <p:nvPr>
            <p:ph type="body" idx="1"/>
          </p:nvPr>
        </p:nvSpPr>
        <p:spPr>
          <a:xfrm>
            <a:off x="581193" y="859809"/>
            <a:ext cx="4495774" cy="379025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90000"/>
              </a:lnSpc>
              <a:spcBef>
                <a:spcPts val="0"/>
              </a:spcBef>
              <a:spcAft>
                <a:spcPts val="0"/>
              </a:spcAft>
              <a:buSzPts val="1840"/>
              <a:buChar char="◼"/>
            </a:pPr>
            <a:r>
              <a:rPr lang="en-US" sz="1800" dirty="0">
                <a:solidFill>
                  <a:schemeClr val="dk1"/>
                </a:solidFill>
              </a:rPr>
              <a:t>How much of our behavior is due to choices made freely by an individual?</a:t>
            </a:r>
            <a:endParaRPr sz="1800" dirty="0"/>
          </a:p>
          <a:p>
            <a:pPr marL="306000" lvl="0" indent="-306000" algn="just" rtl="0">
              <a:lnSpc>
                <a:spcPct val="90000"/>
              </a:lnSpc>
              <a:spcBef>
                <a:spcPts val="1000"/>
              </a:spcBef>
              <a:spcAft>
                <a:spcPts val="0"/>
              </a:spcAft>
              <a:buSzPts val="1840"/>
              <a:buChar char="◼"/>
            </a:pPr>
            <a:r>
              <a:rPr lang="en-US" sz="1800" dirty="0">
                <a:solidFill>
                  <a:schemeClr val="dk1"/>
                </a:solidFill>
              </a:rPr>
              <a:t>We are free to choose our </a:t>
            </a:r>
            <a:r>
              <a:rPr lang="en-US" sz="1800" dirty="0" smtClean="0">
                <a:solidFill>
                  <a:schemeClr val="dk1"/>
                </a:solidFill>
              </a:rPr>
              <a:t>actions</a:t>
            </a:r>
          </a:p>
          <a:p>
            <a:pPr marL="306000" lvl="0" indent="-306000" algn="just">
              <a:spcBef>
                <a:spcPts val="1000"/>
              </a:spcBef>
              <a:buSzPts val="1840"/>
              <a:buChar char="◼"/>
            </a:pPr>
            <a:r>
              <a:rPr lang="en-US" sz="1800" dirty="0"/>
              <a:t>Choosing which university course to </a:t>
            </a:r>
            <a:r>
              <a:rPr lang="en-US" sz="1800" dirty="0" smtClean="0"/>
              <a:t>study</a:t>
            </a:r>
          </a:p>
          <a:p>
            <a:pPr marL="306000" lvl="0" indent="-306000" algn="just">
              <a:spcBef>
                <a:spcPts val="1000"/>
              </a:spcBef>
              <a:buSzPts val="1840"/>
              <a:buChar char="◼"/>
            </a:pPr>
            <a:r>
              <a:rPr lang="en-US" sz="1800" dirty="0" smtClean="0"/>
              <a:t>Deciding </a:t>
            </a:r>
            <a:r>
              <a:rPr lang="en-US" sz="1800" dirty="0"/>
              <a:t>to attend a </a:t>
            </a:r>
            <a:r>
              <a:rPr lang="en-US" sz="1800" dirty="0" smtClean="0"/>
              <a:t>lecture</a:t>
            </a:r>
          </a:p>
          <a:p>
            <a:pPr marL="306000" lvl="0" indent="-306000" algn="just">
              <a:spcBef>
                <a:spcPts val="1000"/>
              </a:spcBef>
              <a:buSzPts val="1840"/>
              <a:buChar char="◼"/>
            </a:pPr>
            <a:r>
              <a:rPr lang="en-US" sz="1800" dirty="0" smtClean="0"/>
              <a:t>Choosing </a:t>
            </a:r>
            <a:r>
              <a:rPr lang="en-US" sz="1800" dirty="0"/>
              <a:t>to </a:t>
            </a:r>
            <a:r>
              <a:rPr lang="en-US" sz="1800" dirty="0" err="1"/>
              <a:t>apologise</a:t>
            </a:r>
            <a:r>
              <a:rPr lang="en-US" sz="1800" dirty="0"/>
              <a:t> after an argument</a:t>
            </a:r>
            <a:endParaRPr sz="1800" dirty="0">
              <a:solidFill>
                <a:schemeClr val="dk1"/>
              </a:solidFill>
            </a:endParaRPr>
          </a:p>
        </p:txBody>
      </p:sp>
      <p:sp>
        <p:nvSpPr>
          <p:cNvPr id="233" name="Google Shape;233;p25"/>
          <p:cNvSpPr txBox="1">
            <a:spLocks noGrp="1"/>
          </p:cNvSpPr>
          <p:nvPr>
            <p:ph type="body" idx="2"/>
          </p:nvPr>
        </p:nvSpPr>
        <p:spPr>
          <a:xfrm>
            <a:off x="5832733" y="1541911"/>
            <a:ext cx="5778075" cy="2316701"/>
          </a:xfrm>
          <a:prstGeom prst="rect">
            <a:avLst/>
          </a:prstGeom>
          <a:noFill/>
          <a:ln>
            <a:noFill/>
          </a:ln>
        </p:spPr>
        <p:txBody>
          <a:bodyPr spcFirstLastPara="1" wrap="square" lIns="91425" tIns="45700" rIns="91425" bIns="45700" anchor="ctr" anchorCtr="0">
            <a:noAutofit/>
          </a:bodyPr>
          <a:lstStyle/>
          <a:p>
            <a:pPr marL="306000" lvl="0" indent="-306000">
              <a:spcBef>
                <a:spcPts val="0"/>
              </a:spcBef>
              <a:buSzPts val="1840"/>
              <a:buChar char="◼"/>
            </a:pPr>
            <a:r>
              <a:rPr lang="en-US" sz="1800" dirty="0" smtClean="0"/>
              <a:t>It suggests </a:t>
            </a:r>
            <a:r>
              <a:rPr lang="en-US" sz="1800" dirty="0"/>
              <a:t>that </a:t>
            </a:r>
            <a:r>
              <a:rPr lang="en-US" sz="1800" dirty="0" smtClean="0"/>
              <a:t>behavior </a:t>
            </a:r>
            <a:r>
              <a:rPr lang="en-US" sz="1800" dirty="0"/>
              <a:t>is influenced or caused by factors </a:t>
            </a:r>
            <a:r>
              <a:rPr lang="en-US" sz="1800" b="1" dirty="0"/>
              <a:t>outside our conscious control</a:t>
            </a:r>
            <a:r>
              <a:rPr lang="en-US" sz="1800" dirty="0" smtClean="0"/>
              <a:t>.</a:t>
            </a:r>
          </a:p>
          <a:p>
            <a:pPr marL="306000" lvl="0" indent="-306000">
              <a:spcBef>
                <a:spcPts val="0"/>
              </a:spcBef>
              <a:buSzPts val="1840"/>
              <a:buChar char="◼"/>
            </a:pPr>
            <a:r>
              <a:rPr lang="en-US" sz="1800" dirty="0" smtClean="0">
                <a:solidFill>
                  <a:schemeClr val="dk1"/>
                </a:solidFill>
              </a:rPr>
              <a:t>The </a:t>
            </a:r>
            <a:r>
              <a:rPr lang="en-US" sz="1800" dirty="0">
                <a:solidFill>
                  <a:schemeClr val="dk1"/>
                </a:solidFill>
              </a:rPr>
              <a:t>assumption that everything that happens has a cause or determinant in the observable world.</a:t>
            </a:r>
            <a:endParaRPr sz="1800" dirty="0"/>
          </a:p>
          <a:p>
            <a:pPr marL="306000" lvl="0" indent="-306000" algn="l" rtl="0">
              <a:lnSpc>
                <a:spcPct val="90000"/>
              </a:lnSpc>
              <a:spcBef>
                <a:spcPts val="1000"/>
              </a:spcBef>
              <a:spcAft>
                <a:spcPts val="0"/>
              </a:spcAft>
              <a:buSzPts val="1840"/>
              <a:buChar char="◼"/>
            </a:pPr>
            <a:r>
              <a:rPr lang="en-US" sz="1800" dirty="0">
                <a:solidFill>
                  <a:schemeClr val="dk1"/>
                </a:solidFill>
              </a:rPr>
              <a:t>Example: child born in a poor family, will live a poor life.</a:t>
            </a:r>
            <a:endParaRPr sz="1800" dirty="0"/>
          </a:p>
          <a:p>
            <a:pPr marL="306000" lvl="0" indent="-306000" algn="l" rtl="0">
              <a:lnSpc>
                <a:spcPct val="90000"/>
              </a:lnSpc>
              <a:spcBef>
                <a:spcPts val="960"/>
              </a:spcBef>
              <a:spcAft>
                <a:spcPts val="0"/>
              </a:spcAft>
              <a:buSzPts val="1656"/>
              <a:buChar char="◼"/>
            </a:pPr>
            <a:r>
              <a:rPr lang="en-US" sz="1800" dirty="0">
                <a:solidFill>
                  <a:schemeClr val="dk1"/>
                </a:solidFill>
              </a:rPr>
              <a:t>GENETIC AND ENVIRONMENT </a:t>
            </a:r>
            <a:endParaRPr sz="1800" dirty="0">
              <a:solidFill>
                <a:schemeClr val="dk1"/>
              </a:solidFill>
            </a:endParaRPr>
          </a:p>
        </p:txBody>
      </p:sp>
      <p:sp>
        <p:nvSpPr>
          <p:cNvPr id="234" name="Google Shape;234;p25"/>
          <p:cNvSpPr/>
          <p:nvPr/>
        </p:nvSpPr>
        <p:spPr>
          <a:xfrm>
            <a:off x="5263346" y="3004304"/>
            <a:ext cx="569387" cy="40011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OR</a:t>
            </a:r>
            <a:endParaRPr sz="1400" b="0" i="0" u="none" strike="noStrike" cap="none">
              <a:solidFill>
                <a:srgbClr val="000000"/>
              </a:solidFill>
              <a:latin typeface="Arial"/>
              <a:ea typeface="Arial"/>
              <a:cs typeface="Arial"/>
              <a:sym typeface="Arial"/>
            </a:endParaRPr>
          </a:p>
        </p:txBody>
      </p:sp>
      <p:pic>
        <p:nvPicPr>
          <p:cNvPr id="235" name="Google Shape;235;p25"/>
          <p:cNvPicPr preferRelativeResize="0"/>
          <p:nvPr/>
        </p:nvPicPr>
        <p:blipFill rotWithShape="1">
          <a:blip r:embed="rId3">
            <a:alphaModFix/>
          </a:blip>
          <a:srcRect/>
          <a:stretch/>
        </p:blipFill>
        <p:spPr>
          <a:xfrm>
            <a:off x="849047" y="4206240"/>
            <a:ext cx="3235804" cy="2423160"/>
          </a:xfrm>
          <a:prstGeom prst="rect">
            <a:avLst/>
          </a:prstGeom>
          <a:noFill/>
          <a:ln>
            <a:noFill/>
          </a:ln>
        </p:spPr>
      </p:pic>
      <p:pic>
        <p:nvPicPr>
          <p:cNvPr id="236" name="Google Shape;236;p25"/>
          <p:cNvPicPr preferRelativeResize="0"/>
          <p:nvPr/>
        </p:nvPicPr>
        <p:blipFill rotWithShape="1">
          <a:blip r:embed="rId4">
            <a:alphaModFix/>
          </a:blip>
          <a:srcRect/>
          <a:stretch/>
        </p:blipFill>
        <p:spPr>
          <a:xfrm>
            <a:off x="8093122" y="4544704"/>
            <a:ext cx="3394028" cy="2084696"/>
          </a:xfrm>
          <a:prstGeom prst="rect">
            <a:avLst/>
          </a:prstGeom>
          <a:noFill/>
          <a:ln>
            <a:noFill/>
          </a:ln>
        </p:spPr>
      </p:pic>
      <p:sp>
        <p:nvSpPr>
          <p:cNvPr id="237" name="Google Shape;237;p25"/>
          <p:cNvSpPr/>
          <p:nvPr/>
        </p:nvSpPr>
        <p:spPr>
          <a:xfrm>
            <a:off x="4054837" y="4758538"/>
            <a:ext cx="4038285"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Twentieth Century"/>
                <a:ea typeface="Twentieth Century"/>
                <a:cs typeface="Twentieth Century"/>
                <a:sym typeface="Twentieth Century"/>
              </a:rPr>
              <a:t> E.g.: Criminal Behavior, Academic Achievement, Addiction, Personal Relationships, Career Choices</a:t>
            </a:r>
            <a:endParaRP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6"/>
          <p:cNvSpPr txBox="1">
            <a:spLocks noGrp="1"/>
          </p:cNvSpPr>
          <p:nvPr>
            <p:ph type="title"/>
          </p:nvPr>
        </p:nvSpPr>
        <p:spPr>
          <a:xfrm>
            <a:off x="793630" y="804779"/>
            <a:ext cx="11029616" cy="970157"/>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chemeClr val="lt1"/>
              </a:buClr>
              <a:buSzPct val="62222"/>
              <a:buFont typeface="Gill Sans"/>
              <a:buNone/>
            </a:pPr>
            <a:r>
              <a:rPr lang="en-US" sz="3600" b="1" dirty="0"/>
              <a:t>5. INDIVIDUAL DIFFERENCES VS. UNIVERSAL PRINCIPLES</a:t>
            </a:r>
            <a:endParaRPr sz="3600" b="1" dirty="0"/>
          </a:p>
        </p:txBody>
      </p:sp>
      <p:sp>
        <p:nvSpPr>
          <p:cNvPr id="243" name="Google Shape;243;p26"/>
          <p:cNvSpPr txBox="1">
            <a:spLocks noGrp="1"/>
          </p:cNvSpPr>
          <p:nvPr>
            <p:ph type="body" idx="1"/>
          </p:nvPr>
        </p:nvSpPr>
        <p:spPr>
          <a:xfrm>
            <a:off x="581193" y="2228004"/>
            <a:ext cx="5151392" cy="2136365"/>
          </a:xfrm>
          <a:prstGeom prst="rect">
            <a:avLst/>
          </a:prstGeom>
          <a:noFill/>
          <a:ln>
            <a:noFill/>
          </a:ln>
        </p:spPr>
        <p:txBody>
          <a:bodyPr spcFirstLastPara="1" wrap="square" lIns="91425" tIns="45700" rIns="91425" bIns="45700" anchor="ctr" anchorCtr="0">
            <a:noAutofit/>
          </a:bodyPr>
          <a:lstStyle/>
          <a:p>
            <a:pPr marL="306000" lvl="0" indent="-306000" algn="just" rtl="0">
              <a:lnSpc>
                <a:spcPct val="90000"/>
              </a:lnSpc>
              <a:spcBef>
                <a:spcPts val="0"/>
              </a:spcBef>
              <a:spcAft>
                <a:spcPts val="0"/>
              </a:spcAft>
              <a:buSzPts val="1840"/>
              <a:buChar char="◼"/>
            </a:pPr>
            <a:r>
              <a:rPr lang="en-US" sz="2000" dirty="0">
                <a:solidFill>
                  <a:schemeClr val="dk1"/>
                </a:solidFill>
              </a:rPr>
              <a:t>Focus on the uniqueness of every individual.</a:t>
            </a:r>
            <a:endParaRPr sz="2000" dirty="0"/>
          </a:p>
          <a:p>
            <a:pPr marL="306000" lvl="0" indent="-306000" algn="just" rtl="0">
              <a:lnSpc>
                <a:spcPct val="90000"/>
              </a:lnSpc>
              <a:spcBef>
                <a:spcPts val="1000"/>
              </a:spcBef>
              <a:spcAft>
                <a:spcPts val="0"/>
              </a:spcAft>
              <a:buSzPts val="1840"/>
              <a:buChar char="◼"/>
            </a:pPr>
            <a:r>
              <a:rPr lang="en-US" sz="2000" dirty="0">
                <a:solidFill>
                  <a:schemeClr val="dk1"/>
                </a:solidFill>
              </a:rPr>
              <a:t>Every person’s behavior is a reflection of their distinct and special individual qualities. </a:t>
            </a:r>
            <a:endParaRPr lang="en-US" sz="2000" dirty="0" smtClean="0">
              <a:solidFill>
                <a:schemeClr val="dk1"/>
              </a:solidFill>
            </a:endParaRPr>
          </a:p>
          <a:p>
            <a:pPr marL="306000" lvl="0" indent="-306000" algn="just">
              <a:spcBef>
                <a:spcPts val="1000"/>
              </a:spcBef>
              <a:buSzPts val="1840"/>
              <a:buChar char="◼"/>
            </a:pPr>
            <a:r>
              <a:rPr lang="en-US" sz="2000" dirty="0"/>
              <a:t>Some people enjoy </a:t>
            </a:r>
            <a:r>
              <a:rPr lang="en-US" sz="2000" dirty="0" smtClean="0"/>
              <a:t>socializing, </a:t>
            </a:r>
            <a:r>
              <a:rPr lang="en-US" sz="2000" dirty="0"/>
              <a:t>while others prefer being alone</a:t>
            </a:r>
            <a:r>
              <a:rPr lang="en-US" sz="2000" dirty="0" smtClean="0"/>
              <a:t>.</a:t>
            </a:r>
          </a:p>
          <a:p>
            <a:pPr marL="306000" lvl="0" indent="-306000" algn="just">
              <a:spcBef>
                <a:spcPts val="1000"/>
              </a:spcBef>
              <a:buSzPts val="1840"/>
              <a:buChar char="◼"/>
            </a:pPr>
            <a:r>
              <a:rPr lang="en-US" sz="2000" dirty="0"/>
              <a:t>Some students perform well under pressure, while others become anxious.</a:t>
            </a:r>
            <a:endParaRPr sz="2000" dirty="0"/>
          </a:p>
        </p:txBody>
      </p:sp>
      <p:sp>
        <p:nvSpPr>
          <p:cNvPr id="244" name="Google Shape;244;p26"/>
          <p:cNvSpPr txBox="1">
            <a:spLocks noGrp="1"/>
          </p:cNvSpPr>
          <p:nvPr>
            <p:ph type="body" idx="2"/>
          </p:nvPr>
        </p:nvSpPr>
        <p:spPr>
          <a:xfrm>
            <a:off x="6837527" y="1301262"/>
            <a:ext cx="4773281" cy="339625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90000"/>
              </a:lnSpc>
              <a:spcBef>
                <a:spcPts val="0"/>
              </a:spcBef>
              <a:spcAft>
                <a:spcPts val="0"/>
              </a:spcAft>
              <a:buSzPts val="1840"/>
              <a:buChar char="◼"/>
            </a:pPr>
            <a:r>
              <a:rPr lang="en-US" sz="2000" dirty="0">
                <a:solidFill>
                  <a:schemeClr val="dk1"/>
                </a:solidFill>
              </a:rPr>
              <a:t>Based on cultural and societal norms and values</a:t>
            </a:r>
            <a:r>
              <a:rPr lang="en-US" sz="2000" dirty="0" smtClean="0">
                <a:solidFill>
                  <a:schemeClr val="dk1"/>
                </a:solidFill>
              </a:rPr>
              <a:t>.</a:t>
            </a:r>
          </a:p>
          <a:p>
            <a:pPr marL="306000" lvl="0" indent="-306000" algn="just" rtl="0">
              <a:lnSpc>
                <a:spcPct val="90000"/>
              </a:lnSpc>
              <a:spcBef>
                <a:spcPts val="0"/>
              </a:spcBef>
              <a:spcAft>
                <a:spcPts val="0"/>
              </a:spcAft>
              <a:buSzPts val="1840"/>
              <a:buChar char="◼"/>
            </a:pPr>
            <a:endParaRPr lang="en-US" sz="2000" dirty="0"/>
          </a:p>
          <a:p>
            <a:pPr marL="306000" lvl="0" indent="-306000" algn="just">
              <a:spcBef>
                <a:spcPts val="0"/>
              </a:spcBef>
              <a:buSzPts val="1840"/>
              <a:buChar char="◼"/>
            </a:pPr>
            <a:r>
              <a:rPr lang="en-US" sz="2000" dirty="0" smtClean="0"/>
              <a:t>Memory </a:t>
            </a:r>
            <a:r>
              <a:rPr lang="en-US" sz="2000" dirty="0"/>
              <a:t>and learning follow certain general psychological principles</a:t>
            </a:r>
            <a:r>
              <a:rPr lang="en-US" sz="2000" dirty="0" smtClean="0"/>
              <a:t>.</a:t>
            </a:r>
          </a:p>
          <a:p>
            <a:pPr marL="306000" lvl="0" indent="-306000" algn="just">
              <a:spcBef>
                <a:spcPts val="0"/>
              </a:spcBef>
              <a:buSzPts val="1840"/>
              <a:buChar char="◼"/>
            </a:pPr>
            <a:endParaRPr lang="en-US" sz="2000" dirty="0" smtClean="0"/>
          </a:p>
          <a:p>
            <a:pPr marL="306000" indent="-306000" algn="just">
              <a:spcBef>
                <a:spcPts val="0"/>
              </a:spcBef>
              <a:buSzPts val="1840"/>
              <a:buFont typeface="Twentieth Century"/>
              <a:buChar char="◼"/>
            </a:pPr>
            <a:r>
              <a:rPr lang="en-US" sz="2000" dirty="0"/>
              <a:t>People can experience basic emotions such as happiness, fear, anger, and sadness.</a:t>
            </a:r>
          </a:p>
          <a:p>
            <a:pPr marL="306000" lvl="0" indent="-306000" algn="just">
              <a:spcBef>
                <a:spcPts val="0"/>
              </a:spcBef>
              <a:buSzPts val="1840"/>
              <a:buChar char="◼"/>
            </a:pPr>
            <a:endParaRPr sz="2000" dirty="0">
              <a:solidFill>
                <a:schemeClr val="dk1"/>
              </a:solidFill>
            </a:endParaRPr>
          </a:p>
        </p:txBody>
      </p:sp>
      <p:sp>
        <p:nvSpPr>
          <p:cNvPr id="245" name="Google Shape;245;p26"/>
          <p:cNvSpPr/>
          <p:nvPr/>
        </p:nvSpPr>
        <p:spPr>
          <a:xfrm>
            <a:off x="5914063" y="3064792"/>
            <a:ext cx="530915" cy="36933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a:solidFill>
                  <a:srgbClr val="222222"/>
                </a:solidFill>
                <a:latin typeface="Times New Roman"/>
                <a:ea typeface="Times New Roman"/>
                <a:cs typeface="Times New Roman"/>
                <a:sym typeface="Times New Roman"/>
              </a:rPr>
              <a:t>OR</a:t>
            </a:r>
            <a:endParaRPr sz="1400" b="0" i="0" u="none" strike="noStrike" cap="none">
              <a:solidFill>
                <a:srgbClr val="000000"/>
              </a:solidFill>
              <a:latin typeface="Arial"/>
              <a:ea typeface="Arial"/>
              <a:cs typeface="Arial"/>
              <a:sym typeface="Arial"/>
            </a:endParaRPr>
          </a:p>
        </p:txBody>
      </p:sp>
      <p:sp>
        <p:nvSpPr>
          <p:cNvPr id="247" name="Google Shape;247;p26"/>
          <p:cNvSpPr/>
          <p:nvPr/>
        </p:nvSpPr>
        <p:spPr>
          <a:xfrm>
            <a:off x="7031492" y="4697512"/>
            <a:ext cx="3795908" cy="120032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800" b="0" i="0" u="none" strike="noStrike" cap="none">
                <a:solidFill>
                  <a:srgbClr val="000000"/>
                </a:solidFill>
                <a:latin typeface="Twentieth Century"/>
                <a:ea typeface="Twentieth Century"/>
                <a:cs typeface="Twentieth Century"/>
                <a:sym typeface="Twentieth Century"/>
              </a:rPr>
              <a:t>E.g.: Personality Traits, Cognitive Development, Emotional Expression, Learning Styles, Social Norms and Behavior</a:t>
            </a:r>
            <a:endParaRPr/>
          </a:p>
        </p:txBody>
      </p:sp>
      <p:pic>
        <p:nvPicPr>
          <p:cNvPr id="2" name="Picture 1"/>
          <p:cNvPicPr>
            <a:picLocks noChangeAspect="1"/>
          </p:cNvPicPr>
          <p:nvPr/>
        </p:nvPicPr>
        <p:blipFill rotWithShape="1">
          <a:blip r:embed="rId3"/>
          <a:srcRect l="4726" t="21253" r="3758"/>
          <a:stretch/>
        </p:blipFill>
        <p:spPr>
          <a:xfrm>
            <a:off x="1055077" y="4889346"/>
            <a:ext cx="4273061" cy="1838423"/>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57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Flash Cards — Identify the Psychological Debate</a:t>
            </a:r>
          </a:p>
        </p:txBody>
      </p:sp>
      <p:sp>
        <p:nvSpPr>
          <p:cNvPr id="3" name="Text Placeholder 2"/>
          <p:cNvSpPr>
            <a:spLocks noGrp="1"/>
          </p:cNvSpPr>
          <p:nvPr>
            <p:ph type="body" idx="1"/>
          </p:nvPr>
        </p:nvSpPr>
        <p:spPr/>
        <p:txBody>
          <a:bodyPr/>
          <a:lstStyle/>
          <a:p>
            <a:pPr algn="just"/>
            <a:r>
              <a:rPr lang="en-US" sz="2000" b="1" dirty="0" smtClean="0"/>
              <a:t>Card1</a:t>
            </a:r>
            <a:r>
              <a:rPr lang="en-US" sz="2000" dirty="0"/>
              <a:t/>
            </a:r>
            <a:br>
              <a:rPr lang="en-US" sz="2000" dirty="0"/>
            </a:br>
            <a:r>
              <a:rPr lang="en-US" sz="2000" dirty="0"/>
              <a:t>Two university students have similar academic abilities, but one performs much better because they grew up with highly supportive parents, private tutoring, and better educational opportunities.</a:t>
            </a:r>
          </a:p>
          <a:p>
            <a:pPr algn="just"/>
            <a:r>
              <a:rPr lang="en-US" sz="2000" b="1" dirty="0" smtClean="0"/>
              <a:t>Which psychological debate is this?</a:t>
            </a:r>
            <a:endParaRPr lang="en-US" sz="2000" dirty="0" smtClean="0"/>
          </a:p>
          <a:p>
            <a:endParaRPr lang="en-US" dirty="0"/>
          </a:p>
        </p:txBody>
      </p:sp>
      <p:sp>
        <p:nvSpPr>
          <p:cNvPr id="4" name="Text Placeholder 3"/>
          <p:cNvSpPr>
            <a:spLocks noGrp="1"/>
          </p:cNvSpPr>
          <p:nvPr>
            <p:ph type="body" idx="2"/>
          </p:nvPr>
        </p:nvSpPr>
        <p:spPr>
          <a:xfrm>
            <a:off x="6226712" y="2286000"/>
            <a:ext cx="4754880" cy="4023360"/>
          </a:xfrm>
        </p:spPr>
        <p:txBody>
          <a:bodyPr>
            <a:normAutofit/>
          </a:bodyPr>
          <a:lstStyle/>
          <a:p>
            <a:pPr algn="just"/>
            <a:r>
              <a:rPr lang="en-US" b="1" dirty="0" smtClean="0"/>
              <a:t>Card2</a:t>
            </a:r>
            <a:r>
              <a:rPr lang="en-US" dirty="0"/>
              <a:t/>
            </a:r>
            <a:br>
              <a:rPr lang="en-US" dirty="0"/>
            </a:br>
            <a:r>
              <a:rPr lang="en-US" dirty="0"/>
              <a:t>A student never answers questions in class. One psychologist focuses on what the student does, while another wants to understand the student's thoughts, feelings, and motivation.</a:t>
            </a:r>
          </a:p>
          <a:p>
            <a:pPr algn="just"/>
            <a:r>
              <a:rPr lang="en-US" b="1" dirty="0"/>
              <a:t>Which psychological debate is this?</a:t>
            </a:r>
            <a:endParaRPr lang="en-US" dirty="0"/>
          </a:p>
          <a:p>
            <a:endParaRPr lang="en-US" dirty="0"/>
          </a:p>
        </p:txBody>
      </p:sp>
    </p:spTree>
    <p:extLst>
      <p:ext uri="{BB962C8B-B14F-4D97-AF65-F5344CB8AC3E}">
        <p14:creationId xmlns:p14="http://schemas.microsoft.com/office/powerpoint/2010/main" val="217637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 calcmode="lin" valueType="num">
                                      <p:cBhvr additive="base">
                                        <p:cTn id="2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 calcmode="lin" valueType="num">
                                      <p:cBhvr additive="base">
                                        <p:cTn id="3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69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24127" y="1213338"/>
            <a:ext cx="4754880" cy="5096022"/>
          </a:xfrm>
        </p:spPr>
        <p:txBody>
          <a:bodyPr/>
          <a:lstStyle/>
          <a:p>
            <a:pPr algn="just"/>
            <a:r>
              <a:rPr lang="en-US" sz="2400" b="1" dirty="0" smtClean="0"/>
              <a:t>Card3</a:t>
            </a:r>
            <a:r>
              <a:rPr lang="en-US" sz="2400" dirty="0"/>
              <a:t/>
            </a:r>
            <a:br>
              <a:rPr lang="en-US" sz="2400" dirty="0"/>
            </a:br>
            <a:r>
              <a:rPr lang="en-US" sz="2400" dirty="0"/>
              <a:t>A student becomes extremely nervous before presentations. They don't understand why they feel this way, but later remember having a very embarrassing experience during a presentation as a child.</a:t>
            </a:r>
          </a:p>
          <a:p>
            <a:pPr algn="just"/>
            <a:r>
              <a:rPr lang="en-US" sz="2400" b="1" dirty="0"/>
              <a:t>Which psychological debate is this?</a:t>
            </a:r>
            <a:endParaRPr lang="en-US" sz="2400" dirty="0"/>
          </a:p>
          <a:p>
            <a:endParaRPr lang="en-US" dirty="0"/>
          </a:p>
        </p:txBody>
      </p:sp>
      <p:sp>
        <p:nvSpPr>
          <p:cNvPr id="4" name="Text Placeholder 3"/>
          <p:cNvSpPr>
            <a:spLocks noGrp="1"/>
          </p:cNvSpPr>
          <p:nvPr>
            <p:ph type="body" idx="2"/>
          </p:nvPr>
        </p:nvSpPr>
        <p:spPr>
          <a:xfrm>
            <a:off x="5989320" y="1213338"/>
            <a:ext cx="4754880" cy="5096022"/>
          </a:xfrm>
        </p:spPr>
        <p:txBody>
          <a:bodyPr/>
          <a:lstStyle/>
          <a:p>
            <a:pPr algn="just"/>
            <a:r>
              <a:rPr lang="en-US" b="1" dirty="0" smtClean="0"/>
              <a:t>Card4</a:t>
            </a:r>
            <a:r>
              <a:rPr lang="en-US" dirty="0"/>
              <a:t/>
            </a:r>
            <a:br>
              <a:rPr lang="en-US" dirty="0"/>
            </a:br>
            <a:r>
              <a:rPr lang="en-US" dirty="0"/>
              <a:t>Five students receive the same low grade. One studies harder, one becomes anxious, one asks for help, one gives up, and another doesn't seem bothered.</a:t>
            </a:r>
          </a:p>
          <a:p>
            <a:pPr algn="just"/>
            <a:r>
              <a:rPr lang="en-US" b="1" dirty="0"/>
              <a:t>Which psychological debate is this?</a:t>
            </a:r>
            <a:endParaRPr lang="en-US" dirty="0"/>
          </a:p>
          <a:p>
            <a:endParaRPr lang="en-US" dirty="0"/>
          </a:p>
        </p:txBody>
      </p:sp>
    </p:spTree>
    <p:extLst>
      <p:ext uri="{BB962C8B-B14F-4D97-AF65-F5344CB8AC3E}">
        <p14:creationId xmlns:p14="http://schemas.microsoft.com/office/powerpoint/2010/main" val="2419811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58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24126" y="1670538"/>
            <a:ext cx="5218411" cy="4638822"/>
          </a:xfrm>
        </p:spPr>
        <p:txBody>
          <a:bodyPr/>
          <a:lstStyle/>
          <a:p>
            <a:pPr algn="just"/>
            <a:r>
              <a:rPr lang="en-US" b="1" dirty="0" smtClean="0"/>
              <a:t>Card5</a:t>
            </a:r>
            <a:r>
              <a:rPr lang="en-US" dirty="0"/>
              <a:t/>
            </a:r>
            <a:br>
              <a:rPr lang="en-US" dirty="0"/>
            </a:br>
            <a:r>
              <a:rPr lang="en-US" dirty="0"/>
              <a:t>A student cheats on an exam. They say they made the decision themselves, but their classmates argue that intense academic pressure and fear of failure influenced their behavior.</a:t>
            </a:r>
          </a:p>
          <a:p>
            <a:pPr algn="just"/>
            <a:r>
              <a:rPr lang="en-US" b="1" dirty="0"/>
              <a:t>Which psychological debate is this?</a:t>
            </a:r>
            <a:endParaRPr lang="en-US" dirty="0"/>
          </a:p>
          <a:p>
            <a:endParaRPr lang="en-US" dirty="0"/>
          </a:p>
        </p:txBody>
      </p:sp>
    </p:spTree>
    <p:extLst>
      <p:ext uri="{BB962C8B-B14F-4D97-AF65-F5344CB8AC3E}">
        <p14:creationId xmlns:p14="http://schemas.microsoft.com/office/powerpoint/2010/main" val="65397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7"/>
          <p:cNvSpPr txBox="1">
            <a:spLocks noGrp="1"/>
          </p:cNvSpPr>
          <p:nvPr>
            <p:ph type="title"/>
          </p:nvPr>
        </p:nvSpPr>
        <p:spPr>
          <a:xfrm>
            <a:off x="882673" y="277091"/>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dirty="0"/>
              <a:t>BRANCHES OF PSYCHOLOGY</a:t>
            </a:r>
            <a:endParaRPr dirty="0"/>
          </a:p>
        </p:txBody>
      </p:sp>
      <p:sp>
        <p:nvSpPr>
          <p:cNvPr id="2" name="Text Placeholder 1"/>
          <p:cNvSpPr>
            <a:spLocks noGrp="1"/>
          </p:cNvSpPr>
          <p:nvPr>
            <p:ph type="body" idx="1"/>
          </p:nvPr>
        </p:nvSpPr>
        <p:spPr/>
        <p:txBody>
          <a:bodyPr/>
          <a:lstStyle/>
          <a:p>
            <a:endParaRPr lang="en-US" dirty="0"/>
          </a:p>
        </p:txBody>
      </p:sp>
      <p:sp>
        <p:nvSpPr>
          <p:cNvPr id="3" name="Text Placeholder 2"/>
          <p:cNvSpPr>
            <a:spLocks noGrp="1"/>
          </p:cNvSpPr>
          <p:nvPr>
            <p:ph type="body" idx="2"/>
          </p:nvPr>
        </p:nvSpPr>
        <p:spPr/>
        <p:txBody>
          <a:bodyPr/>
          <a:lstStyle/>
          <a:p>
            <a:endParaRPr lang="en-US"/>
          </a:p>
        </p:txBody>
      </p:sp>
      <p:pic>
        <p:nvPicPr>
          <p:cNvPr id="7" name="Picture 6"/>
          <p:cNvPicPr>
            <a:picLocks noChangeAspect="1"/>
          </p:cNvPicPr>
          <p:nvPr/>
        </p:nvPicPr>
        <p:blipFill>
          <a:blip r:embed="rId3"/>
          <a:stretch>
            <a:fillRect/>
          </a:stretch>
        </p:blipFill>
        <p:spPr>
          <a:xfrm>
            <a:off x="882673" y="1629201"/>
            <a:ext cx="10520218" cy="493323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28"/>
          <p:cNvPicPr preferRelativeResize="0">
            <a:picLocks noGrp="1"/>
          </p:cNvPicPr>
          <p:nvPr>
            <p:ph type="body" idx="1"/>
          </p:nvPr>
        </p:nvPicPr>
        <p:blipFill rotWithShape="1">
          <a:blip r:embed="rId3">
            <a:alphaModFix/>
          </a:blip>
          <a:srcRect/>
          <a:stretch/>
        </p:blipFill>
        <p:spPr>
          <a:xfrm>
            <a:off x="988292" y="637310"/>
            <a:ext cx="10012218" cy="5662180"/>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29"/>
          <p:cNvPicPr preferRelativeResize="0">
            <a:picLocks noGrp="1"/>
          </p:cNvPicPr>
          <p:nvPr>
            <p:ph type="body" idx="1"/>
          </p:nvPr>
        </p:nvPicPr>
        <p:blipFill rotWithShape="1">
          <a:blip r:embed="rId3">
            <a:alphaModFix/>
          </a:blip>
          <a:srcRect/>
          <a:stretch/>
        </p:blipFill>
        <p:spPr>
          <a:xfrm>
            <a:off x="1034473" y="1016000"/>
            <a:ext cx="10363199" cy="5292725"/>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1218" t="47221" r="60355" b="6503"/>
          <a:stretch/>
        </p:blipFill>
        <p:spPr>
          <a:xfrm>
            <a:off x="2169459" y="412375"/>
            <a:ext cx="8073579" cy="6137893"/>
          </a:xfrm>
          <a:prstGeom prst="rect">
            <a:avLst/>
          </a:prstGeom>
        </p:spPr>
      </p:pic>
    </p:spTree>
    <p:extLst>
      <p:ext uri="{BB962C8B-B14F-4D97-AF65-F5344CB8AC3E}">
        <p14:creationId xmlns:p14="http://schemas.microsoft.com/office/powerpoint/2010/main" val="48974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70" name="Google Shape;270;p30"/>
          <p:cNvPicPr preferRelativeResize="0">
            <a:picLocks noGrp="1"/>
          </p:cNvPicPr>
          <p:nvPr>
            <p:ph type="body" idx="1"/>
          </p:nvPr>
        </p:nvPicPr>
        <p:blipFill rotWithShape="1">
          <a:blip r:embed="rId3">
            <a:alphaModFix/>
          </a:blip>
          <a:srcRect/>
          <a:stretch/>
        </p:blipFill>
        <p:spPr>
          <a:xfrm>
            <a:off x="682792" y="1951628"/>
            <a:ext cx="4019052" cy="4612943"/>
          </a:xfrm>
          <a:prstGeom prst="rect">
            <a:avLst/>
          </a:prstGeom>
          <a:noFill/>
          <a:ln>
            <a:noFill/>
          </a:ln>
        </p:spPr>
      </p:pic>
      <p:pic>
        <p:nvPicPr>
          <p:cNvPr id="271" name="Google Shape;271;p30"/>
          <p:cNvPicPr preferRelativeResize="0"/>
          <p:nvPr/>
        </p:nvPicPr>
        <p:blipFill rotWithShape="1">
          <a:blip r:embed="rId4">
            <a:alphaModFix/>
          </a:blip>
          <a:srcRect/>
          <a:stretch/>
        </p:blipFill>
        <p:spPr>
          <a:xfrm>
            <a:off x="5613591" y="1514286"/>
            <a:ext cx="5487628" cy="54876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anim calcmode="lin" valueType="num">
                                      <p:cBhvr additive="base">
                                        <p:cTn id="7" dur="500" fill="hold"/>
                                        <p:tgtEl>
                                          <p:spTgt spid="270"/>
                                        </p:tgtEl>
                                        <p:attrNameLst>
                                          <p:attrName>ppt_x</p:attrName>
                                        </p:attrNameLst>
                                      </p:cBhvr>
                                      <p:tavLst>
                                        <p:tav tm="0">
                                          <p:val>
                                            <p:strVal val="#ppt_x"/>
                                          </p:val>
                                        </p:tav>
                                        <p:tav tm="100000">
                                          <p:val>
                                            <p:strVal val="#ppt_x"/>
                                          </p:val>
                                        </p:tav>
                                      </p:tavLst>
                                    </p:anim>
                                    <p:anim calcmode="lin" valueType="num">
                                      <p:cBhvr additive="base">
                                        <p:cTn id="8" dur="500" fill="hold"/>
                                        <p:tgtEl>
                                          <p:spTgt spid="2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1"/>
                                        </p:tgtEl>
                                        <p:attrNameLst>
                                          <p:attrName>style.visibility</p:attrName>
                                        </p:attrNameLst>
                                      </p:cBhvr>
                                      <p:to>
                                        <p:strVal val="visible"/>
                                      </p:to>
                                    </p:set>
                                    <p:anim calcmode="lin" valueType="num">
                                      <p:cBhvr additive="base">
                                        <p:cTn id="13" dur="500" fill="hold"/>
                                        <p:tgtEl>
                                          <p:spTgt spid="271"/>
                                        </p:tgtEl>
                                        <p:attrNameLst>
                                          <p:attrName>ppt_x</p:attrName>
                                        </p:attrNameLst>
                                      </p:cBhvr>
                                      <p:tavLst>
                                        <p:tav tm="0">
                                          <p:val>
                                            <p:strVal val="#ppt_x"/>
                                          </p:val>
                                        </p:tav>
                                        <p:tav tm="100000">
                                          <p:val>
                                            <p:strVal val="#ppt_x"/>
                                          </p:val>
                                        </p:tav>
                                      </p:tavLst>
                                    </p:anim>
                                    <p:anim calcmode="lin" valueType="num">
                                      <p:cBhvr additive="base">
                                        <p:cTn id="14" dur="500" fill="hold"/>
                                        <p:tgtEl>
                                          <p:spTgt spid="2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31"/>
          <p:cNvPicPr preferRelativeResize="0">
            <a:picLocks noGrp="1"/>
          </p:cNvPicPr>
          <p:nvPr>
            <p:ph type="body" idx="1"/>
          </p:nvPr>
        </p:nvPicPr>
        <p:blipFill rotWithShape="1">
          <a:blip r:embed="rId3">
            <a:alphaModFix/>
          </a:blip>
          <a:srcRect/>
          <a:stretch/>
        </p:blipFill>
        <p:spPr>
          <a:xfrm>
            <a:off x="3934336" y="1251527"/>
            <a:ext cx="4028774" cy="4022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 calcmode="lin" valueType="num">
                                      <p:cBhvr additive="base">
                                        <p:cTn id="7" dur="500" fill="hold"/>
                                        <p:tgtEl>
                                          <p:spTgt spid="276"/>
                                        </p:tgtEl>
                                        <p:attrNameLst>
                                          <p:attrName>ppt_x</p:attrName>
                                        </p:attrNameLst>
                                      </p:cBhvr>
                                      <p:tavLst>
                                        <p:tav tm="0">
                                          <p:val>
                                            <p:strVal val="#ppt_x"/>
                                          </p:val>
                                        </p:tav>
                                        <p:tav tm="100000">
                                          <p:val>
                                            <p:strVal val="#ppt_x"/>
                                          </p:val>
                                        </p:tav>
                                      </p:tavLst>
                                    </p:anim>
                                    <p:anim calcmode="lin" valueType="num">
                                      <p:cBhvr additive="base">
                                        <p:cTn id="8" dur="500" fill="hold"/>
                                        <p:tgtEl>
                                          <p:spTgt spid="2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50931" y="830872"/>
            <a:ext cx="6852140" cy="5139105"/>
          </a:xfrm>
          <a:prstGeom prst="rect">
            <a:avLst/>
          </a:prstGeom>
        </p:spPr>
      </p:pic>
    </p:spTree>
    <p:extLst>
      <p:ext uri="{BB962C8B-B14F-4D97-AF65-F5344CB8AC3E}">
        <p14:creationId xmlns:p14="http://schemas.microsoft.com/office/powerpoint/2010/main" val="3150942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40055" t="44552" r="41274" b="9172"/>
          <a:stretch/>
        </p:blipFill>
        <p:spPr>
          <a:xfrm>
            <a:off x="3472961" y="356690"/>
            <a:ext cx="5055577" cy="6061397"/>
          </a:xfrm>
          <a:prstGeom prst="rect">
            <a:avLst/>
          </a:prstGeom>
        </p:spPr>
      </p:pic>
    </p:spTree>
    <p:extLst>
      <p:ext uri="{BB962C8B-B14F-4D97-AF65-F5344CB8AC3E}">
        <p14:creationId xmlns:p14="http://schemas.microsoft.com/office/powerpoint/2010/main" val="53849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p33"/>
          <p:cNvPicPr preferRelativeResize="0">
            <a:picLocks noGrp="1"/>
          </p:cNvPicPr>
          <p:nvPr>
            <p:ph type="body" idx="1"/>
          </p:nvPr>
        </p:nvPicPr>
        <p:blipFill rotWithShape="1">
          <a:blip r:embed="rId3">
            <a:alphaModFix/>
          </a:blip>
          <a:srcRect/>
          <a:stretch/>
        </p:blipFill>
        <p:spPr>
          <a:xfrm>
            <a:off x="965200" y="365760"/>
            <a:ext cx="10342880" cy="5781040"/>
          </a:xfrm>
          <a:prstGeom prst="rect">
            <a:avLst/>
          </a:prstGeom>
          <a:noFill/>
          <a:ln>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32"/>
          <p:cNvPicPr preferRelativeResize="0">
            <a:picLocks noGrp="1"/>
          </p:cNvPicPr>
          <p:nvPr>
            <p:ph type="body" idx="1"/>
          </p:nvPr>
        </p:nvPicPr>
        <p:blipFill rotWithShape="1">
          <a:blip r:embed="rId3">
            <a:alphaModFix/>
          </a:blip>
          <a:srcRect t="47482"/>
          <a:stretch/>
        </p:blipFill>
        <p:spPr>
          <a:xfrm>
            <a:off x="1127760" y="1171903"/>
            <a:ext cx="10414000" cy="5170805"/>
          </a:xfrm>
          <a:prstGeom prst="rect">
            <a:avLst/>
          </a:prstGeom>
          <a:noFill/>
          <a:ln>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a:solidFill>
                  <a:srgbClr val="202124"/>
                </a:solidFill>
                <a:latin typeface="Gill Sans"/>
                <a:ea typeface="Gill Sans"/>
                <a:cs typeface="Gill Sans"/>
                <a:sym typeface="Gill Sans"/>
              </a:rPr>
              <a:t>Gestalt psychology</a:t>
            </a:r>
            <a:endParaRPr lang="en-US" dirty="0"/>
          </a:p>
        </p:txBody>
      </p:sp>
      <p:sp>
        <p:nvSpPr>
          <p:cNvPr id="5" name="Google Shape;292;p34"/>
          <p:cNvSpPr txBox="1">
            <a:spLocks/>
          </p:cNvSpPr>
          <p:nvPr/>
        </p:nvSpPr>
        <p:spPr>
          <a:xfrm>
            <a:off x="1251040" y="2326586"/>
            <a:ext cx="9720073" cy="402336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42900" algn="l" rtl="0">
              <a:lnSpc>
                <a:spcPct val="90000"/>
              </a:lnSpc>
              <a:spcBef>
                <a:spcPts val="1200"/>
              </a:spcBef>
              <a:spcAft>
                <a:spcPts val="0"/>
              </a:spcAft>
              <a:buClr>
                <a:schemeClr val="accent1"/>
              </a:buClr>
              <a:buSzPts val="1800"/>
              <a:buFont typeface="Twentieth Century"/>
              <a:buChar char=" "/>
              <a:defRPr sz="22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90000"/>
              </a:lnSpc>
              <a:spcBef>
                <a:spcPts val="20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3pPr>
            <a:lvl4pPr marL="1828800" marR="0" lvl="3"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400"/>
              </a:spcBef>
              <a:spcAft>
                <a:spcPts val="40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pPr marL="306000" indent="-306000" algn="just">
              <a:spcBef>
                <a:spcPts val="0"/>
              </a:spcBef>
              <a:buSzPts val="2208"/>
              <a:buFont typeface="Twentieth Century"/>
              <a:buChar char="◼"/>
            </a:pPr>
            <a:r>
              <a:rPr lang="en-US" sz="2800" dirty="0" smtClean="0">
                <a:solidFill>
                  <a:srgbClr val="FF0000"/>
                </a:solidFill>
                <a:latin typeface="Gill Sans"/>
                <a:ea typeface="Gill Sans"/>
                <a:cs typeface="Gill Sans"/>
                <a:sym typeface="Gill Sans"/>
              </a:rPr>
              <a:t>Max Wertheimer</a:t>
            </a:r>
            <a:r>
              <a:rPr lang="en-US" sz="2800" dirty="0" smtClean="0">
                <a:solidFill>
                  <a:srgbClr val="202124"/>
                </a:solidFill>
                <a:latin typeface="Gill Sans"/>
                <a:ea typeface="Gill Sans"/>
                <a:cs typeface="Gill Sans"/>
                <a:sym typeface="Gill Sans"/>
              </a:rPr>
              <a:t> (1880–1943), </a:t>
            </a:r>
            <a:r>
              <a:rPr lang="en-US" sz="2800" dirty="0" smtClean="0">
                <a:solidFill>
                  <a:srgbClr val="FF0000"/>
                </a:solidFill>
                <a:latin typeface="Gill Sans"/>
                <a:ea typeface="Gill Sans"/>
                <a:cs typeface="Gill Sans"/>
                <a:sym typeface="Gill Sans"/>
              </a:rPr>
              <a:t>Kurt </a:t>
            </a:r>
            <a:r>
              <a:rPr lang="en-US" sz="2800" dirty="0" err="1" smtClean="0">
                <a:solidFill>
                  <a:srgbClr val="FF0000"/>
                </a:solidFill>
                <a:latin typeface="Gill Sans"/>
                <a:ea typeface="Gill Sans"/>
                <a:cs typeface="Gill Sans"/>
                <a:sym typeface="Gill Sans"/>
              </a:rPr>
              <a:t>Koffka</a:t>
            </a:r>
            <a:r>
              <a:rPr lang="en-US" sz="2800" dirty="0" smtClean="0">
                <a:solidFill>
                  <a:srgbClr val="FF0000"/>
                </a:solidFill>
                <a:latin typeface="Gill Sans"/>
                <a:ea typeface="Gill Sans"/>
                <a:cs typeface="Gill Sans"/>
                <a:sym typeface="Gill Sans"/>
              </a:rPr>
              <a:t> </a:t>
            </a:r>
            <a:r>
              <a:rPr lang="en-US" sz="2800" dirty="0" smtClean="0">
                <a:solidFill>
                  <a:srgbClr val="202124"/>
                </a:solidFill>
                <a:latin typeface="Gill Sans"/>
                <a:ea typeface="Gill Sans"/>
                <a:cs typeface="Gill Sans"/>
                <a:sym typeface="Gill Sans"/>
              </a:rPr>
              <a:t>(1886–1941), and </a:t>
            </a:r>
            <a:r>
              <a:rPr lang="en-US" sz="2800" dirty="0" smtClean="0">
                <a:solidFill>
                  <a:srgbClr val="FF0000"/>
                </a:solidFill>
                <a:latin typeface="Gill Sans"/>
                <a:ea typeface="Gill Sans"/>
                <a:cs typeface="Gill Sans"/>
                <a:sym typeface="Gill Sans"/>
              </a:rPr>
              <a:t>Wolfgang </a:t>
            </a:r>
            <a:r>
              <a:rPr lang="en-US" sz="2800" dirty="0" err="1" smtClean="0">
                <a:solidFill>
                  <a:srgbClr val="FF0000"/>
                </a:solidFill>
                <a:latin typeface="Gill Sans"/>
                <a:ea typeface="Gill Sans"/>
                <a:cs typeface="Gill Sans"/>
                <a:sym typeface="Gill Sans"/>
              </a:rPr>
              <a:t>Köhler</a:t>
            </a:r>
            <a:r>
              <a:rPr lang="en-US" sz="2800" dirty="0" smtClean="0">
                <a:solidFill>
                  <a:srgbClr val="FF0000"/>
                </a:solidFill>
                <a:latin typeface="Gill Sans"/>
                <a:ea typeface="Gill Sans"/>
                <a:cs typeface="Gill Sans"/>
                <a:sym typeface="Gill Sans"/>
              </a:rPr>
              <a:t> </a:t>
            </a:r>
            <a:r>
              <a:rPr lang="en-US" sz="2800" dirty="0" smtClean="0">
                <a:solidFill>
                  <a:srgbClr val="202124"/>
                </a:solidFill>
                <a:latin typeface="Gill Sans"/>
                <a:ea typeface="Gill Sans"/>
                <a:cs typeface="Gill Sans"/>
                <a:sym typeface="Gill Sans"/>
              </a:rPr>
              <a:t>(1887–1967) founded Gestalt psychology in the early 20th century.</a:t>
            </a:r>
            <a:endParaRPr lang="en-US" sz="2800" dirty="0" smtClean="0">
              <a:latin typeface="Gill Sans"/>
              <a:ea typeface="Gill Sans"/>
              <a:cs typeface="Gill Sans"/>
              <a:sym typeface="Gill Sans"/>
            </a:endParaRPr>
          </a:p>
          <a:p>
            <a:pPr marL="306000" indent="-306000" algn="just">
              <a:spcBef>
                <a:spcPts val="1080"/>
              </a:spcBef>
              <a:buSzPts val="2208"/>
              <a:buFont typeface="Twentieth Century"/>
              <a:buChar char="◼"/>
            </a:pPr>
            <a:r>
              <a:rPr lang="en-US" sz="2800" dirty="0" smtClean="0">
                <a:latin typeface="Gill Sans"/>
                <a:ea typeface="Gill Sans"/>
                <a:cs typeface="Gill Sans"/>
                <a:sym typeface="Gill Sans"/>
              </a:rPr>
              <a:t>The whole is different from the sum of its parts.</a:t>
            </a:r>
            <a:endParaRPr lang="en-US" sz="2800" dirty="0" smtClean="0"/>
          </a:p>
          <a:p>
            <a:pPr marL="306000" indent="-306000" algn="just">
              <a:spcBef>
                <a:spcPts val="1080"/>
              </a:spcBef>
              <a:buSzPts val="2208"/>
              <a:buFont typeface="Twentieth Century"/>
              <a:buChar char="◼"/>
            </a:pPr>
            <a:r>
              <a:rPr lang="en-US" sz="2800" dirty="0" smtClean="0">
                <a:latin typeface="Gill Sans"/>
                <a:ea typeface="Gill Sans"/>
                <a:cs typeface="Gill Sans"/>
                <a:sym typeface="Gill Sans"/>
              </a:rPr>
              <a:t>Our perception or understanding of objects is greater and more meaningful  than the individuals elements that make up our perceptions. </a:t>
            </a:r>
            <a:endParaRPr lang="en-US" sz="2800" dirty="0" smtClean="0"/>
          </a:p>
          <a:p>
            <a:pPr marL="306000" indent="-165792">
              <a:spcBef>
                <a:spcPts val="1080"/>
              </a:spcBef>
              <a:buSzPts val="2208"/>
              <a:buFont typeface="Twentieth Century"/>
              <a:buNone/>
            </a:pPr>
            <a:endParaRPr lang="en-US" sz="2400" dirty="0" smtClean="0"/>
          </a:p>
          <a:p>
            <a:pPr marL="306000" indent="-165792">
              <a:spcBef>
                <a:spcPts val="1080"/>
              </a:spcBef>
              <a:buSzPts val="2208"/>
              <a:buFont typeface="Twentieth Century"/>
              <a:buNone/>
            </a:pPr>
            <a:endParaRPr lang="en-US" sz="2400" dirty="0"/>
          </a:p>
        </p:txBody>
      </p:sp>
      <p:pic>
        <p:nvPicPr>
          <p:cNvPr id="6" name="Google Shape;293;p34"/>
          <p:cNvPicPr preferRelativeResize="0"/>
          <p:nvPr/>
        </p:nvPicPr>
        <p:blipFill rotWithShape="1">
          <a:blip r:embed="rId2">
            <a:alphaModFix/>
          </a:blip>
          <a:srcRect/>
          <a:stretch/>
        </p:blipFill>
        <p:spPr>
          <a:xfrm>
            <a:off x="5100156" y="5106173"/>
            <a:ext cx="5870957" cy="1396105"/>
          </a:xfrm>
          <a:prstGeom prst="rect">
            <a:avLst/>
          </a:prstGeom>
          <a:noFill/>
          <a:ln>
            <a:noFill/>
          </a:ln>
        </p:spPr>
      </p:pic>
    </p:spTree>
    <p:extLst>
      <p:ext uri="{BB962C8B-B14F-4D97-AF65-F5344CB8AC3E}">
        <p14:creationId xmlns:p14="http://schemas.microsoft.com/office/powerpoint/2010/main" val="28089105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5"/>
          <p:cNvSpPr txBox="1">
            <a:spLocks noGrp="1"/>
          </p:cNvSpPr>
          <p:nvPr>
            <p:ph type="body" idx="1"/>
          </p:nvPr>
        </p:nvSpPr>
        <p:spPr>
          <a:xfrm>
            <a:off x="1134964" y="861646"/>
            <a:ext cx="10518556" cy="5447714"/>
          </a:xfrm>
          <a:prstGeom prst="rect">
            <a:avLst/>
          </a:prstGeom>
          <a:noFill/>
          <a:ln>
            <a:noFill/>
          </a:ln>
        </p:spPr>
        <p:txBody>
          <a:bodyPr spcFirstLastPara="1" wrap="square" lIns="91425" tIns="45700" rIns="91425" bIns="45700" anchor="ctr" anchorCtr="0">
            <a:noAutofit/>
          </a:bodyPr>
          <a:lstStyle/>
          <a:p>
            <a:pPr marL="306000" lvl="0" indent="-306000" algn="just" rtl="0">
              <a:lnSpc>
                <a:spcPct val="90000"/>
              </a:lnSpc>
              <a:spcBef>
                <a:spcPts val="0"/>
              </a:spcBef>
              <a:spcAft>
                <a:spcPts val="0"/>
              </a:spcAft>
              <a:buSzPts val="2208"/>
              <a:buChar char="◼"/>
            </a:pPr>
            <a:r>
              <a:rPr lang="en-US" sz="2800" dirty="0">
                <a:solidFill>
                  <a:schemeClr val="dk1"/>
                </a:solidFill>
              </a:rPr>
              <a:t>When trying to make sense of the world around us, Gestalt psychology suggests that we do not simply focus on every small component. Instead, our minds tend to perceive objects as part of a greater whole and as elements of more complex systems.</a:t>
            </a:r>
            <a:endParaRPr sz="2800" dirty="0"/>
          </a:p>
          <a:p>
            <a:pPr marL="306000" lvl="0" indent="-165792" algn="l" rtl="0">
              <a:lnSpc>
                <a:spcPct val="90000"/>
              </a:lnSpc>
              <a:spcBef>
                <a:spcPts val="1080"/>
              </a:spcBef>
              <a:spcAft>
                <a:spcPts val="0"/>
              </a:spcAft>
              <a:buSzPts val="2208"/>
              <a:buNone/>
            </a:pPr>
            <a:endParaRPr sz="2800" dirty="0">
              <a:solidFill>
                <a:schemeClr val="dk1"/>
              </a:solidFill>
            </a:endParaRPr>
          </a:p>
          <a:p>
            <a:pPr marL="306000" lvl="0" indent="-306000" algn="just" rtl="0">
              <a:lnSpc>
                <a:spcPct val="90000"/>
              </a:lnSpc>
              <a:spcBef>
                <a:spcPts val="1080"/>
              </a:spcBef>
              <a:spcAft>
                <a:spcPts val="0"/>
              </a:spcAft>
              <a:buSzPts val="2208"/>
              <a:buChar char="◼"/>
            </a:pPr>
            <a:r>
              <a:rPr lang="en-US" sz="2800" dirty="0">
                <a:solidFill>
                  <a:schemeClr val="dk1"/>
                </a:solidFill>
              </a:rPr>
              <a:t>This school of psychology played a major role in the modern development of the study of human sensation and perception.</a:t>
            </a:r>
            <a:endParaRPr sz="2800" dirty="0">
              <a:solidFill>
                <a:schemeClr val="dk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6"/>
          <p:cNvSpPr txBox="1">
            <a:spLocks noGrp="1"/>
          </p:cNvSpPr>
          <p:nvPr>
            <p:ph type="title"/>
          </p:nvPr>
        </p:nvSpPr>
        <p:spPr>
          <a:xfrm>
            <a:off x="922528" y="0"/>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3200"/>
              <a:buFont typeface="Gill Sans"/>
              <a:buNone/>
            </a:pPr>
            <a:r>
              <a:rPr lang="en-US" sz="4400" b="1"/>
              <a:t>SIGMUND FREUD (1856-1939)</a:t>
            </a:r>
            <a:endParaRPr sz="4400" b="1"/>
          </a:p>
        </p:txBody>
      </p:sp>
      <p:sp>
        <p:nvSpPr>
          <p:cNvPr id="304" name="Google Shape;304;p36"/>
          <p:cNvSpPr txBox="1">
            <a:spLocks noGrp="1"/>
          </p:cNvSpPr>
          <p:nvPr>
            <p:ph type="body" idx="1"/>
          </p:nvPr>
        </p:nvSpPr>
        <p:spPr>
          <a:xfrm>
            <a:off x="2985246" y="2180496"/>
            <a:ext cx="5015754" cy="4288543"/>
          </a:xfrm>
          <a:prstGeom prst="rect">
            <a:avLst/>
          </a:prstGeom>
          <a:noFill/>
          <a:ln>
            <a:noFill/>
          </a:ln>
        </p:spPr>
        <p:txBody>
          <a:bodyPr spcFirstLastPara="1" wrap="square" lIns="91425" tIns="45700" rIns="91425" bIns="45700" anchor="ctr" anchorCtr="0">
            <a:noAutofit/>
          </a:bodyPr>
          <a:lstStyle/>
          <a:p>
            <a:pPr marL="306000" lvl="0" indent="-306000" algn="just" rtl="0">
              <a:lnSpc>
                <a:spcPct val="90000"/>
              </a:lnSpc>
              <a:spcBef>
                <a:spcPts val="0"/>
              </a:spcBef>
              <a:spcAft>
                <a:spcPts val="0"/>
              </a:spcAft>
              <a:buSzPts val="2208"/>
              <a:buChar char="◼"/>
            </a:pPr>
            <a:r>
              <a:rPr lang="en-US" sz="2400">
                <a:solidFill>
                  <a:schemeClr val="dk1"/>
                </a:solidFill>
                <a:latin typeface="Gill Sans"/>
                <a:ea typeface="Gill Sans"/>
                <a:cs typeface="Gill Sans"/>
                <a:sym typeface="Gill Sans"/>
              </a:rPr>
              <a:t>Austrian physician who founded the psychoanalytic</a:t>
            </a:r>
            <a:r>
              <a:rPr lang="en-US" sz="2400">
                <a:solidFill>
                  <a:schemeClr val="dk1"/>
                </a:solidFill>
              </a:rPr>
              <a:t> </a:t>
            </a:r>
            <a:r>
              <a:rPr lang="en-US" sz="2400">
                <a:solidFill>
                  <a:schemeClr val="dk1"/>
                </a:solidFill>
                <a:latin typeface="Gill Sans"/>
                <a:ea typeface="Gill Sans"/>
                <a:cs typeface="Gill Sans"/>
                <a:sym typeface="Gill Sans"/>
              </a:rPr>
              <a:t>approach to psychology.</a:t>
            </a:r>
            <a:endParaRPr/>
          </a:p>
          <a:p>
            <a:pPr marL="306000" lvl="0" indent="-306000" algn="just" rtl="0">
              <a:lnSpc>
                <a:spcPct val="90000"/>
              </a:lnSpc>
              <a:spcBef>
                <a:spcPts val="1080"/>
              </a:spcBef>
              <a:spcAft>
                <a:spcPts val="0"/>
              </a:spcAft>
              <a:buSzPts val="2208"/>
              <a:buChar char="◼"/>
            </a:pPr>
            <a:r>
              <a:rPr lang="en-US" sz="2400" b="1">
                <a:solidFill>
                  <a:schemeClr val="accent3"/>
                </a:solidFill>
                <a:latin typeface="Arial"/>
                <a:ea typeface="Arial"/>
                <a:cs typeface="Arial"/>
                <a:sym typeface="Arial"/>
              </a:rPr>
              <a:t>Freud developed a theory based on the existence of the unconscious</a:t>
            </a:r>
            <a:r>
              <a:rPr lang="en-US" sz="2400">
                <a:solidFill>
                  <a:schemeClr val="accent3"/>
                </a:solidFill>
                <a:latin typeface="Arial"/>
                <a:ea typeface="Arial"/>
                <a:cs typeface="Arial"/>
                <a:sym typeface="Arial"/>
              </a:rPr>
              <a:t>.</a:t>
            </a:r>
            <a:endParaRPr/>
          </a:p>
          <a:p>
            <a:pPr marL="306000" lvl="0" indent="-306000" algn="just" rtl="0">
              <a:lnSpc>
                <a:spcPct val="90000"/>
              </a:lnSpc>
              <a:spcBef>
                <a:spcPts val="1080"/>
              </a:spcBef>
              <a:spcAft>
                <a:spcPts val="0"/>
              </a:spcAft>
              <a:buSzPts val="2208"/>
              <a:buChar char="◼"/>
            </a:pPr>
            <a:r>
              <a:rPr lang="en-US" sz="2400">
                <a:solidFill>
                  <a:schemeClr val="dk1"/>
                </a:solidFill>
              </a:rPr>
              <a:t>According to him emotional and behavioral </a:t>
            </a:r>
            <a:r>
              <a:rPr lang="en-US" sz="2400">
                <a:solidFill>
                  <a:schemeClr val="dk1"/>
                </a:solidFill>
                <a:latin typeface="Gill Sans"/>
                <a:ea typeface="Gill Sans"/>
                <a:cs typeface="Gill Sans"/>
                <a:sym typeface="Gill Sans"/>
              </a:rPr>
              <a:t> disturbances were based on personal conflicts on an unconscious level.</a:t>
            </a:r>
            <a:endParaRPr/>
          </a:p>
          <a:p>
            <a:pPr marL="306000" lvl="0" indent="-165792" algn="just" rtl="0">
              <a:lnSpc>
                <a:spcPct val="90000"/>
              </a:lnSpc>
              <a:spcBef>
                <a:spcPts val="1080"/>
              </a:spcBef>
              <a:spcAft>
                <a:spcPts val="0"/>
              </a:spcAft>
              <a:buSzPts val="2208"/>
              <a:buNone/>
            </a:pPr>
            <a:endParaRPr sz="2400">
              <a:solidFill>
                <a:schemeClr val="dk1"/>
              </a:solidFill>
            </a:endParaRPr>
          </a:p>
        </p:txBody>
      </p:sp>
      <p:pic>
        <p:nvPicPr>
          <p:cNvPr id="305" name="Google Shape;305;p36"/>
          <p:cNvPicPr preferRelativeResize="0"/>
          <p:nvPr/>
        </p:nvPicPr>
        <p:blipFill rotWithShape="1">
          <a:blip r:embed="rId3">
            <a:alphaModFix/>
          </a:blip>
          <a:srcRect/>
          <a:stretch/>
        </p:blipFill>
        <p:spPr>
          <a:xfrm flipH="1">
            <a:off x="127562" y="2180495"/>
            <a:ext cx="2857684" cy="4032045"/>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568"/>
              </a:srgbClr>
            </a:outerShdw>
          </a:effectLst>
        </p:spPr>
      </p:pic>
      <p:pic>
        <p:nvPicPr>
          <p:cNvPr id="306" name="Google Shape;306;p36"/>
          <p:cNvPicPr preferRelativeResize="0"/>
          <p:nvPr/>
        </p:nvPicPr>
        <p:blipFill rotWithShape="1">
          <a:blip r:embed="rId4">
            <a:alphaModFix/>
          </a:blip>
          <a:srcRect/>
          <a:stretch/>
        </p:blipFill>
        <p:spPr>
          <a:xfrm>
            <a:off x="8296585" y="2030506"/>
            <a:ext cx="3700070" cy="443853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7"/>
          <p:cNvSpPr txBox="1">
            <a:spLocks noGrp="1"/>
          </p:cNvSpPr>
          <p:nvPr>
            <p:ph type="body" idx="1"/>
          </p:nvPr>
        </p:nvSpPr>
        <p:spPr>
          <a:xfrm>
            <a:off x="342022" y="2317132"/>
            <a:ext cx="7418562" cy="4309014"/>
          </a:xfrm>
          <a:prstGeom prst="rect">
            <a:avLst/>
          </a:prstGeom>
          <a:noFill/>
          <a:ln>
            <a:noFill/>
          </a:ln>
        </p:spPr>
        <p:txBody>
          <a:bodyPr spcFirstLastPara="1" wrap="square" lIns="91425" tIns="45700" rIns="91425" bIns="45700" anchor="ctr" anchorCtr="0">
            <a:normAutofit fontScale="92500" lnSpcReduction="10000"/>
          </a:bodyPr>
          <a:lstStyle/>
          <a:p>
            <a:pPr marL="306000" lvl="0" indent="-306000" algn="just" rtl="0">
              <a:lnSpc>
                <a:spcPct val="90000"/>
              </a:lnSpc>
              <a:spcBef>
                <a:spcPts val="0"/>
              </a:spcBef>
              <a:spcAft>
                <a:spcPts val="0"/>
              </a:spcAft>
              <a:buSzPts val="2392"/>
              <a:buChar char="◼"/>
            </a:pPr>
            <a:r>
              <a:rPr lang="en-US" sz="2600">
                <a:solidFill>
                  <a:schemeClr val="dk1"/>
                </a:solidFill>
              </a:rPr>
              <a:t>At the center of Freud’s theory is the concept of the unconscious – the thoughts, attitudes, impulses, wishes ,motivations, and emotions of which we are unaware.</a:t>
            </a:r>
            <a:endParaRPr/>
          </a:p>
          <a:p>
            <a:pPr marL="306000" lvl="0" indent="-306000" algn="just" rtl="0">
              <a:lnSpc>
                <a:spcPct val="90000"/>
              </a:lnSpc>
              <a:spcBef>
                <a:spcPts val="1081"/>
              </a:spcBef>
              <a:spcAft>
                <a:spcPts val="0"/>
              </a:spcAft>
              <a:buSzPts val="2392"/>
              <a:buChar char="◼"/>
            </a:pPr>
            <a:r>
              <a:rPr lang="en-US" sz="2600">
                <a:solidFill>
                  <a:schemeClr val="dk1"/>
                </a:solidFill>
              </a:rPr>
              <a:t>Childhood’s unacceptable (forbidden or punished) wishes are driven out of conscious awareness and become part of the unconscious, where they continue to influence our thoughts, feelings, and actions.</a:t>
            </a:r>
            <a:endParaRPr/>
          </a:p>
          <a:p>
            <a:pPr marL="306000" lvl="0" indent="-306000" algn="just" rtl="0">
              <a:lnSpc>
                <a:spcPct val="90000"/>
              </a:lnSpc>
              <a:spcBef>
                <a:spcPts val="1081"/>
              </a:spcBef>
              <a:spcAft>
                <a:spcPts val="0"/>
              </a:spcAft>
              <a:buSzPts val="2392"/>
              <a:buChar char="◼"/>
            </a:pPr>
            <a:r>
              <a:rPr lang="en-US" sz="2600" b="1">
                <a:solidFill>
                  <a:schemeClr val="dk1"/>
                </a:solidFill>
              </a:rPr>
              <a:t>Unconscious thoughts are </a:t>
            </a:r>
            <a:endParaRPr/>
          </a:p>
          <a:p>
            <a:pPr marL="0" lvl="0" indent="0" algn="just" rtl="0">
              <a:lnSpc>
                <a:spcPct val="90000"/>
              </a:lnSpc>
              <a:spcBef>
                <a:spcPts val="1081"/>
              </a:spcBef>
              <a:spcAft>
                <a:spcPts val="0"/>
              </a:spcAft>
              <a:buSzPts val="2392"/>
              <a:buNone/>
            </a:pPr>
            <a:r>
              <a:rPr lang="en-US" sz="2600" b="1">
                <a:solidFill>
                  <a:schemeClr val="dk1"/>
                </a:solidFill>
              </a:rPr>
              <a:t>expressed in dreams, slips of the </a:t>
            </a:r>
            <a:endParaRPr sz="2600" b="1">
              <a:solidFill>
                <a:schemeClr val="dk1"/>
              </a:solidFill>
            </a:endParaRPr>
          </a:p>
          <a:p>
            <a:pPr marL="0" lvl="0" indent="0" algn="just" rtl="0">
              <a:lnSpc>
                <a:spcPct val="90000"/>
              </a:lnSpc>
              <a:spcBef>
                <a:spcPts val="1081"/>
              </a:spcBef>
              <a:spcAft>
                <a:spcPts val="0"/>
              </a:spcAft>
              <a:buSzPts val="2392"/>
              <a:buNone/>
            </a:pPr>
            <a:r>
              <a:rPr lang="en-US" sz="2600" b="1">
                <a:solidFill>
                  <a:schemeClr val="dk1"/>
                </a:solidFill>
              </a:rPr>
              <a:t>tongue, and physical mannerisms. </a:t>
            </a:r>
            <a:endParaRPr sz="2600" b="1">
              <a:solidFill>
                <a:schemeClr val="dk1"/>
              </a:solidFill>
            </a:endParaRPr>
          </a:p>
          <a:p>
            <a:pPr marL="306000" lvl="0" indent="-165499" algn="just" rtl="0">
              <a:lnSpc>
                <a:spcPct val="90000"/>
              </a:lnSpc>
              <a:spcBef>
                <a:spcPts val="1081"/>
              </a:spcBef>
              <a:spcAft>
                <a:spcPts val="0"/>
              </a:spcAft>
              <a:buSzPts val="2392"/>
              <a:buNone/>
            </a:pPr>
            <a:endParaRPr sz="2600">
              <a:solidFill>
                <a:schemeClr val="dk1"/>
              </a:solidFill>
            </a:endParaRPr>
          </a:p>
          <a:p>
            <a:pPr marL="306000" lvl="0" indent="-176307" algn="just" rtl="0">
              <a:lnSpc>
                <a:spcPct val="90000"/>
              </a:lnSpc>
              <a:spcBef>
                <a:spcPts val="1044"/>
              </a:spcBef>
              <a:spcAft>
                <a:spcPts val="0"/>
              </a:spcAft>
              <a:buSzPts val="2208"/>
              <a:buNone/>
            </a:pPr>
            <a:endParaRPr sz="2400">
              <a:solidFill>
                <a:schemeClr val="dk1"/>
              </a:solidFill>
            </a:endParaRPr>
          </a:p>
          <a:p>
            <a:pPr marL="306000" lvl="0" indent="-208729" algn="l" rtl="0">
              <a:lnSpc>
                <a:spcPct val="90000"/>
              </a:lnSpc>
              <a:spcBef>
                <a:spcPts val="933"/>
              </a:spcBef>
              <a:spcAft>
                <a:spcPts val="0"/>
              </a:spcAft>
              <a:buSzPts val="2024"/>
              <a:buNone/>
            </a:pPr>
            <a:endParaRPr/>
          </a:p>
        </p:txBody>
      </p:sp>
      <p:pic>
        <p:nvPicPr>
          <p:cNvPr id="312" name="Google Shape;312;p37"/>
          <p:cNvPicPr preferRelativeResize="0"/>
          <p:nvPr/>
        </p:nvPicPr>
        <p:blipFill rotWithShape="1">
          <a:blip r:embed="rId3">
            <a:alphaModFix/>
          </a:blip>
          <a:srcRect/>
          <a:stretch/>
        </p:blipFill>
        <p:spPr>
          <a:xfrm>
            <a:off x="7288306" y="1446664"/>
            <a:ext cx="5213043" cy="6100548"/>
          </a:xfrm>
          <a:prstGeom prst="rect">
            <a:avLst/>
          </a:prstGeom>
          <a:noFill/>
          <a:ln>
            <a:noFill/>
          </a:ln>
        </p:spPr>
      </p:pic>
      <p:pic>
        <p:nvPicPr>
          <p:cNvPr id="313" name="Google Shape;313;p37"/>
          <p:cNvPicPr preferRelativeResize="0"/>
          <p:nvPr/>
        </p:nvPicPr>
        <p:blipFill rotWithShape="1">
          <a:blip r:embed="rId4">
            <a:alphaModFix/>
          </a:blip>
          <a:srcRect/>
          <a:stretch/>
        </p:blipFill>
        <p:spPr>
          <a:xfrm>
            <a:off x="5462710" y="4471639"/>
            <a:ext cx="2053212" cy="223093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8"/>
          <p:cNvSpPr txBox="1">
            <a:spLocks noGrp="1"/>
          </p:cNvSpPr>
          <p:nvPr>
            <p:ph type="title"/>
          </p:nvPr>
        </p:nvSpPr>
        <p:spPr>
          <a:xfrm>
            <a:off x="811692" y="0"/>
            <a:ext cx="9720072" cy="1499616"/>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3200"/>
              <a:buFont typeface="Gill Sans"/>
              <a:buNone/>
            </a:pPr>
            <a:r>
              <a:rPr lang="en-US" sz="4400" b="1"/>
              <a:t>BEHAVIORISM</a:t>
            </a:r>
            <a:endParaRPr sz="4400" b="1"/>
          </a:p>
        </p:txBody>
      </p:sp>
      <p:sp>
        <p:nvSpPr>
          <p:cNvPr id="319" name="Google Shape;319;p38"/>
          <p:cNvSpPr txBox="1">
            <a:spLocks noGrp="1"/>
          </p:cNvSpPr>
          <p:nvPr>
            <p:ph type="body" idx="1"/>
          </p:nvPr>
        </p:nvSpPr>
        <p:spPr>
          <a:xfrm>
            <a:off x="581191" y="1499616"/>
            <a:ext cx="11228773" cy="4287035"/>
          </a:xfrm>
          <a:prstGeom prst="rect">
            <a:avLst/>
          </a:prstGeom>
          <a:noFill/>
          <a:ln>
            <a:noFill/>
          </a:ln>
        </p:spPr>
        <p:txBody>
          <a:bodyPr spcFirstLastPara="1" wrap="square" lIns="91425" tIns="45700" rIns="91425" bIns="45700" anchor="ctr" anchorCtr="0">
            <a:normAutofit fontScale="92500" lnSpcReduction="10000"/>
          </a:bodyPr>
          <a:lstStyle/>
          <a:p>
            <a:pPr marL="306000" lvl="0" indent="-305999" algn="just" rtl="0">
              <a:lnSpc>
                <a:spcPct val="90000"/>
              </a:lnSpc>
              <a:spcBef>
                <a:spcPts val="0"/>
              </a:spcBef>
              <a:spcAft>
                <a:spcPts val="0"/>
              </a:spcAft>
              <a:buSzPct val="92000"/>
              <a:buChar char="◼"/>
            </a:pPr>
            <a:r>
              <a:rPr lang="en-US" sz="2800">
                <a:solidFill>
                  <a:srgbClr val="FF0000"/>
                </a:solidFill>
              </a:rPr>
              <a:t>John B. Watson</a:t>
            </a:r>
            <a:r>
              <a:rPr lang="en-US" sz="2800">
                <a:solidFill>
                  <a:schemeClr val="dk1"/>
                </a:solidFill>
              </a:rPr>
              <a:t>, in 1913 and others ascribing to behaviorism, argued that nearly all behavior is a result of conditioning and the environment shapes behavior by reinforcing specific habits. </a:t>
            </a:r>
            <a:endParaRPr sz="2400"/>
          </a:p>
          <a:p>
            <a:pPr marL="306000" lvl="0" indent="-305999" algn="just" rtl="0">
              <a:lnSpc>
                <a:spcPct val="90000"/>
              </a:lnSpc>
              <a:spcBef>
                <a:spcPts val="1044"/>
              </a:spcBef>
              <a:spcAft>
                <a:spcPts val="0"/>
              </a:spcAft>
              <a:buSzPct val="92000"/>
              <a:buChar char="◼"/>
            </a:pPr>
            <a:r>
              <a:rPr lang="en-US" sz="2800">
                <a:solidFill>
                  <a:schemeClr val="dk1"/>
                </a:solidFill>
              </a:rPr>
              <a:t>It stated that scientists should only study observable behavior  and that consciousness should be abandoned because ultimately consciousness and perceptions are private events and cannot be objectively verified. </a:t>
            </a:r>
            <a:endParaRPr sz="2400"/>
          </a:p>
          <a:p>
            <a:pPr marL="306000" lvl="0" indent="-305999" algn="just" rtl="0">
              <a:lnSpc>
                <a:spcPct val="90000"/>
              </a:lnSpc>
              <a:spcBef>
                <a:spcPts val="1044"/>
              </a:spcBef>
              <a:spcAft>
                <a:spcPts val="0"/>
              </a:spcAft>
              <a:buSzPct val="92000"/>
              <a:buChar char="◼"/>
            </a:pPr>
            <a:r>
              <a:rPr lang="en-US" sz="2800"/>
              <a:t>This means that psychology would suffer from a lack of reliability.</a:t>
            </a:r>
            <a:endParaRPr sz="2800">
              <a:solidFill>
                <a:schemeClr val="dk1"/>
              </a:solidFill>
            </a:endParaRPr>
          </a:p>
          <a:p>
            <a:pPr marL="306000" lvl="0" indent="-305999" algn="just" rtl="0">
              <a:lnSpc>
                <a:spcPct val="90000"/>
              </a:lnSpc>
              <a:spcBef>
                <a:spcPts val="1044"/>
              </a:spcBef>
              <a:spcAft>
                <a:spcPts val="0"/>
              </a:spcAft>
              <a:buSzPct val="92000"/>
              <a:buChar char="◼"/>
            </a:pPr>
            <a:r>
              <a:rPr lang="en-US" sz="2800">
                <a:solidFill>
                  <a:schemeClr val="dk1"/>
                </a:solidFill>
              </a:rPr>
              <a:t>Top names:</a:t>
            </a:r>
            <a:endParaRPr sz="2400"/>
          </a:p>
          <a:p>
            <a:pPr marL="306000" lvl="0" indent="-305999" algn="just" rtl="0">
              <a:lnSpc>
                <a:spcPct val="90000"/>
              </a:lnSpc>
              <a:spcBef>
                <a:spcPts val="1044"/>
              </a:spcBef>
              <a:spcAft>
                <a:spcPts val="0"/>
              </a:spcAft>
              <a:buSzPct val="92000"/>
              <a:buChar char="◼"/>
            </a:pPr>
            <a:r>
              <a:rPr lang="en-US" sz="2800">
                <a:solidFill>
                  <a:schemeClr val="dk1"/>
                </a:solidFill>
              </a:rPr>
              <a:t>B.F Skinner</a:t>
            </a:r>
            <a:endParaRPr sz="2400"/>
          </a:p>
          <a:p>
            <a:pPr marL="306000" lvl="0" indent="-305999" algn="just" rtl="0">
              <a:lnSpc>
                <a:spcPct val="90000"/>
              </a:lnSpc>
              <a:spcBef>
                <a:spcPts val="1044"/>
              </a:spcBef>
              <a:spcAft>
                <a:spcPts val="0"/>
              </a:spcAft>
              <a:buSzPct val="92000"/>
              <a:buChar char="◼"/>
            </a:pPr>
            <a:r>
              <a:rPr lang="en-US" sz="2800">
                <a:solidFill>
                  <a:schemeClr val="dk1"/>
                </a:solidFill>
              </a:rPr>
              <a:t>Ivan Pavlov</a:t>
            </a:r>
            <a:endParaRPr sz="2800">
              <a:solidFill>
                <a:schemeClr val="dk1"/>
              </a:solidFill>
            </a:endParaRPr>
          </a:p>
          <a:p>
            <a:pPr marL="306000" lvl="0" indent="-208729" algn="l" rtl="0">
              <a:lnSpc>
                <a:spcPct val="90000"/>
              </a:lnSpc>
              <a:spcBef>
                <a:spcPts val="933"/>
              </a:spcBef>
              <a:spcAft>
                <a:spcPts val="0"/>
              </a:spcAft>
              <a:buSzPct val="91999"/>
              <a:buNone/>
            </a:pPr>
            <a:endParaRPr/>
          </a:p>
        </p:txBody>
      </p:sp>
      <p:pic>
        <p:nvPicPr>
          <p:cNvPr id="320" name="Google Shape;320;p38"/>
          <p:cNvPicPr preferRelativeResize="0"/>
          <p:nvPr/>
        </p:nvPicPr>
        <p:blipFill rotWithShape="1">
          <a:blip r:embed="rId3">
            <a:alphaModFix/>
          </a:blip>
          <a:srcRect t="23121" b="12927"/>
          <a:stretch/>
        </p:blipFill>
        <p:spPr>
          <a:xfrm>
            <a:off x="3971499" y="4248727"/>
            <a:ext cx="7838465" cy="2253673"/>
          </a:xfrm>
          <a:prstGeom prst="roundRect">
            <a:avLst>
              <a:gd name="adj" fmla="val 8594"/>
            </a:avLst>
          </a:prstGeom>
          <a:solidFill>
            <a:srgbClr val="ECECEC"/>
          </a:solidFill>
          <a:ln>
            <a:noFill/>
          </a:ln>
          <a:effectLst>
            <a:reflection stA="38000" endPos="28000" dist="5000" dir="5400000" sy="-100000" algn="bl" rotWithShape="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9"/>
          <p:cNvSpPr txBox="1">
            <a:spLocks noGrp="1"/>
          </p:cNvSpPr>
          <p:nvPr>
            <p:ph type="title"/>
          </p:nvPr>
        </p:nvSpPr>
        <p:spPr>
          <a:xfrm>
            <a:off x="820593" y="1018914"/>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b="1"/>
              <a:t>HUMANISTIC PERSPECTIVE</a:t>
            </a:r>
            <a:endParaRPr/>
          </a:p>
        </p:txBody>
      </p:sp>
      <p:sp>
        <p:nvSpPr>
          <p:cNvPr id="327" name="Google Shape;327;p39"/>
          <p:cNvSpPr txBox="1">
            <a:spLocks noGrp="1"/>
          </p:cNvSpPr>
          <p:nvPr>
            <p:ph type="body" idx="1"/>
          </p:nvPr>
        </p:nvSpPr>
        <p:spPr>
          <a:xfrm>
            <a:off x="460375" y="2180496"/>
            <a:ext cx="4836970" cy="3947349"/>
          </a:xfrm>
          <a:prstGeom prst="rect">
            <a:avLst/>
          </a:prstGeom>
          <a:noFill/>
          <a:ln>
            <a:noFill/>
          </a:ln>
        </p:spPr>
        <p:txBody>
          <a:bodyPr spcFirstLastPara="1" wrap="square" lIns="91425" tIns="45700" rIns="91425" bIns="45700" anchor="ctr" anchorCtr="0">
            <a:normAutofit/>
          </a:bodyPr>
          <a:lstStyle/>
          <a:p>
            <a:pPr marL="306000" lvl="0" indent="-306000" algn="just" rtl="0">
              <a:lnSpc>
                <a:spcPct val="90000"/>
              </a:lnSpc>
              <a:spcBef>
                <a:spcPts val="0"/>
              </a:spcBef>
              <a:spcAft>
                <a:spcPts val="0"/>
              </a:spcAft>
              <a:buSzPts val="2208"/>
              <a:buChar char="◼"/>
            </a:pPr>
            <a:r>
              <a:rPr lang="en-US" sz="2800">
                <a:solidFill>
                  <a:schemeClr val="dk1"/>
                </a:solidFill>
              </a:rPr>
              <a:t>Humans are capable of </a:t>
            </a:r>
            <a:r>
              <a:rPr lang="en-US" sz="2800">
                <a:solidFill>
                  <a:srgbClr val="FF0000"/>
                </a:solidFill>
              </a:rPr>
              <a:t>incredible acts of creativity, selflessness &amp; high levels of spirituality.</a:t>
            </a:r>
            <a:endParaRPr sz="2800">
              <a:solidFill>
                <a:srgbClr val="FF0000"/>
              </a:solidFill>
            </a:endParaRPr>
          </a:p>
          <a:p>
            <a:pPr marL="306000" lvl="0" indent="-306000" algn="just" rtl="0">
              <a:lnSpc>
                <a:spcPct val="90000"/>
              </a:lnSpc>
              <a:spcBef>
                <a:spcPts val="1080"/>
              </a:spcBef>
              <a:spcAft>
                <a:spcPts val="0"/>
              </a:spcAft>
              <a:buSzPts val="2208"/>
              <a:buChar char="◼"/>
            </a:pPr>
            <a:r>
              <a:rPr lang="en-US" sz="2800">
                <a:solidFill>
                  <a:schemeClr val="dk1"/>
                </a:solidFill>
              </a:rPr>
              <a:t>Free will</a:t>
            </a:r>
            <a:endParaRPr sz="2800"/>
          </a:p>
          <a:p>
            <a:pPr marL="306000" lvl="0" indent="-306000" algn="just" rtl="0">
              <a:lnSpc>
                <a:spcPct val="90000"/>
              </a:lnSpc>
              <a:spcBef>
                <a:spcPts val="1080"/>
              </a:spcBef>
              <a:spcAft>
                <a:spcPts val="0"/>
              </a:spcAft>
              <a:buSzPts val="2208"/>
              <a:buChar char="◼"/>
            </a:pPr>
            <a:r>
              <a:rPr lang="en-US" sz="2800">
                <a:solidFill>
                  <a:schemeClr val="dk1"/>
                </a:solidFill>
              </a:rPr>
              <a:t>Main figures: </a:t>
            </a:r>
            <a:endParaRPr sz="2800"/>
          </a:p>
          <a:p>
            <a:pPr marL="306000" lvl="0" indent="-306000" algn="just" rtl="0">
              <a:lnSpc>
                <a:spcPct val="90000"/>
              </a:lnSpc>
              <a:spcBef>
                <a:spcPts val="1080"/>
              </a:spcBef>
              <a:spcAft>
                <a:spcPts val="0"/>
              </a:spcAft>
              <a:buSzPts val="2208"/>
              <a:buChar char="◼"/>
            </a:pPr>
            <a:r>
              <a:rPr lang="en-US" sz="2800">
                <a:solidFill>
                  <a:schemeClr val="dk1"/>
                </a:solidFill>
              </a:rPr>
              <a:t>Carl Rogers , Abraham Maslow</a:t>
            </a:r>
            <a:endParaRPr sz="2800"/>
          </a:p>
          <a:p>
            <a:pPr marL="306000" lvl="0" indent="-200844" algn="l" rtl="0">
              <a:lnSpc>
                <a:spcPct val="90000"/>
              </a:lnSpc>
              <a:spcBef>
                <a:spcPts val="960"/>
              </a:spcBef>
              <a:spcAft>
                <a:spcPts val="0"/>
              </a:spcAft>
              <a:buSzPts val="1656"/>
              <a:buNone/>
            </a:pPr>
            <a:endParaRPr/>
          </a:p>
        </p:txBody>
      </p:sp>
      <p:sp>
        <p:nvSpPr>
          <p:cNvPr id="328" name="Google Shape;328;p39" descr="Humanistic Theories: Carl Rog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pic>
        <p:nvPicPr>
          <p:cNvPr id="329" name="Google Shape;329;p39"/>
          <p:cNvPicPr preferRelativeResize="0"/>
          <p:nvPr/>
        </p:nvPicPr>
        <p:blipFill rotWithShape="1">
          <a:blip r:embed="rId3">
            <a:alphaModFix/>
          </a:blip>
          <a:srcRect/>
          <a:stretch/>
        </p:blipFill>
        <p:spPr>
          <a:xfrm>
            <a:off x="5418162" y="1901899"/>
            <a:ext cx="6547488" cy="4817951"/>
          </a:xfrm>
          <a:prstGeom prst="rect">
            <a:avLst/>
          </a:prstGeom>
          <a:noFill/>
          <a:ln>
            <a:noFill/>
          </a:ln>
        </p:spPr>
      </p:pic>
      <p:sp>
        <p:nvSpPr>
          <p:cNvPr id="330" name="Google Shape;330;p39" descr="Humanistic Theory by Psychologist Carl Rogers"/>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0"/>
          <p:cNvSpPr txBox="1">
            <a:spLocks noGrp="1"/>
          </p:cNvSpPr>
          <p:nvPr>
            <p:ph type="title"/>
          </p:nvPr>
        </p:nvSpPr>
        <p:spPr>
          <a:xfrm>
            <a:off x="827254" y="981452"/>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b="1"/>
              <a:t>COGNITIVE PERSPECTIVE</a:t>
            </a:r>
            <a:endParaRPr b="1"/>
          </a:p>
        </p:txBody>
      </p:sp>
      <p:sp>
        <p:nvSpPr>
          <p:cNvPr id="336" name="Google Shape;336;p40"/>
          <p:cNvSpPr txBox="1">
            <a:spLocks noGrp="1"/>
          </p:cNvSpPr>
          <p:nvPr>
            <p:ph type="body" idx="1"/>
          </p:nvPr>
        </p:nvSpPr>
        <p:spPr>
          <a:xfrm>
            <a:off x="724067" y="2314576"/>
            <a:ext cx="5617995" cy="4200342"/>
          </a:xfrm>
          <a:prstGeom prst="rect">
            <a:avLst/>
          </a:prstGeom>
          <a:noFill/>
          <a:ln>
            <a:noFill/>
          </a:ln>
        </p:spPr>
        <p:txBody>
          <a:bodyPr spcFirstLastPara="1" wrap="square" lIns="91425" tIns="45700" rIns="91425" bIns="45700" anchor="ctr" anchorCtr="0">
            <a:normAutofit/>
          </a:bodyPr>
          <a:lstStyle/>
          <a:p>
            <a:pPr marL="306000" lvl="0" indent="-306000" algn="just" rtl="0">
              <a:lnSpc>
                <a:spcPct val="90000"/>
              </a:lnSpc>
              <a:spcBef>
                <a:spcPts val="0"/>
              </a:spcBef>
              <a:spcAft>
                <a:spcPts val="0"/>
              </a:spcAft>
              <a:buSzPts val="2208"/>
              <a:buChar char="◼"/>
            </a:pPr>
            <a:r>
              <a:rPr lang="en-US" sz="2800">
                <a:solidFill>
                  <a:schemeClr val="dk1"/>
                </a:solidFill>
              </a:rPr>
              <a:t>Focus on Mental processes </a:t>
            </a:r>
            <a:endParaRPr sz="2800">
              <a:solidFill>
                <a:schemeClr val="dk1"/>
              </a:solidFill>
            </a:endParaRPr>
          </a:p>
          <a:p>
            <a:pPr marL="306000" lvl="0" indent="-306000" algn="just" rtl="0">
              <a:lnSpc>
                <a:spcPct val="90000"/>
              </a:lnSpc>
              <a:spcBef>
                <a:spcPts val="1080"/>
              </a:spcBef>
              <a:spcAft>
                <a:spcPts val="0"/>
              </a:spcAft>
              <a:buSzPts val="2208"/>
              <a:buChar char="◼"/>
            </a:pPr>
            <a:r>
              <a:rPr lang="en-US" sz="2800">
                <a:solidFill>
                  <a:schemeClr val="dk1"/>
                </a:solidFill>
              </a:rPr>
              <a:t>Perceiving, remembering, reasoning, deciding, and problem solving</a:t>
            </a:r>
            <a:endParaRPr sz="2800">
              <a:solidFill>
                <a:schemeClr val="dk1"/>
              </a:solidFill>
            </a:endParaRPr>
          </a:p>
          <a:p>
            <a:pPr marL="306000" lvl="0" indent="-306000" algn="just" rtl="0">
              <a:lnSpc>
                <a:spcPct val="90000"/>
              </a:lnSpc>
              <a:spcBef>
                <a:spcPts val="1080"/>
              </a:spcBef>
              <a:spcAft>
                <a:spcPts val="0"/>
              </a:spcAft>
              <a:buSzPts val="2208"/>
              <a:buChar char="◼"/>
            </a:pPr>
            <a:r>
              <a:rPr lang="en-US" sz="2800">
                <a:solidFill>
                  <a:schemeClr val="dk1"/>
                </a:solidFill>
              </a:rPr>
              <a:t>Only by studying mental processes can we fully understand what organisms do.</a:t>
            </a:r>
            <a:endParaRPr sz="2800">
              <a:solidFill>
                <a:schemeClr val="dk1"/>
              </a:solidFill>
            </a:endParaRPr>
          </a:p>
        </p:txBody>
      </p:sp>
      <p:pic>
        <p:nvPicPr>
          <p:cNvPr id="337" name="Google Shape;337;p40" descr="Examples of Cognitive Psychology and How It&amp;#39;s Used"/>
          <p:cNvPicPr preferRelativeResize="0"/>
          <p:nvPr/>
        </p:nvPicPr>
        <p:blipFill rotWithShape="1">
          <a:blip r:embed="rId3">
            <a:alphaModFix/>
          </a:blip>
          <a:srcRect/>
          <a:stretch/>
        </p:blipFill>
        <p:spPr>
          <a:xfrm>
            <a:off x="6605516" y="2179979"/>
            <a:ext cx="4964349" cy="3759780"/>
          </a:xfrm>
          <a:prstGeom prst="roundRect">
            <a:avLst>
              <a:gd name="adj" fmla="val 16667"/>
            </a:avLst>
          </a:prstGeom>
          <a:noFill/>
          <a:ln>
            <a:noFill/>
          </a:ln>
          <a:effectLst>
            <a:outerShdw blurRad="76200" dist="38100" dir="7800000" algn="tl" rotWithShape="0">
              <a:srgbClr val="000000">
                <a:alpha val="40000"/>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1"/>
          <p:cNvSpPr txBox="1">
            <a:spLocks noGrp="1"/>
          </p:cNvSpPr>
          <p:nvPr>
            <p:ph type="title"/>
          </p:nvPr>
        </p:nvSpPr>
        <p:spPr>
          <a:xfrm>
            <a:off x="876012" y="1085879"/>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b="1"/>
              <a:t>SOCIO-CULTURAL PERSPECTIVE</a:t>
            </a:r>
            <a:endParaRPr b="1"/>
          </a:p>
        </p:txBody>
      </p:sp>
      <p:sp>
        <p:nvSpPr>
          <p:cNvPr id="344" name="Google Shape;344;p41"/>
          <p:cNvSpPr txBox="1">
            <a:spLocks noGrp="1"/>
          </p:cNvSpPr>
          <p:nvPr>
            <p:ph type="body" idx="1"/>
          </p:nvPr>
        </p:nvSpPr>
        <p:spPr>
          <a:xfrm>
            <a:off x="307975" y="2099679"/>
            <a:ext cx="6666030" cy="4368854"/>
          </a:xfrm>
          <a:prstGeom prst="rect">
            <a:avLst/>
          </a:prstGeom>
          <a:noFill/>
          <a:ln>
            <a:noFill/>
          </a:ln>
        </p:spPr>
        <p:txBody>
          <a:bodyPr spcFirstLastPara="1" wrap="square" lIns="91425" tIns="45700" rIns="91425" bIns="45700" anchor="ctr" anchorCtr="0">
            <a:noAutofit/>
          </a:bodyPr>
          <a:lstStyle/>
          <a:p>
            <a:pPr marL="306000" lvl="0" indent="-306000" algn="just" rtl="0">
              <a:lnSpc>
                <a:spcPct val="90000"/>
              </a:lnSpc>
              <a:spcBef>
                <a:spcPts val="0"/>
              </a:spcBef>
              <a:spcAft>
                <a:spcPts val="0"/>
              </a:spcAft>
              <a:buSzPts val="1840"/>
              <a:buChar char="◼"/>
            </a:pPr>
            <a:r>
              <a:rPr lang="en-US" sz="2400">
                <a:solidFill>
                  <a:schemeClr val="dk1"/>
                </a:solidFill>
              </a:rPr>
              <a:t>Sociocultural theory is an emerging theory in Psychology that looks at the important contributions that society makes to individual development.</a:t>
            </a:r>
            <a:endParaRPr sz="2400"/>
          </a:p>
          <a:p>
            <a:pPr marL="306000" lvl="0" indent="-306000" algn="just" rtl="0">
              <a:lnSpc>
                <a:spcPct val="90000"/>
              </a:lnSpc>
              <a:spcBef>
                <a:spcPts val="1000"/>
              </a:spcBef>
              <a:spcAft>
                <a:spcPts val="0"/>
              </a:spcAft>
              <a:buSzPts val="1840"/>
              <a:buChar char="◼"/>
            </a:pPr>
            <a:r>
              <a:rPr lang="en-US" sz="2400">
                <a:solidFill>
                  <a:schemeClr val="dk1"/>
                </a:solidFill>
              </a:rPr>
              <a:t>Sociocultural theory focuses not only how adults and peers influence individual learning, but also on how and attitudes affect how learning takes place. </a:t>
            </a:r>
            <a:r>
              <a:rPr lang="en-US" sz="2400">
                <a:solidFill>
                  <a:srgbClr val="FF0000"/>
                </a:solidFill>
              </a:rPr>
              <a:t>cultural beliefs </a:t>
            </a:r>
            <a:endParaRPr sz="2400">
              <a:solidFill>
                <a:srgbClr val="FF0000"/>
              </a:solidFill>
            </a:endParaRPr>
          </a:p>
        </p:txBody>
      </p:sp>
      <p:sp>
        <p:nvSpPr>
          <p:cNvPr id="345" name="Google Shape;345;p41" descr="Sociocultural theory of development"/>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
        <p:nvSpPr>
          <p:cNvPr id="346" name="Google Shape;346;p41" descr="https://www.verywellmind.com/thmb/Z8EcVidpj0_lLR3dVNXyXTmbVX4=/614x0/filters:no_upscale():max_bytes(150000):strip_icc():format(webp)/what-is-sociocultural-theory-2795088-5c018ff246e0fb0001958ce9.png"/>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pic>
        <p:nvPicPr>
          <p:cNvPr id="347" name="Google Shape;347;p41" descr="नेपाली) Lev Vygotsky - Socio-Cultural Perspective || ReadingisBest Nepali  || Psychology in Nepali - YouTube"/>
          <p:cNvPicPr preferRelativeResize="0"/>
          <p:nvPr/>
        </p:nvPicPr>
        <p:blipFill rotWithShape="1">
          <a:blip r:embed="rId3">
            <a:alphaModFix/>
          </a:blip>
          <a:srcRect/>
          <a:stretch/>
        </p:blipFill>
        <p:spPr>
          <a:xfrm>
            <a:off x="6974005" y="1896533"/>
            <a:ext cx="4997862" cy="4961467"/>
          </a:xfrm>
          <a:prstGeom prst="rect">
            <a:avLst/>
          </a:prstGeom>
          <a:noFill/>
          <a:ln>
            <a:noFill/>
          </a:ln>
        </p:spPr>
      </p:pic>
      <p:sp>
        <p:nvSpPr>
          <p:cNvPr id="348" name="Google Shape;348;p41" descr="https://www.verywellmind.com/thmb/Z8EcVidpj0_lLR3dVNXyXTmbVX4=/614x0/filters:no_upscale():max_bytes(150000):strip_icc():format(webp)/what-is-sociocultural-theory-2795088-5c018ff246e0fb0001958ce9.png"/>
          <p:cNvSpPr/>
          <p:nvPr/>
        </p:nvSpPr>
        <p:spPr>
          <a:xfrm>
            <a:off x="460375" y="1603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2"/>
          <p:cNvSpPr txBox="1">
            <a:spLocks noGrp="1"/>
          </p:cNvSpPr>
          <p:nvPr>
            <p:ph type="body" idx="1"/>
          </p:nvPr>
        </p:nvSpPr>
        <p:spPr>
          <a:xfrm>
            <a:off x="1024128" y="802640"/>
            <a:ext cx="9720073" cy="5506720"/>
          </a:xfrm>
          <a:prstGeom prst="rect">
            <a:avLst/>
          </a:prstGeom>
          <a:noFill/>
          <a:ln>
            <a:noFill/>
          </a:ln>
        </p:spPr>
        <p:txBody>
          <a:bodyPr spcFirstLastPara="1" wrap="square" lIns="45700" tIns="45700" rIns="45700" bIns="45700" anchor="t" anchorCtr="0">
            <a:normAutofit/>
          </a:bodyPr>
          <a:lstStyle/>
          <a:p>
            <a:pPr marL="306000" lvl="0" indent="-306000" algn="just" rtl="0">
              <a:lnSpc>
                <a:spcPct val="90000"/>
              </a:lnSpc>
              <a:spcBef>
                <a:spcPts val="0"/>
              </a:spcBef>
              <a:spcAft>
                <a:spcPts val="0"/>
              </a:spcAft>
              <a:buSzPts val="1840"/>
              <a:buChar char="◼"/>
            </a:pPr>
            <a:r>
              <a:rPr lang="en-US" sz="2800">
                <a:solidFill>
                  <a:schemeClr val="dk1"/>
                </a:solidFill>
              </a:rPr>
              <a:t>This theory stresses the interaction between developing people and the culture in which they live. </a:t>
            </a:r>
            <a:endParaRPr sz="2800"/>
          </a:p>
          <a:p>
            <a:pPr marL="306000" lvl="0" indent="-306000" algn="just" rtl="0">
              <a:lnSpc>
                <a:spcPct val="90000"/>
              </a:lnSpc>
              <a:spcBef>
                <a:spcPts val="1000"/>
              </a:spcBef>
              <a:spcAft>
                <a:spcPts val="0"/>
              </a:spcAft>
              <a:buSzPts val="1840"/>
              <a:buChar char="◼"/>
            </a:pPr>
            <a:r>
              <a:rPr lang="en-US" sz="2800">
                <a:solidFill>
                  <a:schemeClr val="dk1"/>
                </a:solidFill>
              </a:rPr>
              <a:t>Sociocultural theory also suggests that human learning is largely a social process.</a:t>
            </a:r>
            <a:endParaRPr/>
          </a:p>
          <a:p>
            <a:pPr marL="0" lvl="0" indent="0" algn="ctr" rtl="0">
              <a:lnSpc>
                <a:spcPct val="90000"/>
              </a:lnSpc>
              <a:spcBef>
                <a:spcPts val="1200"/>
              </a:spcBef>
              <a:spcAft>
                <a:spcPts val="0"/>
              </a:spcAft>
              <a:buSzPts val="2800"/>
              <a:buNone/>
            </a:pPr>
            <a:r>
              <a:rPr lang="en-US" sz="2800" b="1">
                <a:solidFill>
                  <a:srgbClr val="C00000"/>
                </a:solidFill>
              </a:rPr>
              <a:t>EXAMPLES</a:t>
            </a:r>
            <a:endParaRPr sz="2800"/>
          </a:p>
          <a:p>
            <a:pPr marL="91440" lvl="0" indent="-177800" algn="just" rtl="0">
              <a:lnSpc>
                <a:spcPct val="90000"/>
              </a:lnSpc>
              <a:spcBef>
                <a:spcPts val="1400"/>
              </a:spcBef>
              <a:spcAft>
                <a:spcPts val="0"/>
              </a:spcAft>
              <a:buSzPts val="2800"/>
              <a:buFont typeface="Noto Sans Symbols"/>
              <a:buChar char="▪"/>
            </a:pPr>
            <a:r>
              <a:rPr lang="en-US" sz="2800"/>
              <a:t>Investigating how cultural factors influence psychological phenomena, such as emotional expression, cognitive processes, and social behaviors.</a:t>
            </a:r>
            <a:endParaRPr/>
          </a:p>
          <a:p>
            <a:pPr marL="91440" lvl="0" indent="-177800" algn="just" rtl="0">
              <a:lnSpc>
                <a:spcPct val="90000"/>
              </a:lnSpc>
              <a:spcBef>
                <a:spcPts val="1400"/>
              </a:spcBef>
              <a:spcAft>
                <a:spcPts val="0"/>
              </a:spcAft>
              <a:buSzPts val="2800"/>
              <a:buFont typeface="Noto Sans Symbols"/>
              <a:buChar char="▪"/>
            </a:pPr>
            <a:r>
              <a:rPr lang="en-US" sz="2800"/>
              <a:t>Studying how individuals adapt to new cultural environments and the impact of this process on their psychological well-being.</a:t>
            </a:r>
            <a:endParaRPr/>
          </a:p>
          <a:p>
            <a:pPr marL="91440" lvl="0" indent="0" algn="just" rtl="0">
              <a:lnSpc>
                <a:spcPct val="90000"/>
              </a:lnSpc>
              <a:spcBef>
                <a:spcPts val="1400"/>
              </a:spcBef>
              <a:spcAft>
                <a:spcPts val="0"/>
              </a:spcAft>
              <a:buSzPts val="2800"/>
              <a:buNone/>
            </a:pPr>
            <a:endParaRPr sz="2800"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3"/>
          <p:cNvSpPr txBox="1">
            <a:spLocks noGrp="1"/>
          </p:cNvSpPr>
          <p:nvPr>
            <p:ph type="title"/>
          </p:nvPr>
        </p:nvSpPr>
        <p:spPr>
          <a:xfrm>
            <a:off x="804711" y="456609"/>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80000"/>
              </a:lnSpc>
              <a:spcBef>
                <a:spcPts val="0"/>
              </a:spcBef>
              <a:spcAft>
                <a:spcPts val="0"/>
              </a:spcAft>
              <a:buClr>
                <a:schemeClr val="lt1"/>
              </a:buClr>
              <a:buSzPts val="2800"/>
              <a:buFont typeface="Gill Sans"/>
              <a:buNone/>
            </a:pPr>
            <a:r>
              <a:rPr lang="en-US" b="1"/>
              <a:t>ECLECTIC APPROACH </a:t>
            </a:r>
            <a:endParaRPr b="1"/>
          </a:p>
        </p:txBody>
      </p:sp>
      <p:sp>
        <p:nvSpPr>
          <p:cNvPr id="360" name="Google Shape;360;p43"/>
          <p:cNvSpPr txBox="1">
            <a:spLocks noGrp="1"/>
          </p:cNvSpPr>
          <p:nvPr>
            <p:ph type="body" idx="1"/>
          </p:nvPr>
        </p:nvSpPr>
        <p:spPr>
          <a:xfrm>
            <a:off x="6420195" y="1754063"/>
            <a:ext cx="5514807" cy="4261247"/>
          </a:xfrm>
          <a:prstGeom prst="rect">
            <a:avLst/>
          </a:prstGeom>
          <a:noFill/>
          <a:ln>
            <a:noFill/>
          </a:ln>
        </p:spPr>
        <p:txBody>
          <a:bodyPr spcFirstLastPara="1" wrap="square" lIns="91425" tIns="45700" rIns="91425" bIns="45700" anchor="ctr" anchorCtr="0">
            <a:normAutofit fontScale="85000" lnSpcReduction="10000"/>
          </a:bodyPr>
          <a:lstStyle/>
          <a:p>
            <a:pPr marL="306000" lvl="0" indent="-306000" algn="just" rtl="0">
              <a:lnSpc>
                <a:spcPct val="150000"/>
              </a:lnSpc>
              <a:spcBef>
                <a:spcPts val="0"/>
              </a:spcBef>
              <a:spcAft>
                <a:spcPts val="0"/>
              </a:spcAft>
              <a:buSzPct val="71042"/>
              <a:buChar char="◼"/>
            </a:pPr>
            <a:r>
              <a:rPr lang="en-US" sz="2800"/>
              <a:t>Multi-modal or integrative therapy</a:t>
            </a:r>
            <a:endParaRPr/>
          </a:p>
          <a:p>
            <a:pPr marL="306000" lvl="0" indent="-306000" algn="just" rtl="0">
              <a:lnSpc>
                <a:spcPct val="150000"/>
              </a:lnSpc>
              <a:spcBef>
                <a:spcPts val="0"/>
              </a:spcBef>
              <a:spcAft>
                <a:spcPts val="0"/>
              </a:spcAft>
              <a:buSzPct val="71042"/>
              <a:buChar char="◼"/>
            </a:pPr>
            <a:r>
              <a:rPr lang="en-US" sz="2800"/>
              <a:t>Integration of Theories and Techniques</a:t>
            </a:r>
            <a:endParaRPr/>
          </a:p>
          <a:p>
            <a:pPr marL="306000" lvl="0" indent="-306000" algn="just" rtl="0">
              <a:lnSpc>
                <a:spcPct val="150000"/>
              </a:lnSpc>
              <a:spcBef>
                <a:spcPts val="0"/>
              </a:spcBef>
              <a:spcAft>
                <a:spcPts val="0"/>
              </a:spcAft>
              <a:buSzPct val="71042"/>
              <a:buChar char="◼"/>
            </a:pPr>
            <a:r>
              <a:rPr lang="en-US" sz="2800"/>
              <a:t>Flexibility in Methods</a:t>
            </a:r>
            <a:endParaRPr/>
          </a:p>
          <a:p>
            <a:pPr marL="306000" lvl="0" indent="-306000" algn="just" rtl="0">
              <a:lnSpc>
                <a:spcPct val="150000"/>
              </a:lnSpc>
              <a:spcBef>
                <a:spcPts val="0"/>
              </a:spcBef>
              <a:spcAft>
                <a:spcPts val="0"/>
              </a:spcAft>
              <a:buSzPct val="71042"/>
              <a:buChar char="◼"/>
            </a:pPr>
            <a:r>
              <a:rPr lang="en-US" sz="2800"/>
              <a:t>Customization to Client Needs</a:t>
            </a:r>
            <a:endParaRPr sz="2800">
              <a:solidFill>
                <a:schemeClr val="dk1"/>
              </a:solidFill>
            </a:endParaRPr>
          </a:p>
          <a:p>
            <a:pPr marL="306000" lvl="0" indent="-306000" algn="just" rtl="0">
              <a:lnSpc>
                <a:spcPct val="150000"/>
              </a:lnSpc>
              <a:spcBef>
                <a:spcPts val="0"/>
              </a:spcBef>
              <a:spcAft>
                <a:spcPts val="0"/>
              </a:spcAft>
              <a:buSzPct val="71042"/>
              <a:buChar char="◼"/>
            </a:pPr>
            <a:r>
              <a:rPr lang="en-US" sz="2800">
                <a:solidFill>
                  <a:schemeClr val="dk1"/>
                </a:solidFill>
              </a:rPr>
              <a:t>Selecting and adopting information from many different sources rather than relying on one perspective.</a:t>
            </a:r>
            <a:endParaRPr sz="2800"/>
          </a:p>
          <a:p>
            <a:pPr marL="306000" lvl="0" indent="-200844" algn="l" rtl="0">
              <a:lnSpc>
                <a:spcPct val="90000"/>
              </a:lnSpc>
              <a:spcBef>
                <a:spcPts val="960"/>
              </a:spcBef>
              <a:spcAft>
                <a:spcPts val="0"/>
              </a:spcAft>
              <a:buSzPct val="81375"/>
              <a:buNone/>
            </a:pPr>
            <a:endParaRPr/>
          </a:p>
        </p:txBody>
      </p:sp>
      <p:pic>
        <p:nvPicPr>
          <p:cNvPr id="361" name="Google Shape;361;p43" descr="Eclectic Therapy: Everything About This Therapy Approach"/>
          <p:cNvPicPr preferRelativeResize="0"/>
          <p:nvPr/>
        </p:nvPicPr>
        <p:blipFill rotWithShape="1">
          <a:blip r:embed="rId3">
            <a:alphaModFix/>
          </a:blip>
          <a:srcRect/>
          <a:stretch/>
        </p:blipFill>
        <p:spPr>
          <a:xfrm>
            <a:off x="477520" y="1598776"/>
            <a:ext cx="5841999" cy="503071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44"/>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Integral">
  <a:themeElements>
    <a:clrScheme name="Orange Red">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1632</Words>
  <Application>Microsoft Office PowerPoint</Application>
  <PresentationFormat>Widescreen</PresentationFormat>
  <Paragraphs>209</Paragraphs>
  <Slides>41</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Gill Sans</vt:lpstr>
      <vt:lpstr>Times New Roman</vt:lpstr>
      <vt:lpstr>Arial</vt:lpstr>
      <vt:lpstr>Twentieth Century</vt:lpstr>
      <vt:lpstr>Calibri</vt:lpstr>
      <vt:lpstr>Noto Sans Symbols</vt:lpstr>
      <vt:lpstr>Integral</vt:lpstr>
      <vt:lpstr>INTRODUCTION TO PSYCHOLOGY (WEEK 1)</vt:lpstr>
      <vt:lpstr>LEARNING OUTCOMES</vt:lpstr>
      <vt:lpstr>WHAT IS PSYCHOLOGY?</vt:lpstr>
      <vt:lpstr>PowerPoint Presentation</vt:lpstr>
      <vt:lpstr>CONT.…</vt:lpstr>
      <vt:lpstr>PSYCHOLOGY AS A SCIENCE</vt:lpstr>
      <vt:lpstr>SCOPE OF PSYCHOLOGY</vt:lpstr>
      <vt:lpstr>PowerPoint Presentation</vt:lpstr>
      <vt:lpstr>THINK????</vt:lpstr>
      <vt:lpstr>GOALS OF PSYCHOLOGY </vt:lpstr>
      <vt:lpstr>CONT.…</vt:lpstr>
      <vt:lpstr>KEY DEBATES IN PSYCHOLOGY</vt:lpstr>
      <vt:lpstr> 1. NATURE VS NURTURE</vt:lpstr>
      <vt:lpstr>2. CONSCIOUS VS. UNCONSCIOUS MIND</vt:lpstr>
      <vt:lpstr>3. OBSERVABLE BEHAVIOR 👀 VS. INTERNAL MENTAL PROCESSES </vt:lpstr>
      <vt:lpstr>4. FREE WILL (CHOICES) VS. DETERMINISM</vt:lpstr>
      <vt:lpstr>5. INDIVIDUAL DIFFERENCES VS. UNIVERSAL PRINCIPLES</vt:lpstr>
      <vt:lpstr>Flash Cards — Identify the Psychological Debate</vt:lpstr>
      <vt:lpstr>PowerPoint Presentation</vt:lpstr>
      <vt:lpstr>PowerPoint Presentation</vt:lpstr>
      <vt:lpstr>BRANCHES OF PSYCHOLOGY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Gestalt psychology</vt:lpstr>
      <vt:lpstr>PowerPoint Presentation</vt:lpstr>
      <vt:lpstr>SIGMUND FREUD (1856-1939)</vt:lpstr>
      <vt:lpstr>PowerPoint Presentation</vt:lpstr>
      <vt:lpstr>BEHAVIORISM</vt:lpstr>
      <vt:lpstr>HUMANISTIC PERSPECTIVE</vt:lpstr>
      <vt:lpstr>COGNITIVE PERSPECTIVE</vt:lpstr>
      <vt:lpstr>SOCIO-CULTURAL PERSPECTIVE</vt:lpstr>
      <vt:lpstr>PowerPoint Presentation</vt:lpstr>
      <vt:lpstr>ECLECTIC APPROACH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PSYCHOLOGY (WEEK 1)</dc:title>
  <dc:creator>Administrator</dc:creator>
  <cp:lastModifiedBy>Ms Aqsa Fayyaz</cp:lastModifiedBy>
  <cp:revision>10</cp:revision>
  <dcterms:modified xsi:type="dcterms:W3CDTF">2026-08-24T10:22:09Z</dcterms:modified>
</cp:coreProperties>
</file>