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81" r:id="rId2"/>
    <p:sldId id="257" r:id="rId3"/>
    <p:sldId id="261" r:id="rId4"/>
    <p:sldId id="268" r:id="rId5"/>
    <p:sldId id="262" r:id="rId6"/>
    <p:sldId id="267" r:id="rId7"/>
    <p:sldId id="269" r:id="rId8"/>
    <p:sldId id="285" r:id="rId9"/>
    <p:sldId id="290" r:id="rId10"/>
    <p:sldId id="265" r:id="rId11"/>
    <p:sldId id="271" r:id="rId12"/>
    <p:sldId id="287" r:id="rId13"/>
    <p:sldId id="288" r:id="rId14"/>
    <p:sldId id="273" r:id="rId15"/>
    <p:sldId id="274" r:id="rId16"/>
    <p:sldId id="284" r:id="rId17"/>
    <p:sldId id="275" r:id="rId18"/>
    <p:sldId id="276" r:id="rId19"/>
    <p:sldId id="279" r:id="rId20"/>
    <p:sldId id="289" r:id="rId21"/>
    <p:sldId id="280" r:id="rId22"/>
    <p:sldId id="283" r:id="rId23"/>
    <p:sldId id="282" r:id="rId24"/>
    <p:sldId id="2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351" autoAdjust="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C5B9-E7E9-4BB8-8849-2E0B7C91587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4A0AA-90C4-4747-B6E0-B7746AE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0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Drive Leading to Goal-Directed Behavior</a:t>
            </a:r>
            <a:r>
              <a:rPr lang="en-US" dirty="0">
                <a:solidFill>
                  <a:schemeClr val="bg1"/>
                </a:solidFill>
              </a:rPr>
              <a:t>: Drive refers to the internal state that pushes an individual to fulfill certain needs or desires. This drive can propel individuals towards engaging in goal-directed behavior. For example, if someone experiences hunger (drive), they may engage in the goal-directed behavior of seeking food.</a:t>
            </a:r>
          </a:p>
          <a:p>
            <a:r>
              <a:rPr lang="en-US" b="1" dirty="0">
                <a:solidFill>
                  <a:schemeClr val="bg1"/>
                </a:solidFill>
              </a:rPr>
              <a:t>Goal-Directed Behavior Fueling Drive</a:t>
            </a:r>
            <a:r>
              <a:rPr lang="en-US" dirty="0">
                <a:solidFill>
                  <a:schemeClr val="bg1"/>
                </a:solidFill>
              </a:rPr>
              <a:t>: Conversely, engaging in goal-directed behavior can also influence one's drive or motivation. When individuals set and achieve goals, it can lead to feelings of accomplishment, satisfaction, and even a surge in motivation to pursue further goals. Success in achieving goals can reinforce the drive to pursue similar objectives in the future.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4A0AA-90C4-4747-B6E0-B7746AED3A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7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4A0AA-90C4-4747-B6E0-B7746AED3A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https://www.carepatron.com/files/motivational-worksheet.pdf</a:t>
            </a:r>
          </a:p>
          <a:p>
            <a:r>
              <a:rPr lang="en-US" dirty="0" smtClean="0"/>
              <a:t>https://www.teacherspayteachers.com/Product/Theatre-I-IV-Motivation-Behavior-Worksheet-5686283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4A0AA-90C4-4747-B6E0-B7746AED3A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8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8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5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2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4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7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5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8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542867" y="542767"/>
            <a:ext cx="11106400" cy="577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4"/>
          <p:cNvSpPr/>
          <p:nvPr/>
        </p:nvSpPr>
        <p:spPr>
          <a:xfrm>
            <a:off x="5082400" y="-259733"/>
            <a:ext cx="2027200" cy="20272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4"/>
          <p:cNvSpPr/>
          <p:nvPr/>
        </p:nvSpPr>
        <p:spPr>
          <a:xfrm>
            <a:off x="6642867" y="979700"/>
            <a:ext cx="1032800" cy="103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4"/>
          <p:cNvSpPr/>
          <p:nvPr/>
        </p:nvSpPr>
        <p:spPr>
          <a:xfrm>
            <a:off x="4626599" y="1081297"/>
            <a:ext cx="284000" cy="2840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4"/>
          <p:cNvSpPr/>
          <p:nvPr/>
        </p:nvSpPr>
        <p:spPr>
          <a:xfrm>
            <a:off x="4146500" y="205891"/>
            <a:ext cx="678400" cy="678400"/>
          </a:xfrm>
          <a:prstGeom prst="ellipse">
            <a:avLst/>
          </a:prstGeom>
          <a:solidFill>
            <a:srgbClr val="FC4540">
              <a:alpha val="78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4"/>
          <p:cNvSpPr/>
          <p:nvPr/>
        </p:nvSpPr>
        <p:spPr>
          <a:xfrm>
            <a:off x="7194037" y="-114253"/>
            <a:ext cx="284000" cy="2840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4"/>
          <p:cNvSpPr/>
          <p:nvPr/>
        </p:nvSpPr>
        <p:spPr>
          <a:xfrm>
            <a:off x="-187200" y="5045605"/>
            <a:ext cx="1463600" cy="14636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4"/>
          <p:cNvSpPr/>
          <p:nvPr/>
        </p:nvSpPr>
        <p:spPr>
          <a:xfrm>
            <a:off x="10772401" y="5888301"/>
            <a:ext cx="1172400" cy="11724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4"/>
          <p:cNvSpPr/>
          <p:nvPr/>
        </p:nvSpPr>
        <p:spPr>
          <a:xfrm>
            <a:off x="542867" y="6268599"/>
            <a:ext cx="449200" cy="449200"/>
          </a:xfrm>
          <a:prstGeom prst="ellipse">
            <a:avLst/>
          </a:prstGeom>
          <a:solidFill>
            <a:srgbClr val="FC4540">
              <a:alpha val="78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4"/>
          <p:cNvSpPr/>
          <p:nvPr/>
        </p:nvSpPr>
        <p:spPr>
          <a:xfrm>
            <a:off x="11862101" y="5497761"/>
            <a:ext cx="390400" cy="3904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4"/>
          <p:cNvSpPr/>
          <p:nvPr/>
        </p:nvSpPr>
        <p:spPr>
          <a:xfrm>
            <a:off x="10400729" y="6204411"/>
            <a:ext cx="284000" cy="2840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4"/>
          <p:cNvSpPr/>
          <p:nvPr/>
        </p:nvSpPr>
        <p:spPr>
          <a:xfrm>
            <a:off x="11295996" y="5604303"/>
            <a:ext cx="125200" cy="1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4"/>
          <p:cNvSpPr/>
          <p:nvPr/>
        </p:nvSpPr>
        <p:spPr>
          <a:xfrm>
            <a:off x="704879" y="4679033"/>
            <a:ext cx="284000" cy="2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4"/>
          <p:cNvSpPr/>
          <p:nvPr/>
        </p:nvSpPr>
        <p:spPr>
          <a:xfrm>
            <a:off x="11103717" y="6219617"/>
            <a:ext cx="509659" cy="509659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B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2" name="Google Shape;82;p4"/>
          <p:cNvGrpSpPr/>
          <p:nvPr/>
        </p:nvGrpSpPr>
        <p:grpSpPr>
          <a:xfrm>
            <a:off x="205367" y="5458265"/>
            <a:ext cx="678468" cy="638281"/>
            <a:chOff x="5972700" y="2330200"/>
            <a:chExt cx="411625" cy="387275"/>
          </a:xfrm>
        </p:grpSpPr>
        <p:sp>
          <p:nvSpPr>
            <p:cNvPr id="83" name="Google Shape;83;p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" name="Google Shape;85;p4"/>
          <p:cNvGrpSpPr/>
          <p:nvPr/>
        </p:nvGrpSpPr>
        <p:grpSpPr>
          <a:xfrm>
            <a:off x="6963951" y="1186297"/>
            <a:ext cx="390564" cy="619047"/>
            <a:chOff x="6718575" y="2318625"/>
            <a:chExt cx="256950" cy="407375"/>
          </a:xfrm>
        </p:grpSpPr>
        <p:sp>
          <p:nvSpPr>
            <p:cNvPr id="86" name="Google Shape;86;p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1656367" y="2272800"/>
            <a:ext cx="88796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  <a:defRPr sz="4000" i="1"/>
            </a:lvl1pPr>
            <a:lvl2pPr marL="1219170" lvl="1" indent="-558786" algn="ctr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000"/>
              <a:buChar char="◦"/>
              <a:defRPr sz="4000" i="1"/>
            </a:lvl2pPr>
            <a:lvl3pPr marL="1828754" lvl="2" indent="-558786" algn="ctr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000"/>
              <a:buChar char="◦"/>
              <a:defRPr sz="4000" i="1"/>
            </a:lvl3pPr>
            <a:lvl4pPr marL="2438339" lvl="3" indent="-558786" algn="ctr" rtl="0">
              <a:spcBef>
                <a:spcPts val="1333"/>
              </a:spcBef>
              <a:spcAft>
                <a:spcPts val="0"/>
              </a:spcAft>
              <a:buSzPts val="3000"/>
              <a:buChar char="◦"/>
              <a:defRPr sz="4000" i="1"/>
            </a:lvl4pPr>
            <a:lvl5pPr marL="3047924" lvl="4" indent="-558786" algn="ctr" rtl="0">
              <a:spcBef>
                <a:spcPts val="1333"/>
              </a:spcBef>
              <a:spcAft>
                <a:spcPts val="0"/>
              </a:spcAft>
              <a:buSzPts val="3000"/>
              <a:buChar char="◦"/>
              <a:defRPr sz="4000" i="1"/>
            </a:lvl5pPr>
            <a:lvl6pPr marL="3657509" lvl="5" indent="-558786" algn="ctr" rtl="0">
              <a:spcBef>
                <a:spcPts val="1333"/>
              </a:spcBef>
              <a:spcAft>
                <a:spcPts val="0"/>
              </a:spcAft>
              <a:buSzPts val="3000"/>
              <a:buChar char="◦"/>
              <a:defRPr sz="4000" i="1"/>
            </a:lvl6pPr>
            <a:lvl7pPr marL="4267093" lvl="6" indent="-558786" algn="ctr" rtl="0">
              <a:spcBef>
                <a:spcPts val="1333"/>
              </a:spcBef>
              <a:spcAft>
                <a:spcPts val="0"/>
              </a:spcAft>
              <a:buSzPts val="3000"/>
              <a:buChar char="◦"/>
              <a:defRPr sz="4000" i="1"/>
            </a:lvl7pPr>
            <a:lvl8pPr marL="4876678" lvl="7" indent="-558786" algn="ctr" rtl="0">
              <a:spcBef>
                <a:spcPts val="1333"/>
              </a:spcBef>
              <a:spcAft>
                <a:spcPts val="0"/>
              </a:spcAft>
              <a:buSzPts val="3000"/>
              <a:buChar char="◦"/>
              <a:defRPr sz="4000" i="1"/>
            </a:lvl8pPr>
            <a:lvl9pPr marL="5486263" lvl="8" indent="-558786" algn="ctr">
              <a:spcBef>
                <a:spcPts val="1333"/>
              </a:spcBef>
              <a:spcAft>
                <a:spcPts val="1333"/>
              </a:spcAft>
              <a:buSzPts val="3000"/>
              <a:buChar char="◦"/>
              <a:defRPr sz="4000" i="1"/>
            </a:lvl9pPr>
          </a:lstStyle>
          <a:p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4791200" y="11907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FFFFFF"/>
                </a:solidFill>
              </a:rPr>
              <a:t>“</a:t>
            </a:r>
            <a:endParaRPr sz="12800" b="1">
              <a:solidFill>
                <a:srgbClr val="FFFFFF"/>
              </a:solidFill>
            </a:endParaRPr>
          </a:p>
        </p:txBody>
      </p:sp>
      <p:sp>
        <p:nvSpPr>
          <p:cNvPr id="96" name="Google Shape;96;p4"/>
          <p:cNvSpPr txBox="1">
            <a:spLocks noGrp="1"/>
          </p:cNvSpPr>
          <p:nvPr>
            <p:ph type="sldNum" idx="12"/>
          </p:nvPr>
        </p:nvSpPr>
        <p:spPr>
          <a:xfrm>
            <a:off x="10823979" y="55741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14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D7B2-0FC8-46CF-974E-FEC558199A0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3A890-CDDA-4061-94E6-0F6F02FE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68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rywellmind.com/what-is-motivation-2795378" TargetMode="Externa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9" y="679269"/>
            <a:ext cx="10847569" cy="5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8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-946419" y="1301400"/>
            <a:ext cx="8879600" cy="1093200"/>
          </a:xfrm>
        </p:spPr>
        <p:txBody>
          <a:bodyPr/>
          <a:lstStyle/>
          <a:p>
            <a:pPr marL="50799" indent="0">
              <a:buNone/>
            </a:pPr>
            <a:r>
              <a:rPr lang="en-US" b="1" i="0" dirty="0">
                <a:solidFill>
                  <a:schemeClr val="tx2">
                    <a:lumMod val="10000"/>
                  </a:schemeClr>
                </a:solidFill>
              </a:rPr>
              <a:t>LEARNING OUTCOMES</a:t>
            </a:r>
          </a:p>
          <a:p>
            <a:endParaRPr lang="en-US" b="1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4" name="Rectangle 3"/>
          <p:cNvSpPr/>
          <p:nvPr/>
        </p:nvSpPr>
        <p:spPr>
          <a:xfrm>
            <a:off x="1085842" y="2458483"/>
            <a:ext cx="10214826" cy="2575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585" indent="-609585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>
                    <a:lumMod val="10000"/>
                  </a:schemeClr>
                </a:solidFill>
              </a:rPr>
              <a:t>Understanding the definition and nature of Motivation.</a:t>
            </a:r>
          </a:p>
          <a:p>
            <a:pPr marL="609585" indent="-609585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>
                    <a:lumMod val="10000"/>
                  </a:schemeClr>
                </a:solidFill>
              </a:rPr>
              <a:t>Types of motivation</a:t>
            </a:r>
          </a:p>
          <a:p>
            <a:pPr marL="609585" indent="-609585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>
                    <a:lumMod val="10000"/>
                  </a:schemeClr>
                </a:solidFill>
              </a:rPr>
              <a:t>Theories of motivation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10000"/>
                </a:schemeClr>
              </a:solidFill>
            </a:endParaRPr>
          </a:p>
          <a:p>
            <a:pPr algn="ctr"/>
            <a:endParaRPr lang="en-US" sz="3733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928" y="4226015"/>
            <a:ext cx="4164706" cy="1913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480" y="625679"/>
            <a:ext cx="3466290" cy="1922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394" y="4162132"/>
            <a:ext cx="4613534" cy="1913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381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73355" y="1125397"/>
            <a:ext cx="3250915" cy="1093200"/>
          </a:xfrm>
        </p:spPr>
        <p:txBody>
          <a:bodyPr/>
          <a:lstStyle/>
          <a:p>
            <a:pPr marL="50799" indent="0">
              <a:buNone/>
            </a:pPr>
            <a:r>
              <a:rPr lang="en-US" b="1" i="0" dirty="0">
                <a:solidFill>
                  <a:srgbClr val="000000"/>
                </a:solidFill>
              </a:rPr>
              <a:t>MOTIVATION</a:t>
            </a:r>
          </a:p>
          <a:p>
            <a:endParaRPr lang="en-US" b="1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4" name="Rectangle 3"/>
          <p:cNvSpPr/>
          <p:nvPr/>
        </p:nvSpPr>
        <p:spPr>
          <a:xfrm>
            <a:off x="1115023" y="2050224"/>
            <a:ext cx="104405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</a:rPr>
              <a:t>Many people know motivation as a </a:t>
            </a:r>
            <a:r>
              <a:rPr lang="en-US" sz="2800" b="1" dirty="0">
                <a:solidFill>
                  <a:srgbClr val="000000"/>
                </a:solidFill>
              </a:rPr>
              <a:t>driving force /Reasoning </a:t>
            </a:r>
            <a:r>
              <a:rPr lang="en-US" sz="2800" dirty="0">
                <a:solidFill>
                  <a:srgbClr val="000000"/>
                </a:solidFill>
              </a:rPr>
              <a:t>behind an action.</a:t>
            </a:r>
          </a:p>
          <a:p>
            <a:pPr algn="just"/>
            <a:endParaRPr lang="en-US" sz="2800" dirty="0">
              <a:solidFill>
                <a:srgbClr val="000000"/>
              </a:solidFill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The term ‘motivation’ is derived from the word ‘motive ’. </a:t>
            </a:r>
          </a:p>
          <a:p>
            <a:pPr algn="just"/>
            <a:endParaRPr lang="en-US" sz="2800" dirty="0">
              <a:solidFill>
                <a:srgbClr val="000000"/>
              </a:solidFill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Motive may be defined as needs, wants, drives within the individual</a:t>
            </a:r>
          </a:p>
          <a:p>
            <a:pPr algn="just"/>
            <a:endParaRPr lang="en-US" sz="2400" dirty="0">
              <a:solidFill>
                <a:srgbClr val="000000"/>
              </a:solidFill>
            </a:endParaRPr>
          </a:p>
          <a:p>
            <a:pPr algn="just"/>
            <a:endParaRPr lang="en-US" sz="2400" dirty="0">
              <a:solidFill>
                <a:srgbClr val="000000"/>
              </a:solidFill>
            </a:endParaRPr>
          </a:p>
          <a:p>
            <a:pPr algn="just"/>
            <a:endParaRPr lang="en-US" sz="2400" dirty="0">
              <a:solidFill>
                <a:srgbClr val="000000"/>
              </a:solidFill>
            </a:endParaRPr>
          </a:p>
          <a:p>
            <a:pPr algn="ctr"/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4571999"/>
            <a:ext cx="6139543" cy="21161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254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30309" y="1809159"/>
            <a:ext cx="10406130" cy="3419663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A motivation is a condition that energizes behavior and gives it direction. </a:t>
            </a:r>
          </a:p>
          <a:p>
            <a:pPr marL="50799" indent="0" algn="just">
              <a:buNone/>
            </a:pPr>
            <a:endParaRPr lang="en-US" sz="2800" i="0" dirty="0">
              <a:solidFill>
                <a:srgbClr val="000000"/>
              </a:solidFill>
            </a:endParaRP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Motivation is the process that </a:t>
            </a:r>
            <a:r>
              <a:rPr lang="en-US" sz="2800" b="1" i="0" u="sng" dirty="0">
                <a:solidFill>
                  <a:srgbClr val="000000"/>
                </a:solidFill>
              </a:rPr>
              <a:t>initiates, guides, and maintains goal-oriented behaviors.</a:t>
            </a:r>
            <a:r>
              <a:rPr lang="en-US" sz="2800" i="0" dirty="0">
                <a:solidFill>
                  <a:srgbClr val="000000"/>
                </a:solidFill>
              </a:rPr>
              <a:t> It is what causes you to act, whether it is getting a glass of water (goal) to reduce thirst (drive) or reading a book to gain knowledge.</a:t>
            </a: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21009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82092" y="2716305"/>
            <a:ext cx="8879600" cy="2987809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i="0" dirty="0">
                <a:solidFill>
                  <a:srgbClr val="000000"/>
                </a:solidFill>
              </a:rPr>
              <a:t>Based on motives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i="0" dirty="0">
                <a:solidFill>
                  <a:srgbClr val="000000"/>
                </a:solidFill>
              </a:rPr>
              <a:t>Goal directed behavior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i="0" dirty="0">
                <a:solidFill>
                  <a:srgbClr val="000000"/>
                </a:solidFill>
              </a:rPr>
              <a:t>Related to satisfaction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37832" y="168172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00"/>
                </a:solidFill>
                <a:latin typeface="+mn-lt"/>
              </a:rPr>
              <a:t>NATURE OF MOTIVATION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848" y="1501684"/>
            <a:ext cx="4130584" cy="41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8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97229" y="1996656"/>
            <a:ext cx="10482329" cy="3870151"/>
          </a:xfrm>
        </p:spPr>
        <p:txBody>
          <a:bodyPr/>
          <a:lstStyle/>
          <a:p>
            <a:pPr marL="565149" lvl="1" indent="-514350" algn="just">
              <a:spcBef>
                <a:spcPts val="800"/>
              </a:spcBef>
              <a:buFont typeface="Arial" panose="020B0604020202020204" pitchFamily="34" charset="0"/>
              <a:buAutoNum type="arabicPeriod"/>
            </a:pPr>
            <a:r>
              <a:rPr lang="en-US" sz="2400" i="0" u="sng" dirty="0">
                <a:solidFill>
                  <a:srgbClr val="000000"/>
                </a:solidFill>
              </a:rPr>
              <a:t>Extrinsic motivations</a:t>
            </a:r>
            <a:r>
              <a:rPr lang="en-US" sz="2400" i="0" dirty="0">
                <a:solidFill>
                  <a:srgbClr val="000000"/>
                </a:solidFill>
              </a:rPr>
              <a:t> is reward-driven behavior. A desire to perform a behavior to obtain an </a:t>
            </a:r>
            <a:r>
              <a:rPr lang="en-US" sz="2400" b="1" i="0" dirty="0">
                <a:solidFill>
                  <a:srgbClr val="000000"/>
                </a:solidFill>
              </a:rPr>
              <a:t>external reward or avoid  punishment</a:t>
            </a:r>
          </a:p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Examples 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competing in sports for trophies.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completing work for money.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customer loyalty discounts.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buy one, get one free sales.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Helping other because you hope for praise.</a:t>
            </a:r>
            <a:endParaRPr lang="en-US" sz="2400" dirty="0">
              <a:solidFill>
                <a:srgbClr val="000000"/>
              </a:solidFill>
            </a:endParaRPr>
          </a:p>
          <a:p>
            <a:pPr marL="565149" indent="-514350" algn="just">
              <a:buAutoNum type="arabicPeriod"/>
            </a:pPr>
            <a:endParaRPr lang="en-US" sz="2400" i="0" dirty="0">
              <a:solidFill>
                <a:srgbClr val="000000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63958" y="1333876"/>
            <a:ext cx="10515600" cy="7782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00"/>
                </a:solidFill>
                <a:latin typeface="+mn-lt"/>
              </a:rPr>
              <a:t>TYPES OF MOTIVATION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0049"/>
          <a:stretch/>
        </p:blipFill>
        <p:spPr>
          <a:xfrm>
            <a:off x="7605646" y="3360313"/>
            <a:ext cx="4386732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76" y="85699"/>
            <a:ext cx="2026115" cy="202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3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115454" y="1667493"/>
            <a:ext cx="10179318" cy="1075707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2. </a:t>
            </a:r>
            <a:r>
              <a:rPr lang="en-US" sz="2400" i="0" u="sng" dirty="0">
                <a:solidFill>
                  <a:srgbClr val="000000"/>
                </a:solidFill>
              </a:rPr>
              <a:t>Intrinsic motivations</a:t>
            </a:r>
            <a:r>
              <a:rPr lang="en-US" sz="2400" i="0" dirty="0">
                <a:solidFill>
                  <a:srgbClr val="000000"/>
                </a:solidFill>
              </a:rPr>
              <a:t>: are those that arise from within the individual </a:t>
            </a:r>
            <a:r>
              <a:rPr lang="en-US" sz="2400" b="1" i="0" dirty="0">
                <a:solidFill>
                  <a:srgbClr val="000000"/>
                </a:solidFill>
              </a:rPr>
              <a:t>OR</a:t>
            </a:r>
          </a:p>
          <a:p>
            <a:pPr marL="50799" lvl="1" indent="0" algn="just">
              <a:spcBef>
                <a:spcPts val="800"/>
              </a:spcBef>
              <a:buNone/>
            </a:pPr>
            <a:r>
              <a:rPr lang="en-US" sz="2400" i="0" dirty="0">
                <a:solidFill>
                  <a:srgbClr val="000000"/>
                </a:solidFill>
              </a:rPr>
              <a:t>A desire to perform a behavior originates within the individual</a:t>
            </a:r>
          </a:p>
          <a:p>
            <a:pPr marL="50799" lvl="1" indent="0" algn="just">
              <a:spcBef>
                <a:spcPts val="800"/>
              </a:spcBef>
              <a:buNone/>
            </a:pPr>
            <a:endParaRPr lang="en-US" sz="2400" i="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0538"/>
          <a:stretch/>
        </p:blipFill>
        <p:spPr>
          <a:xfrm>
            <a:off x="7848198" y="3246093"/>
            <a:ext cx="4343802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986665" y="1779727"/>
            <a:ext cx="6732744" cy="423103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609585" lvl="0" indent="-558786" algn="ctr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Char char="○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558786" algn="ctr" defTabSz="914400" rtl="0" eaLnBrk="1" latinLnBrk="0" hangingPunct="1">
              <a:lnSpc>
                <a:spcPct val="90000"/>
              </a:lnSpc>
              <a:spcBef>
                <a:spcPts val="1333"/>
              </a:spcBef>
              <a:spcAft>
                <a:spcPts val="1333"/>
              </a:spcAft>
              <a:buSzPts val="3000"/>
              <a:buFont typeface="Arial" panose="020B0604020202020204" pitchFamily="34" charset="0"/>
              <a:buChar char="◦"/>
              <a:defRPr sz="4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 lvl="1" indent="0" algn="just">
              <a:spcBef>
                <a:spcPts val="800"/>
              </a:spcBef>
              <a:buFont typeface="Arial" panose="020B0604020202020204" pitchFamily="34" charset="0"/>
              <a:buNone/>
            </a:pPr>
            <a:endParaRPr lang="en-US" sz="2400" i="0" dirty="0">
              <a:solidFill>
                <a:srgbClr val="000000"/>
              </a:solidFill>
            </a:endParaRPr>
          </a:p>
          <a:p>
            <a:pPr marL="50799" lvl="1" indent="0" algn="just">
              <a:spcBef>
                <a:spcPts val="800"/>
              </a:spcBef>
              <a:buFont typeface="Arial" panose="020B0604020202020204" pitchFamily="34" charset="0"/>
              <a:buNone/>
            </a:pPr>
            <a:endParaRPr lang="en-US" sz="2400" i="0" dirty="0">
              <a:solidFill>
                <a:srgbClr val="000000"/>
              </a:solidFill>
            </a:endParaRPr>
          </a:p>
          <a:p>
            <a:pPr marL="50799" lvl="1" indent="0" algn="just"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sz="2400" i="0" dirty="0">
                <a:solidFill>
                  <a:srgbClr val="000000"/>
                </a:solidFill>
              </a:rPr>
              <a:t>For example:</a:t>
            </a:r>
          </a:p>
          <a:p>
            <a:pPr marL="393699" lvl="1" indent="-342900" algn="just">
              <a:spcBef>
                <a:spcPts val="800"/>
              </a:spcBef>
            </a:pPr>
            <a:r>
              <a:rPr lang="en-US" sz="2400" dirty="0">
                <a:solidFill>
                  <a:srgbClr val="000000"/>
                </a:solidFill>
              </a:rPr>
              <a:t>Doing a complicated cross-word puzzle purely for the personal gratification of solving a problem.</a:t>
            </a:r>
          </a:p>
          <a:p>
            <a:pPr marL="393699" lvl="1" indent="-342900" algn="just">
              <a:spcBef>
                <a:spcPts val="800"/>
              </a:spcBef>
            </a:pPr>
            <a:r>
              <a:rPr 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Learning new language because you like experiencing new  things.</a:t>
            </a:r>
          </a:p>
          <a:p>
            <a:pPr marL="393699" lvl="1" indent="-342900" algn="just">
              <a:spcBef>
                <a:spcPts val="800"/>
              </a:spcBef>
            </a:pPr>
            <a:r>
              <a:rPr lang="en-US" sz="2400" dirty="0">
                <a:solidFill>
                  <a:srgbClr val="000000"/>
                </a:solidFill>
              </a:rPr>
              <a:t>Taking on more responsibility at work because you enjoy being challenged &amp; feeling accomplished.</a:t>
            </a:r>
          </a:p>
          <a:p>
            <a:pPr marL="393699" lvl="1" indent="-342900" algn="just">
              <a:spcBef>
                <a:spcPts val="800"/>
              </a:spcBef>
            </a:pPr>
            <a:endParaRPr lang="en-US" sz="2400" dirty="0">
              <a:solidFill>
                <a:srgbClr val="000000"/>
              </a:solidFill>
            </a:endParaRPr>
          </a:p>
          <a:p>
            <a:pPr marL="50799" indent="0" algn="l">
              <a:buFont typeface="Arial" panose="020B0604020202020204" pitchFamily="34" charset="0"/>
              <a:buNone/>
            </a:pPr>
            <a:endParaRPr lang="en-US" i="0" dirty="0">
              <a:solidFill>
                <a:srgbClr val="000000"/>
              </a:solidFill>
            </a:endParaRPr>
          </a:p>
          <a:p>
            <a:endParaRPr lang="en-US" i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1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26" y="1761030"/>
            <a:ext cx="8421188" cy="44220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2354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656367" y="2272800"/>
            <a:ext cx="8879600" cy="3262238"/>
          </a:xfrm>
        </p:spPr>
        <p:txBody>
          <a:bodyPr/>
          <a:lstStyle/>
          <a:p>
            <a:r>
              <a:rPr lang="en-US" dirty="0"/>
              <a:t>Motivation is a complex phenomenon influenced by various factors.</a:t>
            </a:r>
          </a:p>
          <a:p>
            <a:pPr marL="50799" indent="0">
              <a:buNone/>
            </a:pPr>
            <a:r>
              <a:rPr lang="en-US" dirty="0"/>
              <a:t>However, three key components that are often identified in motivational theories are,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8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440"/>
          <a:stretch/>
        </p:blipFill>
        <p:spPr>
          <a:xfrm>
            <a:off x="1227469" y="978795"/>
            <a:ext cx="10028666" cy="4932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865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82895" y="1215658"/>
            <a:ext cx="7142423" cy="3220155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Arnold et al (1991): How individuals engage in goal-directed behavior.</a:t>
            </a:r>
          </a:p>
          <a:p>
            <a:pPr marL="507999" indent="-457200" algn="just">
              <a:buAutoNum type="arabicPeriod"/>
            </a:pPr>
            <a:r>
              <a:rPr lang="en-US" sz="2400" b="1" dirty="0">
                <a:solidFill>
                  <a:srgbClr val="000000"/>
                </a:solidFill>
              </a:rPr>
              <a:t>Activation</a:t>
            </a:r>
            <a:r>
              <a:rPr lang="en-US" sz="2400" i="0" dirty="0">
                <a:solidFill>
                  <a:srgbClr val="000000"/>
                </a:solidFill>
              </a:rPr>
              <a:t>: refers to the initiation or start of a behavior. It involves the decision to begin a specific task or activity. It involves the arousal of enthusiasm, interest, or excitement towards achieving a desired outcome.</a:t>
            </a:r>
          </a:p>
          <a:p>
            <a:pPr marL="50799" indent="0" algn="just">
              <a:buNone/>
            </a:pPr>
            <a:r>
              <a:rPr lang="en-US" sz="2400" b="1" i="0" dirty="0">
                <a:solidFill>
                  <a:srgbClr val="FF0000"/>
                </a:solidFill>
              </a:rPr>
              <a:t>Example: </a:t>
            </a:r>
            <a:r>
              <a:rPr lang="en-US" sz="2400" i="0" dirty="0">
                <a:solidFill>
                  <a:schemeClr val="bg1"/>
                </a:solidFill>
              </a:rPr>
              <a:t>A student becoming interested in biology after a captivating class discussion on genetics.</a:t>
            </a:r>
          </a:p>
          <a:p>
            <a:pPr marL="50799" indent="0">
              <a:buNone/>
            </a:pPr>
            <a:r>
              <a:rPr lang="en-US" sz="2400" i="0" dirty="0">
                <a:solidFill>
                  <a:schemeClr val="bg1"/>
                </a:solidFill>
              </a:rPr>
              <a:t>Or</a:t>
            </a:r>
          </a:p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A student deciding to start working on a challenging assignment rather than procrastinating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7070"/>
          <a:stretch/>
        </p:blipFill>
        <p:spPr>
          <a:xfrm>
            <a:off x="8161505" y="1676121"/>
            <a:ext cx="3463048" cy="4145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4361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51795" y="1842768"/>
            <a:ext cx="6380050" cy="4295426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800" b="1" i="0" dirty="0">
                <a:solidFill>
                  <a:srgbClr val="000000"/>
                </a:solidFill>
              </a:rPr>
              <a:t>2. </a:t>
            </a:r>
            <a:r>
              <a:rPr lang="en-US" sz="2800" b="1" dirty="0">
                <a:solidFill>
                  <a:srgbClr val="000000"/>
                </a:solidFill>
              </a:rPr>
              <a:t>Persistence: </a:t>
            </a:r>
            <a:r>
              <a:rPr lang="en-US" sz="2800" i="0" dirty="0">
                <a:solidFill>
                  <a:srgbClr val="000000"/>
                </a:solidFill>
              </a:rPr>
              <a:t>it is the sustained effort and determination to continue a behavior or activity over time, despite obstacles, setbacks, or difficulties. High levels of persistence are often associated with strong motivation.</a:t>
            </a: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FF0000"/>
                </a:solidFill>
              </a:rPr>
              <a:t>Example: </a:t>
            </a:r>
            <a:r>
              <a:rPr lang="en-US" sz="2800" i="0" dirty="0">
                <a:solidFill>
                  <a:srgbClr val="000000"/>
                </a:solidFill>
              </a:rPr>
              <a:t>An athlete continuing to train regularly even when faced with injuries or decline in performance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216" y="1672046"/>
            <a:ext cx="3716383" cy="372726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316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7920" y="1860185"/>
            <a:ext cx="9990673" cy="3600089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800" b="1" i="0" dirty="0">
                <a:solidFill>
                  <a:srgbClr val="000000"/>
                </a:solidFill>
              </a:rPr>
              <a:t>3</a:t>
            </a:r>
            <a:r>
              <a:rPr lang="en-US" sz="2800" b="1" dirty="0">
                <a:solidFill>
                  <a:srgbClr val="000000"/>
                </a:solidFill>
              </a:rPr>
              <a:t>. Intensity: </a:t>
            </a:r>
            <a:r>
              <a:rPr lang="en-US" sz="2800" i="0" dirty="0">
                <a:solidFill>
                  <a:srgbClr val="000000"/>
                </a:solidFill>
              </a:rPr>
              <a:t>is the level of effort and concentration an individual puts into a task or activity. </a:t>
            </a: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It reflects the degree of energy invested in pursuing a goal.</a:t>
            </a:r>
          </a:p>
          <a:p>
            <a:pPr marL="50799" indent="0" algn="just">
              <a:buNone/>
            </a:pPr>
            <a:endParaRPr lang="en-US" sz="2800" i="0" dirty="0">
              <a:solidFill>
                <a:srgbClr val="000000"/>
              </a:solidFill>
            </a:endParaRP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FF0000"/>
                </a:solidFill>
              </a:rPr>
              <a:t>Example: </a:t>
            </a:r>
            <a:r>
              <a:rPr lang="en-US" sz="2800" i="0" dirty="0">
                <a:solidFill>
                  <a:schemeClr val="bg1"/>
                </a:solidFill>
              </a:rPr>
              <a:t>An entrepreneur investing long hours and intense focus into launching a new business venture driven by passion and determination.</a:t>
            </a:r>
          </a:p>
        </p:txBody>
      </p:sp>
    </p:spTree>
    <p:extLst>
      <p:ext uri="{BB962C8B-B14F-4D97-AF65-F5344CB8AC3E}">
        <p14:creationId xmlns:p14="http://schemas.microsoft.com/office/powerpoint/2010/main" val="319623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-533164" y="1543488"/>
            <a:ext cx="8879600" cy="1093200"/>
          </a:xfrm>
        </p:spPr>
        <p:txBody>
          <a:bodyPr/>
          <a:lstStyle/>
          <a:p>
            <a:pPr marL="50799" indent="0">
              <a:buNone/>
            </a:pPr>
            <a:r>
              <a:rPr lang="en-US" b="1" i="0" dirty="0">
                <a:solidFill>
                  <a:srgbClr val="000000"/>
                </a:solidFill>
              </a:rPr>
              <a:t>THEORIES OF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3008" y="257572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Drive Reduction Theories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Humanistic theories </a:t>
            </a:r>
          </a:p>
        </p:txBody>
      </p:sp>
    </p:spTree>
    <p:extLst>
      <p:ext uri="{BB962C8B-B14F-4D97-AF65-F5344CB8AC3E}">
        <p14:creationId xmlns:p14="http://schemas.microsoft.com/office/powerpoint/2010/main" val="26603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102575" y="2038946"/>
            <a:ext cx="9999013" cy="4118014"/>
          </a:xfrm>
        </p:spPr>
        <p:txBody>
          <a:bodyPr/>
          <a:lstStyle/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Developed by Clark L. Hull, the Drive-Reduction Theory states that</a:t>
            </a:r>
            <a:r>
              <a:rPr lang="en-US" sz="2800" i="0" dirty="0">
                <a:solidFill>
                  <a:schemeClr val="bg1"/>
                </a:solidFill>
              </a:rPr>
              <a:t> the reduction of drives is the primary force behind </a:t>
            </a:r>
            <a:r>
              <a:rPr lang="en-US" sz="2800" i="0" u="sng" dirty="0">
                <a:solidFill>
                  <a:schemeClr val="bg1"/>
                </a:solidFill>
                <a:hlinkClick r:id="rId2"/>
              </a:rPr>
              <a:t>motivation</a:t>
            </a:r>
            <a:r>
              <a:rPr lang="en-US" sz="2800" i="0" dirty="0">
                <a:solidFill>
                  <a:schemeClr val="bg1"/>
                </a:solidFill>
              </a:rPr>
              <a:t>. </a:t>
            </a: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when an organism has a need (such as hunger), the need leads to psychological tension that motivates the organism to act, fulfilling the needs and reducing the tension.</a:t>
            </a: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FF0000"/>
                </a:solidFill>
              </a:rPr>
              <a:t>Example:</a:t>
            </a:r>
          </a:p>
          <a:p>
            <a:pPr marL="50799" indent="0" algn="just">
              <a:buNone/>
            </a:pPr>
            <a:r>
              <a:rPr lang="en-US" sz="2800" i="0" dirty="0">
                <a:solidFill>
                  <a:srgbClr val="000000"/>
                </a:solidFill>
              </a:rPr>
              <a:t>When we're cold, we put on a sweater to address our need for warmth and maintain our body temperature.</a:t>
            </a:r>
          </a:p>
          <a:p>
            <a:pPr marL="50799" indent="0" algn="just">
              <a:buNone/>
            </a:pPr>
            <a:endParaRPr lang="en-US" sz="2400" i="0" dirty="0">
              <a:solidFill>
                <a:srgbClr val="000000"/>
              </a:solidFill>
            </a:endParaRPr>
          </a:p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 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2576" y="1454171"/>
            <a:ext cx="4870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799" indent="0">
              <a:buNone/>
            </a:pPr>
            <a:r>
              <a:rPr lang="en-US" sz="3200" b="1" i="0" u="sng" dirty="0">
                <a:solidFill>
                  <a:srgbClr val="000000"/>
                </a:solidFill>
              </a:rPr>
              <a:t>DRIVE REDUCTION THEORY</a:t>
            </a:r>
          </a:p>
        </p:txBody>
      </p:sp>
    </p:spTree>
    <p:extLst>
      <p:ext uri="{BB962C8B-B14F-4D97-AF65-F5344CB8AC3E}">
        <p14:creationId xmlns:p14="http://schemas.microsoft.com/office/powerpoint/2010/main" val="66001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1112"/>
          <a:stretch/>
        </p:blipFill>
        <p:spPr>
          <a:xfrm>
            <a:off x="2286000" y="890588"/>
            <a:ext cx="7620000" cy="451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3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33" t="43752" r="-233" b="27030"/>
          <a:stretch/>
        </p:blipFill>
        <p:spPr>
          <a:xfrm>
            <a:off x="1512427" y="2743056"/>
            <a:ext cx="9364577" cy="20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4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855" y="1608239"/>
            <a:ext cx="4367645" cy="4643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35149" y="2208404"/>
            <a:ext cx="6032321" cy="3406785"/>
          </a:xfrm>
        </p:spPr>
        <p:txBody>
          <a:bodyPr/>
          <a:lstStyle/>
          <a:p>
            <a:pPr algn="just"/>
            <a:r>
              <a:rPr lang="en-US" sz="2800" i="0" dirty="0">
                <a:solidFill>
                  <a:srgbClr val="000000"/>
                </a:solidFill>
                <a:cs typeface="Times New Roman" panose="02020603050405020304" pitchFamily="18" charset="0"/>
              </a:rPr>
              <a:t>Maslow’s model places motivational needs in a  hierarchy and suggests that before more sophisticated, higher-order needs can be met,  certain primary needs must be satisfied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35150" y="1008075"/>
            <a:ext cx="65166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cs typeface="Times New Roman" panose="02020603050405020304" pitchFamily="18" charset="0"/>
              </a:rPr>
              <a:t>Humanistic Theory – </a:t>
            </a:r>
          </a:p>
          <a:p>
            <a:r>
              <a:rPr lang="en-US" sz="3600" b="1" dirty="0">
                <a:solidFill>
                  <a:srgbClr val="000000"/>
                </a:solidFill>
                <a:cs typeface="Times New Roman" panose="02020603050405020304" pitchFamily="18" charset="0"/>
              </a:rPr>
              <a:t>Maslow’s Hierarchy of needs:</a:t>
            </a:r>
            <a:endParaRPr lang="en-US" sz="3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78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09393" y="1834917"/>
            <a:ext cx="10488410" cy="4346942"/>
          </a:xfrm>
        </p:spPr>
        <p:txBody>
          <a:bodyPr/>
          <a:lstStyle/>
          <a:p>
            <a:pPr algn="just"/>
            <a:r>
              <a:rPr lang="en-US" sz="2800" b="1" i="0" dirty="0">
                <a:solidFill>
                  <a:srgbClr val="000000"/>
                </a:solidFill>
              </a:rPr>
              <a:t>The basic needs are primary drives</a:t>
            </a:r>
            <a:r>
              <a:rPr lang="en-US" sz="2800" i="0" dirty="0">
                <a:solidFill>
                  <a:srgbClr val="000000"/>
                </a:solidFill>
              </a:rPr>
              <a:t>: needs for water, food, sleep etc. </a:t>
            </a:r>
          </a:p>
          <a:p>
            <a:pPr algn="just"/>
            <a:r>
              <a:rPr lang="en-US" sz="2800" i="0" dirty="0">
                <a:solidFill>
                  <a:srgbClr val="000000"/>
                </a:solidFill>
              </a:rPr>
              <a:t>To move up the hierarchy, a person must first meet these basic physiological needs. </a:t>
            </a:r>
          </a:p>
          <a:p>
            <a:pPr algn="l"/>
            <a:r>
              <a:rPr lang="en-US" sz="2800" b="1" i="0" dirty="0">
                <a:solidFill>
                  <a:srgbClr val="000000"/>
                </a:solidFill>
              </a:rPr>
              <a:t>Safety</a:t>
            </a:r>
            <a:r>
              <a:rPr lang="en-US" sz="2800" i="0" dirty="0">
                <a:solidFill>
                  <a:srgbClr val="000000"/>
                </a:solidFill>
              </a:rPr>
              <a:t> </a:t>
            </a:r>
            <a:r>
              <a:rPr lang="en-US" sz="2800" b="1" i="0" dirty="0">
                <a:solidFill>
                  <a:srgbClr val="000000"/>
                </a:solidFill>
              </a:rPr>
              <a:t>needs</a:t>
            </a:r>
            <a:r>
              <a:rPr lang="en-US" sz="2800" i="0" dirty="0">
                <a:solidFill>
                  <a:srgbClr val="000000"/>
                </a:solidFill>
              </a:rPr>
              <a:t> come next in the hierarchy; Maslow suggests that people need a safe, secure environment in order to function effectively. Physiological and safety needs compose the </a:t>
            </a:r>
            <a:r>
              <a:rPr lang="en-US" sz="2800" i="0" dirty="0">
                <a:solidFill>
                  <a:srgbClr val="C00000"/>
                </a:solidFill>
              </a:rPr>
              <a:t>lower-order needs.</a:t>
            </a:r>
          </a:p>
          <a:p>
            <a:pPr algn="just"/>
            <a:endParaRPr lang="en-US" sz="2400" i="0" dirty="0">
              <a:solidFill>
                <a:srgbClr val="000000"/>
              </a:solidFill>
            </a:endParaRPr>
          </a:p>
          <a:p>
            <a:pPr algn="just"/>
            <a:endParaRPr lang="en-US" sz="2400" i="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09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276350" y="1962150"/>
            <a:ext cx="9896475" cy="4762500"/>
          </a:xfrm>
        </p:spPr>
        <p:txBody>
          <a:bodyPr/>
          <a:lstStyle/>
          <a:p>
            <a:pPr algn="just"/>
            <a:r>
              <a:rPr lang="en-US" sz="2800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Only after meeting the basic lower-order needs can a person consider fulfilling Higher order needs, such as the </a:t>
            </a:r>
            <a:r>
              <a:rPr lang="en-US" sz="2800" b="1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needs for love and a sense of belonging</a:t>
            </a:r>
            <a:r>
              <a:rPr lang="en-US" sz="2800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</a:t>
            </a:r>
            <a:r>
              <a:rPr lang="en-US" sz="2800" b="1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esteem, and self-actualization. </a:t>
            </a:r>
          </a:p>
          <a:p>
            <a:pPr algn="just"/>
            <a:r>
              <a:rPr lang="en-US" sz="2800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Love and belongingness needs include the needs to obtain and give affection and to be a contributing member of some group or society.</a:t>
            </a:r>
          </a:p>
          <a:p>
            <a:pPr algn="just"/>
            <a:r>
              <a:rPr lang="en-US" sz="2800" i="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After fulfilling these needs, a person strives for esteem.</a:t>
            </a:r>
          </a:p>
          <a:p>
            <a:pPr marL="50799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28674" y="1647826"/>
            <a:ext cx="10697917" cy="3751490"/>
          </a:xfrm>
        </p:spPr>
        <p:txBody>
          <a:bodyPr/>
          <a:lstStyle/>
          <a:p>
            <a:pPr algn="just"/>
            <a:r>
              <a:rPr lang="en-US" sz="2400" i="0" dirty="0">
                <a:solidFill>
                  <a:srgbClr val="000000"/>
                </a:solidFill>
              </a:rPr>
              <a:t>In Maslow’s thinking, esteem relates to the need to develop a sense of self-worth by recognizing that others know and value one’s competence.</a:t>
            </a:r>
          </a:p>
          <a:p>
            <a:pPr algn="just"/>
            <a:r>
              <a:rPr lang="en-US" sz="2400" i="0" dirty="0">
                <a:solidFill>
                  <a:srgbClr val="000000"/>
                </a:solidFill>
              </a:rPr>
              <a:t>Once these four sets of needs are fulfilled—no easy task—a person is able to strive for the highest-level need, self-actualization. </a:t>
            </a:r>
          </a:p>
          <a:p>
            <a:pPr algn="just"/>
            <a:r>
              <a:rPr lang="en-US" sz="2400" b="1" i="0" dirty="0">
                <a:solidFill>
                  <a:srgbClr val="000000"/>
                </a:solidFill>
              </a:rPr>
              <a:t>Self-actualization </a:t>
            </a:r>
            <a:r>
              <a:rPr lang="en-US" sz="2400" i="0" dirty="0">
                <a:solidFill>
                  <a:srgbClr val="000000"/>
                </a:solidFill>
              </a:rPr>
              <a:t>is a state of self-fulfillment in </a:t>
            </a:r>
          </a:p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which people realize their highest potentials in their </a:t>
            </a:r>
          </a:p>
          <a:p>
            <a:pPr marL="50799" indent="0" algn="just">
              <a:buNone/>
            </a:pPr>
            <a:r>
              <a:rPr lang="en-US" sz="2400" i="0" dirty="0">
                <a:solidFill>
                  <a:srgbClr val="000000"/>
                </a:solidFill>
              </a:rPr>
              <a:t>own unique way.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30" y="3692434"/>
            <a:ext cx="4121342" cy="26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718" y="860829"/>
            <a:ext cx="3226939" cy="54657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99544" y="2015222"/>
            <a:ext cx="8337639" cy="3947696"/>
          </a:xfrm>
        </p:spPr>
        <p:txBody>
          <a:bodyPr/>
          <a:lstStyle/>
          <a:p>
            <a:pPr algn="just" fontAlgn="base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</a:rPr>
              <a:t>Adjust your goals to focus on things that really matter to you</a:t>
            </a:r>
          </a:p>
          <a:p>
            <a:pPr algn="just" fontAlgn="base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</a:rPr>
              <a:t>If you're tackling something that is just too big or too overwhelming, break it up into smaller steps and try setting your sights on achieving that first step toward progress</a:t>
            </a:r>
          </a:p>
          <a:p>
            <a:pPr algn="just" fontAlgn="base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</a:rPr>
              <a:t>Remind yourself about what you achieved in the past and what/ where your strengths lie</a:t>
            </a:r>
          </a:p>
          <a:p>
            <a:pPr algn="just" fontAlgn="base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</a:rPr>
              <a:t>If there are things you feel insecure about, try working on making improvements in those areas so that you feel more skilled and capable.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85175" y="104770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Tips For Finding Motivation</a:t>
            </a:r>
          </a:p>
        </p:txBody>
      </p:sp>
    </p:spTree>
    <p:extLst>
      <p:ext uri="{BB962C8B-B14F-4D97-AF65-F5344CB8AC3E}">
        <p14:creationId xmlns:p14="http://schemas.microsoft.com/office/powerpoint/2010/main" val="282136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769" y="1111827"/>
            <a:ext cx="8439295" cy="4413467"/>
          </a:xfrm>
        </p:spPr>
      </p:pic>
    </p:spTree>
    <p:extLst>
      <p:ext uri="{BB962C8B-B14F-4D97-AF65-F5344CB8AC3E}">
        <p14:creationId xmlns:p14="http://schemas.microsoft.com/office/powerpoint/2010/main" val="626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Worksheets for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https://www.carepatron.com/files/motivational-worksheet.pdf</a:t>
            </a:r>
          </a:p>
          <a:p>
            <a:r>
              <a:rPr lang="en-US" dirty="0"/>
              <a:t>https://www.teacherspayteachers.com/Product/Theatre-I-IV-Motivation-Behavior-Worksheet-5686283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65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1136</TotalTime>
  <Words>1023</Words>
  <Application>Microsoft Office PowerPoint</Application>
  <PresentationFormat>Widescreen</PresentationFormat>
  <Paragraphs>91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Rounded MT Bold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Worksheets for motivation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uzma Fayyaz</dc:creator>
  <cp:lastModifiedBy>fast</cp:lastModifiedBy>
  <cp:revision>71</cp:revision>
  <dcterms:created xsi:type="dcterms:W3CDTF">2022-03-01T15:50:45Z</dcterms:created>
  <dcterms:modified xsi:type="dcterms:W3CDTF">2026-09-17T09:53:01Z</dcterms:modified>
</cp:coreProperties>
</file>